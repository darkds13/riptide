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running: time gzip -dc bigfile.gz &gt; /dev/null with htop beside it. One core at 100%, the rest idle. Then start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Compressor picks the cut points; decompressor must follow the structure it was handed. That asymmetry is the whole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cure is bottlenecked by the disease: converting archives to a splittable format needs a full sequential decompress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 rapidgzip openly: it proved the premise on CPUs. Ours is the CPU+GPU formulation with bounded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Correctness first. A fast decompressor that is occasionally wrong is worth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stage is a standalone result: sequential decoder, boundary discovery, CPU parallel, then GPU as stretch.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itl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0" y="23774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20th Aug 2026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475488" y="749808"/>
            <a:ext cx="112379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2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Riptide: Breaking the Sequential Barrier</a:t>
            </a:r>
            <a:endParaRPr lang="en-US" sz="3200" dirty="0"/>
          </a:p>
          <a:p>
            <a:pPr algn="ctr" indent="0" marL="0">
              <a:lnSpc>
                <a:spcPts val="4200"/>
              </a:lnSpc>
              <a:buNone/>
            </a:pPr>
            <a:r>
              <a:rPr lang="en-US" sz="32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DEFLATE Decompression</a:t>
            </a:r>
            <a:endParaRPr lang="en-US" sz="3200" dirty="0"/>
          </a:p>
        </p:txBody>
      </p:sp>
      <p:pic>
        <p:nvPicPr>
          <p:cNvPr id="5" name="Image 1" descr="assets/nitk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2212848"/>
            <a:ext cx="2395728" cy="22128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5488" y="4718304"/>
            <a:ext cx="11237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301 - Parallel Computing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475488" y="5358384"/>
            <a:ext cx="11237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2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of Technology </a:t>
            </a:r>
            <a:endParaRPr lang="en-US" sz="22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2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Surathkal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the Chosen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715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DEFLATE powers gzip, ZIP, PNG, HTTP transfers and the default codecs of Apache Parquet and ORC.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parallelises easily — the compressor chooses where to cut the input.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Decompressing a single .gz stream does not: it uses one core regardless of the hardware available.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boundaries are unindexed and begin at arbitrary bit offsets, not byte offsets.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symbols are variable-length and bit-packed, so no interior position identifies itself.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LZ77 back-references make output byte i depend on byte i − d, for d up to 32 KB.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29400" y="1325880"/>
            <a:ext cx="4983480" cy="1783080"/>
          </a:xfrm>
          <a:prstGeom prst="roundRect">
            <a:avLst>
              <a:gd name="adj" fmla="val 3077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03720" y="1828800"/>
            <a:ext cx="1051560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03720" y="182880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955280" y="1828800"/>
            <a:ext cx="141732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8288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0"/>
            <a:ext cx="868680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72600" y="182880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241280" y="1828800"/>
            <a:ext cx="114300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0" y="182880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955280" y="1691640"/>
            <a:ext cx="0" cy="868680"/>
          </a:xfrm>
          <a:prstGeom prst="line">
            <a:avLst/>
          </a:prstGeom>
          <a:noFill/>
          <a:ln w="19050">
            <a:solidFill>
              <a:srgbClr val="E8703A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9372600" y="1691640"/>
            <a:ext cx="0" cy="868680"/>
          </a:xfrm>
          <a:prstGeom prst="line">
            <a:avLst/>
          </a:prstGeom>
          <a:noFill/>
          <a:ln w="19050">
            <a:solidFill>
              <a:srgbClr val="E8703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0241280" y="1691640"/>
            <a:ext cx="0" cy="868680"/>
          </a:xfrm>
          <a:prstGeom prst="line">
            <a:avLst/>
          </a:prstGeom>
          <a:noFill/>
          <a:ln w="19050">
            <a:solidFill>
              <a:srgbClr val="E8703A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6903720" y="2606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1503        bit 3446      bit 4617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629400" y="3163824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E9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Blocks begin at unmarked bit offsets — no index exists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29400" y="3584448"/>
            <a:ext cx="4983480" cy="1783080"/>
          </a:xfrm>
          <a:prstGeom prst="roundRect">
            <a:avLst>
              <a:gd name="adj" fmla="val 3077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67728" y="3950208"/>
            <a:ext cx="420624" cy="420624"/>
          </a:xfrm>
          <a:prstGeom prst="rect">
            <a:avLst/>
          </a:prstGeom>
          <a:solidFill>
            <a:srgbClr val="E870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34656" y="3950208"/>
            <a:ext cx="420624" cy="420624"/>
          </a:xfrm>
          <a:prstGeom prst="rect">
            <a:avLst/>
          </a:prstGeom>
          <a:solidFill>
            <a:srgbClr val="CFDD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01584" y="3950208"/>
            <a:ext cx="420624" cy="420624"/>
          </a:xfrm>
          <a:prstGeom prst="rect">
            <a:avLst/>
          </a:prstGeom>
          <a:solidFill>
            <a:srgbClr val="CFDD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68512" y="3950208"/>
            <a:ext cx="420624" cy="420624"/>
          </a:xfrm>
          <a:prstGeom prst="rect">
            <a:avLst/>
          </a:prstGeom>
          <a:solidFill>
            <a:srgbClr val="CFDD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0" y="3950208"/>
            <a:ext cx="420624" cy="420624"/>
          </a:xfrm>
          <a:prstGeom prst="rect">
            <a:avLst/>
          </a:prstGeom>
          <a:solidFill>
            <a:srgbClr val="CFDD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02368" y="3950208"/>
            <a:ext cx="420624" cy="420624"/>
          </a:xfrm>
          <a:prstGeom prst="rect">
            <a:avLst/>
          </a:prstGeom>
          <a:solidFill>
            <a:srgbClr val="CFDD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69296" y="3950208"/>
            <a:ext cx="420624" cy="420624"/>
          </a:xfrm>
          <a:prstGeom prst="rect">
            <a:avLst/>
          </a:prstGeom>
          <a:solidFill>
            <a:srgbClr val="CFDD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36224" y="3950208"/>
            <a:ext cx="420624" cy="420624"/>
          </a:xfrm>
          <a:prstGeom prst="rect">
            <a:avLst/>
          </a:prstGeom>
          <a:solidFill>
            <a:srgbClr val="CFDD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67728" y="4517136"/>
            <a:ext cx="420624" cy="420624"/>
          </a:xfrm>
          <a:prstGeom prst="rect">
            <a:avLst/>
          </a:prstGeom>
          <a:solidFill>
            <a:srgbClr val="CFDD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34656" y="4517136"/>
            <a:ext cx="420624" cy="420624"/>
          </a:xfrm>
          <a:prstGeom prst="rect">
            <a:avLst/>
          </a:prstGeom>
          <a:solidFill>
            <a:srgbClr val="CFDD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01584" y="4517136"/>
            <a:ext cx="420624" cy="420624"/>
          </a:xfrm>
          <a:prstGeom prst="rect">
            <a:avLst/>
          </a:prstGeom>
          <a:solidFill>
            <a:srgbClr val="CFDD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68512" y="4517136"/>
            <a:ext cx="420624" cy="420624"/>
          </a:xfrm>
          <a:prstGeom prst="rect">
            <a:avLst/>
          </a:prstGeom>
          <a:solidFill>
            <a:srgbClr val="CFDD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35440" y="4517136"/>
            <a:ext cx="420624" cy="420624"/>
          </a:xfrm>
          <a:prstGeom prst="rect">
            <a:avLst/>
          </a:prstGeom>
          <a:solidFill>
            <a:srgbClr val="CFDD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02368" y="4517136"/>
            <a:ext cx="420624" cy="420624"/>
          </a:xfrm>
          <a:prstGeom prst="rect">
            <a:avLst/>
          </a:prstGeom>
          <a:solidFill>
            <a:srgbClr val="CFDD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369296" y="4517136"/>
            <a:ext cx="420624" cy="420624"/>
          </a:xfrm>
          <a:prstGeom prst="rect">
            <a:avLst/>
          </a:prstGeom>
          <a:solidFill>
            <a:srgbClr val="CFDD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936224" y="4517136"/>
            <a:ext cx="420624" cy="420624"/>
          </a:xfrm>
          <a:prstGeom prst="rect">
            <a:avLst/>
          </a:prstGeom>
          <a:solidFill>
            <a:srgbClr val="CFDD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67728" y="5010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core working  ·  15 idle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29400" y="542239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E9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A 16-core server decompressing a single .gz file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and Motivation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715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Spark, Hive and Trino can only split a file if a worker may start reading from the middle — gzip forbids this.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pigz threads only file I/O when decompressing; Intel igzip uses SIMD but never scales with core count.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BGZF and gztool require the file to be rewritten, or a full sequential indexing pass first.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rapidgzip decodes standard gzip in parallel on CPUs, but is CPU-only and inflates memory.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nvCOMP reaches GPU speed only inside its own chunked container format.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Re-encoding archives into a splittable format itself requires decompressing them sequentially.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29400" y="1371600"/>
            <a:ext cx="4983480" cy="1600200"/>
          </a:xfrm>
          <a:prstGeom prst="roundRect">
            <a:avLst>
              <a:gd name="adj" fmla="val 3429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03720" y="148132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E8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827532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task for a 10 GB .gz file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75320" y="2084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regardless of cluster size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29400" y="3154680"/>
            <a:ext cx="4983480" cy="1600200"/>
          </a:xfrm>
          <a:prstGeom prst="roundRect">
            <a:avLst>
              <a:gd name="adj" fmla="val 3429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326440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8275320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that cannot help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75320" y="38679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machines changes nothing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29400" y="48646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E9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gzip is a non-splittable codec — the scheduler cannot parallelise it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Uniqueness / Novelty of our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715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parsing compressed bits into symbols needs no previously decoded byte — only executing a copy does.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parse in parallel and record cross-chunk copies as placeholders, resolved in a second parallel pass.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match reaches back at most 32 KB, so only a chunk's first 32 KB can originate an external dependence.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boundaries are found speculatively, then certified by header constraints and overlap agreement.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formulation targeting both multicore CPUs and GPUs, on unmodified files — not a new container format.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CRC32 already stored in every gzip file verifies the entire speculative result at no extra cost.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29400" y="1325880"/>
            <a:ext cx="4983480" cy="3657600"/>
          </a:xfrm>
          <a:prstGeom prst="roundRect">
            <a:avLst>
              <a:gd name="adj" fmla="val 1500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0372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all workers parse simultaneously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903720" y="1828800"/>
            <a:ext cx="164592" cy="658368"/>
          </a:xfrm>
          <a:prstGeom prst="rect">
            <a:avLst/>
          </a:prstGeom>
          <a:solidFill>
            <a:srgbClr val="E8703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68312" y="1828800"/>
            <a:ext cx="896112" cy="658368"/>
          </a:xfrm>
          <a:prstGeom prst="rect">
            <a:avLst/>
          </a:prstGeom>
          <a:solidFill>
            <a:srgbClr val="065A8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68312" y="1828800"/>
            <a:ext cx="896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055864" y="1828800"/>
            <a:ext cx="164592" cy="658368"/>
          </a:xfrm>
          <a:prstGeom prst="rect">
            <a:avLst/>
          </a:prstGeom>
          <a:solidFill>
            <a:srgbClr val="E8703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0456" y="1828800"/>
            <a:ext cx="896112" cy="658368"/>
          </a:xfrm>
          <a:prstGeom prst="rect">
            <a:avLst/>
          </a:prstGeom>
          <a:solidFill>
            <a:srgbClr val="065A8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0456" y="1828800"/>
            <a:ext cx="896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208008" y="1828800"/>
            <a:ext cx="164592" cy="658368"/>
          </a:xfrm>
          <a:prstGeom prst="rect">
            <a:avLst/>
          </a:prstGeom>
          <a:solidFill>
            <a:srgbClr val="E8703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72600" y="1828800"/>
            <a:ext cx="896112" cy="658368"/>
          </a:xfrm>
          <a:prstGeom prst="rect">
            <a:avLst/>
          </a:prstGeom>
          <a:solidFill>
            <a:srgbClr val="065A8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72600" y="1828800"/>
            <a:ext cx="896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360152" y="1828800"/>
            <a:ext cx="164592" cy="658368"/>
          </a:xfrm>
          <a:prstGeom prst="rect">
            <a:avLst/>
          </a:prstGeom>
          <a:solidFill>
            <a:srgbClr val="E8703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24744" y="1828800"/>
            <a:ext cx="896112" cy="658368"/>
          </a:xfrm>
          <a:prstGeom prst="rect">
            <a:avLst/>
          </a:prstGeom>
          <a:solidFill>
            <a:srgbClr val="065A8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24744" y="1828800"/>
            <a:ext cx="896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03720" y="2560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32 KB — may reach back, leave placeholders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903720" y="27980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— cannot escape the chunk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903720" y="31821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resolve placeholders in parallel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03720" y="3547872"/>
            <a:ext cx="1060704" cy="566928"/>
          </a:xfrm>
          <a:prstGeom prst="rect">
            <a:avLst/>
          </a:prstGeom>
          <a:solidFill>
            <a:srgbClr val="1C729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64424" y="3831336"/>
            <a:ext cx="91440" cy="0"/>
          </a:xfrm>
          <a:prstGeom prst="line">
            <a:avLst/>
          </a:prstGeom>
          <a:noFill/>
          <a:ln w="15875">
            <a:solidFill>
              <a:srgbClr val="16323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055864" y="3547872"/>
            <a:ext cx="1060704" cy="566928"/>
          </a:xfrm>
          <a:prstGeom prst="rect">
            <a:avLst/>
          </a:prstGeom>
          <a:solidFill>
            <a:srgbClr val="1C729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16568" y="3831336"/>
            <a:ext cx="91440" cy="0"/>
          </a:xfrm>
          <a:prstGeom prst="line">
            <a:avLst/>
          </a:prstGeom>
          <a:noFill/>
          <a:ln w="15875">
            <a:solidFill>
              <a:srgbClr val="16323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208008" y="3547872"/>
            <a:ext cx="1060704" cy="566928"/>
          </a:xfrm>
          <a:prstGeom prst="rect">
            <a:avLst/>
          </a:prstGeom>
          <a:solidFill>
            <a:srgbClr val="1C729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68712" y="3831336"/>
            <a:ext cx="91440" cy="0"/>
          </a:xfrm>
          <a:prstGeom prst="line">
            <a:avLst/>
          </a:prstGeom>
          <a:noFill/>
          <a:ln w="15875">
            <a:solidFill>
              <a:srgbClr val="16323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360152" y="3547872"/>
            <a:ext cx="1060704" cy="566928"/>
          </a:xfrm>
          <a:prstGeom prst="rect">
            <a:avLst/>
          </a:prstGeom>
          <a:solidFill>
            <a:srgbClr val="1C729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42245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99% of the work is dependence-free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629400" y="50749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E9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Two-phase parallel decode with deferred resolution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715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Bit-exact agreement with zlib across all block types, overlapping and maximum-distance matches, and corrupted streams.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scaling: measured speedup against thread count on multicore CPUs.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compared with zlib, igzip, rapidgzip and nvCOMP on identical standard files.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time on first touch, where index-based tools provide no benefit at all.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memory relative to output size, the known weakness of deferred resolution.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to compression ratio, block-size distribution and match-distance profile.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29400" y="1371600"/>
            <a:ext cx="2395728" cy="1389888"/>
          </a:xfrm>
          <a:prstGeom prst="roundRect">
            <a:avLst>
              <a:gd name="adj" fmla="val 3947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30568" y="1591056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2904" y="15727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30568" y="2057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byte-for-byte vs zlib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89720" y="1371600"/>
            <a:ext cx="2395728" cy="1389888"/>
          </a:xfrm>
          <a:prstGeom prst="roundRect">
            <a:avLst>
              <a:gd name="adj" fmla="val 3947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90888" y="1591056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3224" y="15727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390888" y="2057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thread count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29400" y="2944368"/>
            <a:ext cx="2395728" cy="1389888"/>
          </a:xfrm>
          <a:prstGeom prst="roundRect">
            <a:avLst>
              <a:gd name="adj" fmla="val 3947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30568" y="3163824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32904" y="314553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830568" y="36301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four baselines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89720" y="2944368"/>
            <a:ext cx="2395728" cy="1389888"/>
          </a:xfrm>
          <a:prstGeom prst="roundRect">
            <a:avLst>
              <a:gd name="adj" fmla="val 3947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90888" y="3163824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93224" y="314553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390888" y="36301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vs output size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29400" y="455371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E9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Evaluation axes — correctness gates every performance claim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453896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07008" y="14173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parallel DEFLATE decompressor producing bit-identical output on unmodified .gz files.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350008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07008" y="2313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decompression time by decoding independent chunks concurrently across cores and GPU threads.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32461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07008" y="3209544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placeholder representation that bounds memory overhead during dependence resolution.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66928" y="4142232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07008" y="4105656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evaluation of speedup against thread count, chunk size and stream characteristics.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66928" y="5038344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07008" y="500176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of how much parallelism real-world gzip files contain, plus a reusable benchmark corpus.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9464040" y="1417320"/>
            <a:ext cx="2148840" cy="4069080"/>
          </a:xfrm>
          <a:prstGeom prst="roundRect">
            <a:avLst>
              <a:gd name="adj" fmla="val 2553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10928" y="15727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Stages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829800" y="2221992"/>
            <a:ext cx="0" cy="2633472"/>
          </a:xfrm>
          <a:prstGeom prst="line">
            <a:avLst/>
          </a:prstGeom>
          <a:noFill/>
          <a:ln w="19050">
            <a:solidFill>
              <a:srgbClr val="C2D6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10928" y="2103120"/>
            <a:ext cx="237744" cy="237744"/>
          </a:xfrm>
          <a:prstGeom prst="ellipse">
            <a:avLst/>
          </a:prstGeom>
          <a:solidFill>
            <a:srgbClr val="065A82"/>
          </a:solidFill>
          <a:ln w="19050">
            <a:solidFill>
              <a:srgbClr val="E8F1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76688" y="204825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decoder + test harness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710928" y="2761488"/>
            <a:ext cx="237744" cy="237744"/>
          </a:xfrm>
          <a:prstGeom prst="ellipse">
            <a:avLst/>
          </a:prstGeom>
          <a:solidFill>
            <a:srgbClr val="065A82"/>
          </a:solidFill>
          <a:ln w="19050">
            <a:solidFill>
              <a:srgbClr val="E8F1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76688" y="270662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discovery and entry validation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710928" y="3419856"/>
            <a:ext cx="237744" cy="237744"/>
          </a:xfrm>
          <a:prstGeom prst="ellipse">
            <a:avLst/>
          </a:prstGeom>
          <a:solidFill>
            <a:srgbClr val="065A82"/>
          </a:solidFill>
          <a:ln w="19050">
            <a:solidFill>
              <a:srgbClr val="E8F1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76688" y="336499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resolution of cross-chunk copies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710928" y="4078224"/>
            <a:ext cx="237744" cy="237744"/>
          </a:xfrm>
          <a:prstGeom prst="ellipse">
            <a:avLst/>
          </a:prstGeom>
          <a:solidFill>
            <a:srgbClr val="065A82"/>
          </a:solidFill>
          <a:ln w="19050">
            <a:solidFill>
              <a:srgbClr val="E8F1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76688" y="402336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Multicore CPU decoder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710928" y="4736592"/>
            <a:ext cx="237744" cy="237744"/>
          </a:xfrm>
          <a:prstGeom prst="ellipse">
            <a:avLst/>
          </a:prstGeom>
          <a:solidFill>
            <a:srgbClr val="7E959E"/>
          </a:solidFill>
          <a:ln w="19050">
            <a:solidFill>
              <a:srgbClr val="E8F1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76688" y="468172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7E9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port (stretch goal)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710928" y="51755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7E9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is a standalone result.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11696"/>
            <a:ext cx="1920240" cy="146304"/>
          </a:xfrm>
          <a:prstGeom prst="rect">
            <a:avLst/>
          </a:prstGeom>
          <a:solidFill>
            <a:srgbClr val="065A82"/>
          </a:solidFill>
          <a:ln w="6350">
            <a:solidFill>
              <a:srgbClr val="0A2A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20240" y="6711696"/>
            <a:ext cx="1188720" cy="146304"/>
          </a:xfrm>
          <a:prstGeom prst="rect">
            <a:avLst/>
          </a:prstGeom>
          <a:solidFill>
            <a:srgbClr val="1C7293"/>
          </a:solidFill>
          <a:ln w="6350">
            <a:solidFill>
              <a:srgbClr val="0A2A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0" y="6711696"/>
            <a:ext cx="2377440" cy="146304"/>
          </a:xfrm>
          <a:prstGeom prst="rect">
            <a:avLst/>
          </a:prstGeom>
          <a:solidFill>
            <a:srgbClr val="065A82"/>
          </a:solidFill>
          <a:ln w="6350">
            <a:solidFill>
              <a:srgbClr val="0A2A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6711696"/>
            <a:ext cx="1371600" cy="146304"/>
          </a:xfrm>
          <a:prstGeom prst="rect">
            <a:avLst/>
          </a:prstGeom>
          <a:solidFill>
            <a:srgbClr val="1C7293"/>
          </a:solidFill>
          <a:ln w="6350">
            <a:solidFill>
              <a:srgbClr val="0A2A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6711696"/>
            <a:ext cx="2011680" cy="146304"/>
          </a:xfrm>
          <a:prstGeom prst="rect">
            <a:avLst/>
          </a:prstGeom>
          <a:solidFill>
            <a:srgbClr val="065A82"/>
          </a:solidFill>
          <a:ln w="6350">
            <a:solidFill>
              <a:srgbClr val="0A2A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0" y="6711696"/>
            <a:ext cx="1280160" cy="146304"/>
          </a:xfrm>
          <a:prstGeom prst="rect">
            <a:avLst/>
          </a:prstGeom>
          <a:solidFill>
            <a:srgbClr val="1C7293"/>
          </a:solidFill>
          <a:ln w="6350">
            <a:solidFill>
              <a:srgbClr val="0A2A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0" y="6711696"/>
            <a:ext cx="2011680" cy="146304"/>
          </a:xfrm>
          <a:prstGeom prst="rect">
            <a:avLst/>
          </a:prstGeom>
          <a:solidFill>
            <a:srgbClr val="065A82"/>
          </a:solidFill>
          <a:ln w="6350">
            <a:solidFill>
              <a:srgbClr val="0A2A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154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Devansh Hiren Shah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241IT024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7216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Mantri Samarth Prakash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37216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241IT043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28853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 Minesh Thakkar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428853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241IT076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8554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Ritesh Bhagat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3440" y="485546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241IT063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5806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301 — Parallel Computing  ·  NITK Surathkal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Riptide: Breaking the Sequential Barrier in DEFLATE Decompression</dc:title>
  <dc:subject>PptxGenJS Presentation</dc:subject>
  <dc:creator>Riptide Team</dc:creator>
  <cp:lastModifiedBy>Riptide Team</cp:lastModifiedBy>
  <cp:revision>1</cp:revision>
  <dcterms:created xsi:type="dcterms:W3CDTF">2026-08-21T08:39:48Z</dcterms:created>
  <dcterms:modified xsi:type="dcterms:W3CDTF">2026-08-21T08:39:48Z</dcterms:modified>
</cp:coreProperties>
</file>