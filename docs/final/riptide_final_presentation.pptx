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2" r:id="rId13"/>
    <p:sldId id="263" r:id="rId14"/>
    <p:sldId id="260" r:id="rId10"/>
    <p:sldId id="261"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2" roundtripDataSignature="AMtx7mgI24oTcC8pyATHdhJlvgNiU4JP4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customschemas.google.com/relationships/presentationmetadata" Target="metadata"/><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Throughput (GB/s) vs threads, 4 MiB chunks</a:t>
            </a:r>
          </a:p>
        </c:rich>
      </c:tx>
      <c:layout/>
      <c:overlay val="0"/>
    </c:title>
    <c:autoTitleDeleted val="0"/>
    <c:plotArea>
      <c:lineChart>
        <c:grouping val="standard"/>
        <c:varyColors val="0"/>
        <c:ser>
          <c:idx val="0"/>
          <c:order val="0"/>
          <c:tx>
            <c:strRef>
              <c:f>Sheet1!$B$1</c:f>
              <c:strCache>
                <c:ptCount val="1"/>
                <c:pt idx="0">
                  <c:v>Silesia x5</c:v>
                </c:pt>
              </c:strCache>
            </c:strRef>
          </c:tx>
          <c:spPr>
            <a:ln w="25400">
              <a:solidFill>
                <a:srgbClr val="1A73E8"/>
              </a:solidFill>
            </a:ln>
          </c:spPr>
          <c:marker>
            <c:size val="5"/>
            <c:spPr>
              <a:solidFill>
                <a:srgbClr val="1A73E8"/>
              </a:solidFill>
            </c:spPr>
          </c:marker>
          <c:cat>
            <c:strRef>
              <c:f>Sheet1!$A$2:$A$7</c:f>
              <c:strCache>
                <c:ptCount val="6"/>
                <c:pt idx="0">
                  <c:v>1</c:v>
                </c:pt>
                <c:pt idx="1">
                  <c:v>2</c:v>
                </c:pt>
                <c:pt idx="2">
                  <c:v>4</c:v>
                </c:pt>
                <c:pt idx="3">
                  <c:v>6</c:v>
                </c:pt>
                <c:pt idx="4">
                  <c:v>8</c:v>
                </c:pt>
                <c:pt idx="5">
                  <c:v>10</c:v>
                </c:pt>
              </c:strCache>
            </c:strRef>
          </c:cat>
          <c:val>
            <c:numRef>
              <c:f>Sheet1!$B$2:$B$7</c:f>
              <c:numCache>
                <c:formatCode>General</c:formatCode>
                <c:ptCount val="6"/>
                <c:pt idx="0">
                  <c:v>0.91</c:v>
                </c:pt>
                <c:pt idx="1">
                  <c:v>1.29</c:v>
                </c:pt>
                <c:pt idx="2">
                  <c:v>1.92</c:v>
                </c:pt>
                <c:pt idx="3">
                  <c:v>2.38</c:v>
                </c:pt>
                <c:pt idx="4">
                  <c:v>2.83</c:v>
                </c:pt>
                <c:pt idx="5">
                  <c:v>3.01</c:v>
                </c:pt>
              </c:numCache>
            </c:numRef>
          </c:val>
          <c:smooth val="0"/>
        </c:ser>
        <c:ser>
          <c:idx val="1"/>
          <c:order val="1"/>
          <c:tx>
            <c:strRef>
              <c:f>Sheet1!$C$1</c:f>
              <c:strCache>
                <c:ptCount val="1"/>
                <c:pt idx="0">
                  <c:v>Silesia</c:v>
                </c:pt>
              </c:strCache>
            </c:strRef>
          </c:tx>
          <c:spPr>
            <a:ln w="25400">
              <a:solidFill>
                <a:srgbClr val="0B3D91"/>
              </a:solidFill>
            </a:ln>
          </c:spPr>
          <c:marker>
            <c:size val="5"/>
            <c:spPr>
              <a:solidFill>
                <a:srgbClr val="0B3D91"/>
              </a:solidFill>
            </c:spPr>
          </c:marker>
          <c:cat>
            <c:strRef>
              <c:f>Sheet1!$A$2:$A$7</c:f>
              <c:strCache>
                <c:ptCount val="6"/>
                <c:pt idx="0">
                  <c:v>1</c:v>
                </c:pt>
                <c:pt idx="1">
                  <c:v>2</c:v>
                </c:pt>
                <c:pt idx="2">
                  <c:v>4</c:v>
                </c:pt>
                <c:pt idx="3">
                  <c:v>6</c:v>
                </c:pt>
                <c:pt idx="4">
                  <c:v>8</c:v>
                </c:pt>
                <c:pt idx="5">
                  <c:v>10</c:v>
                </c:pt>
              </c:strCache>
            </c:strRef>
          </c:cat>
          <c:val>
            <c:numRef>
              <c:f>Sheet1!$C$2:$C$7</c:f>
              <c:numCache>
                <c:formatCode>General</c:formatCode>
                <c:ptCount val="6"/>
                <c:pt idx="0">
                  <c:v>0.9</c:v>
                </c:pt>
                <c:pt idx="1">
                  <c:v>1.22</c:v>
                </c:pt>
                <c:pt idx="2">
                  <c:v>1.89</c:v>
                </c:pt>
                <c:pt idx="3">
                  <c:v>2.18</c:v>
                </c:pt>
                <c:pt idx="4">
                  <c:v>2.54</c:v>
                </c:pt>
                <c:pt idx="5">
                  <c:v>2.6</c:v>
                </c:pt>
              </c:numCache>
            </c:numRef>
          </c:val>
          <c:smooth val="0"/>
        </c:ser>
        <c:ser>
          <c:idx val="2"/>
          <c:order val="2"/>
          <c:tx>
            <c:strRef>
              <c:f>Sheet1!$D$1</c:f>
              <c:strCache>
                <c:ptCount val="1"/>
                <c:pt idx="0">
                  <c:v>Mixed</c:v>
                </c:pt>
              </c:strCache>
            </c:strRef>
          </c:tx>
          <c:spPr>
            <a:ln w="25400">
              <a:solidFill>
                <a:srgbClr val="E8A33D"/>
              </a:solidFill>
            </a:ln>
          </c:spPr>
          <c:marker>
            <c:size val="5"/>
            <c:spPr>
              <a:solidFill>
                <a:srgbClr val="E8A33D"/>
              </a:solidFill>
            </c:spPr>
          </c:marker>
          <c:cat>
            <c:strRef>
              <c:f>Sheet1!$A$2:$A$7</c:f>
              <c:strCache>
                <c:ptCount val="6"/>
                <c:pt idx="0">
                  <c:v>1</c:v>
                </c:pt>
                <c:pt idx="1">
                  <c:v>2</c:v>
                </c:pt>
                <c:pt idx="2">
                  <c:v>4</c:v>
                </c:pt>
                <c:pt idx="3">
                  <c:v>6</c:v>
                </c:pt>
                <c:pt idx="4">
                  <c:v>8</c:v>
                </c:pt>
                <c:pt idx="5">
                  <c:v>10</c:v>
                </c:pt>
              </c:strCache>
            </c:strRef>
          </c:cat>
          <c:val>
            <c:numRef>
              <c:f>Sheet1!$D$2:$D$7</c:f>
              <c:numCache>
                <c:formatCode>General</c:formatCode>
                <c:ptCount val="6"/>
                <c:pt idx="0">
                  <c:v>1.12</c:v>
                </c:pt>
                <c:pt idx="1">
                  <c:v>1.43</c:v>
                </c:pt>
                <c:pt idx="2">
                  <c:v>1.98</c:v>
                </c:pt>
                <c:pt idx="3">
                  <c:v>2.3</c:v>
                </c:pt>
                <c:pt idx="4">
                  <c:v>2.95</c:v>
                </c:pt>
                <c:pt idx="5">
                  <c:v>2.84</c:v>
                </c:pt>
              </c:numCache>
            </c:numRef>
          </c:val>
          <c:smooth val="0"/>
        </c:ser>
        <c:ser>
          <c:idx val="3"/>
          <c:order val="3"/>
          <c:tx>
            <c:strRef>
              <c:f>Sheet1!$E$1</c:f>
              <c:strCache>
                <c:ptCount val="1"/>
                <c:pt idx="0">
                  <c:v>FASTQ</c:v>
                </c:pt>
              </c:strCache>
            </c:strRef>
          </c:tx>
          <c:spPr>
            <a:ln w="25400">
              <a:solidFill>
                <a:srgbClr val="34A853"/>
              </a:solidFill>
            </a:ln>
          </c:spPr>
          <c:marker>
            <c:size val="5"/>
            <c:spPr>
              <a:solidFill>
                <a:srgbClr val="34A853"/>
              </a:solidFill>
            </c:spPr>
          </c:marker>
          <c:cat>
            <c:strRef>
              <c:f>Sheet1!$A$2:$A$7</c:f>
              <c:strCache>
                <c:ptCount val="6"/>
                <c:pt idx="0">
                  <c:v>1</c:v>
                </c:pt>
                <c:pt idx="1">
                  <c:v>2</c:v>
                </c:pt>
                <c:pt idx="2">
                  <c:v>4</c:v>
                </c:pt>
                <c:pt idx="3">
                  <c:v>6</c:v>
                </c:pt>
                <c:pt idx="4">
                  <c:v>8</c:v>
                </c:pt>
                <c:pt idx="5">
                  <c:v>10</c:v>
                </c:pt>
              </c:strCache>
            </c:strRef>
          </c:cat>
          <c:val>
            <c:numRef>
              <c:f>Sheet1!$E$2:$E$7</c:f>
              <c:numCache>
                <c:formatCode>General</c:formatCode>
                <c:ptCount val="6"/>
                <c:pt idx="0">
                  <c:v>0.75</c:v>
                </c:pt>
                <c:pt idx="1">
                  <c:v>1.02</c:v>
                </c:pt>
                <c:pt idx="2">
                  <c:v>1.27</c:v>
                </c:pt>
                <c:pt idx="3">
                  <c:v>1.57</c:v>
                </c:pt>
                <c:pt idx="4">
                  <c:v>1.87</c:v>
                </c:pt>
                <c:pt idx="5">
                  <c:v>1.98</c:v>
                </c:pt>
              </c:numCache>
            </c:numRef>
          </c:val>
          <c:smooth val="0"/>
        </c:ser>
        <c:ser>
          <c:idx val="4"/>
          <c:order val="4"/>
          <c:tx>
            <c:strRef>
              <c:f>Sheet1!$F$1</c:f>
              <c:strCache>
                <c:ptCount val="1"/>
                <c:pt idx="0">
                  <c:v>Logs</c:v>
                </c:pt>
              </c:strCache>
            </c:strRef>
          </c:tx>
          <c:spPr>
            <a:ln w="25400">
              <a:solidFill>
                <a:srgbClr val="9AA0A6"/>
              </a:solidFill>
            </a:ln>
          </c:spPr>
          <c:marker>
            <c:size val="5"/>
            <c:spPr>
              <a:solidFill>
                <a:srgbClr val="9AA0A6"/>
              </a:solidFill>
            </c:spPr>
          </c:marker>
          <c:cat>
            <c:strRef>
              <c:f>Sheet1!$A$2:$A$7</c:f>
              <c:strCache>
                <c:ptCount val="6"/>
                <c:pt idx="0">
                  <c:v>1</c:v>
                </c:pt>
                <c:pt idx="1">
                  <c:v>2</c:v>
                </c:pt>
                <c:pt idx="2">
                  <c:v>4</c:v>
                </c:pt>
                <c:pt idx="3">
                  <c:v>6</c:v>
                </c:pt>
                <c:pt idx="4">
                  <c:v>8</c:v>
                </c:pt>
                <c:pt idx="5">
                  <c:v>10</c:v>
                </c:pt>
              </c:strCache>
            </c:strRef>
          </c:cat>
          <c:val>
            <c:numRef>
              <c:f>Sheet1!$F$2:$F$7</c:f>
              <c:numCache>
                <c:formatCode>General</c:formatCode>
                <c:ptCount val="6"/>
                <c:pt idx="0">
                  <c:v>1.57</c:v>
                </c:pt>
                <c:pt idx="1">
                  <c:v>1.49</c:v>
                </c:pt>
                <c:pt idx="2">
                  <c:v>2.22</c:v>
                </c:pt>
                <c:pt idx="3">
                  <c:v>2.73</c:v>
                </c:pt>
                <c:pt idx="4">
                  <c:v>2.95</c:v>
                </c:pt>
                <c:pt idx="5">
                  <c:v>3.74</c:v>
                </c:pt>
              </c:numCache>
            </c:numRef>
          </c:val>
          <c:smooth val="0"/>
        </c:ser>
        <c:ser>
          <c:idx val="5"/>
          <c:order val="5"/>
          <c:tx>
            <c:strRef>
              <c:f>Sheet1!$G$1</c:f>
              <c:strCache>
                <c:ptCount val="1"/>
                <c:pt idx="0">
                  <c:v>zlib (Silesia)</c:v>
                </c:pt>
              </c:strCache>
            </c:strRef>
          </c:tx>
          <c:spPr>
            <a:ln w="15875">
              <a:solidFill>
                <a:srgbClr val="000000"/>
              </a:solidFill>
              <a:prstDash val="dash"/>
            </a:ln>
          </c:spPr>
          <c:marker>
            <c:size val="5"/>
            <c:spPr>
              <a:solidFill>
                <a:srgbClr val="000000"/>
              </a:solidFill>
            </c:spPr>
          </c:marker>
          <c:cat>
            <c:strRef>
              <c:f>Sheet1!$A$2:$A$7</c:f>
              <c:strCache>
                <c:ptCount val="6"/>
                <c:pt idx="0">
                  <c:v>1</c:v>
                </c:pt>
                <c:pt idx="1">
                  <c:v>2</c:v>
                </c:pt>
                <c:pt idx="2">
                  <c:v>4</c:v>
                </c:pt>
                <c:pt idx="3">
                  <c:v>6</c:v>
                </c:pt>
                <c:pt idx="4">
                  <c:v>8</c:v>
                </c:pt>
                <c:pt idx="5">
                  <c:v>10</c:v>
                </c:pt>
              </c:strCache>
            </c:strRef>
          </c:cat>
          <c:val>
            <c:numRef>
              <c:f>Sheet1!$G$2:$G$7</c:f>
              <c:numCache>
                <c:formatCode>General</c:formatCode>
                <c:ptCount val="6"/>
                <c:pt idx="0">
                  <c:v>1.22</c:v>
                </c:pt>
                <c:pt idx="1">
                  <c:v>1.22</c:v>
                </c:pt>
                <c:pt idx="2">
                  <c:v>1.22</c:v>
                </c:pt>
                <c:pt idx="3">
                  <c:v>1.22</c:v>
                </c:pt>
                <c:pt idx="4">
                  <c:v>1.22</c:v>
                </c:pt>
                <c:pt idx="5">
                  <c:v>1.22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850">
                <a:latin typeface="Arial"/>
              </a:defRPr>
            </a:pPr>
          </a:p>
        </c:txPr>
        <c:crossAx val="2140495176"/>
        <c:crosses val="autoZero"/>
        <c:auto val="1"/>
        <c:lblAlgn val="ctr"/>
        <c:lblOffset val="100"/>
        <c:noMultiLvlLbl val="0"/>
      </c:catAx>
      <c:valAx>
        <c:axId val="2140495176"/>
        <c:scaling>
          <c:max val="4.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118791784"/>
        <c:crosses val="autoZero"/>
        <c:majorUnit val="1.0"/>
      </c:valAx>
    </c:plotArea>
    <c:legend>
      <c:legendPos val="b"/>
      <c:layout/>
      <c:overlay val="0"/>
      <c:txPr>
        <a:bodyPr/>
        <a:lstStyle/>
        <a:p>
          <a:pPr>
            <a:defRPr sz="85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Time to resolve windows (ms), Silesia x5, 10 threads</a:t>
            </a:r>
          </a:p>
        </c:rich>
      </c:tx>
      <c:layout/>
      <c:overlay val="0"/>
    </c:title>
    <c:autoTitleDeleted val="0"/>
    <c:plotArea>
      <c:barChart>
        <c:barDir val="col"/>
        <c:grouping val="clustered"/>
        <c:ser>
          <c:idx val="0"/>
          <c:order val="0"/>
          <c:tx>
            <c:strRef>
              <c:f>Sheet1!$B$1</c:f>
              <c:strCache>
                <c:ptCount val="1"/>
                <c:pt idx="0">
                  <c:v>One by one (rapidgzip)</c:v>
                </c:pt>
              </c:strCache>
            </c:strRef>
          </c:tx>
          <c:spPr>
            <a:solidFill>
              <a:srgbClr val="FFAB40"/>
            </a:solidFill>
          </c:spPr>
          <c:cat>
            <c:strRef>
              <c:f>Sheet1!$A$2:$A$6</c:f>
              <c:strCache>
                <c:ptCount val="5"/>
                <c:pt idx="0">
                  <c:v>64 KiB
(5205)</c:v>
                </c:pt>
                <c:pt idx="1">
                  <c:v>128 KiB
(2603)</c:v>
                </c:pt>
                <c:pt idx="2">
                  <c:v>256 KiB
(1302)</c:v>
                </c:pt>
                <c:pt idx="3">
                  <c:v>512 KiB
(651)</c:v>
                </c:pt>
                <c:pt idx="4">
                  <c:v>1 MiB
(326)</c:v>
                </c:pt>
              </c:strCache>
            </c:strRef>
          </c:cat>
          <c:val>
            <c:numRef>
              <c:f>Sheet1!$B$2:$B$6</c:f>
              <c:numCache>
                <c:formatCode>General</c:formatCode>
                <c:ptCount val="5"/>
                <c:pt idx="0">
                  <c:v>270.8</c:v>
                </c:pt>
                <c:pt idx="1">
                  <c:v>140.0</c:v>
                </c:pt>
                <c:pt idx="2">
                  <c:v>66.7</c:v>
                </c:pt>
                <c:pt idx="3">
                  <c:v>28.3</c:v>
                </c:pt>
                <c:pt idx="4">
                  <c:v>10.6</c:v>
                </c:pt>
              </c:numCache>
            </c:numRef>
          </c:val>
        </c:ser>
        <c:ser>
          <c:idx val="1"/>
          <c:order val="1"/>
          <c:tx>
            <c:strRef>
              <c:f>Sheet1!$C$1</c:f>
              <c:strCache>
                <c:ptCount val="1"/>
                <c:pt idx="0">
                  <c:v>Blocked scan (ours)</c:v>
                </c:pt>
              </c:strCache>
            </c:strRef>
          </c:tx>
          <c:spPr>
            <a:solidFill>
              <a:srgbClr val="4285F4"/>
            </a:solidFill>
          </c:spPr>
          <c:cat>
            <c:strRef>
              <c:f>Sheet1!$A$2:$A$6</c:f>
              <c:strCache>
                <c:ptCount val="5"/>
                <c:pt idx="0">
                  <c:v>64 KiB
(5205)</c:v>
                </c:pt>
                <c:pt idx="1">
                  <c:v>128 KiB
(2603)</c:v>
                </c:pt>
                <c:pt idx="2">
                  <c:v>256 KiB
(1302)</c:v>
                </c:pt>
                <c:pt idx="3">
                  <c:v>512 KiB
(651)</c:v>
                </c:pt>
                <c:pt idx="4">
                  <c:v>1 MiB
(326)</c:v>
                </c:pt>
              </c:strCache>
            </c:strRef>
          </c:cat>
          <c:val>
            <c:numRef>
              <c:f>Sheet1!$C$2:$C$6</c:f>
              <c:numCache>
                <c:formatCode>General</c:formatCode>
                <c:ptCount val="5"/>
                <c:pt idx="0">
                  <c:v>81.6</c:v>
                </c:pt>
                <c:pt idx="1">
                  <c:v>38.8</c:v>
                </c:pt>
                <c:pt idx="2">
                  <c:v>19.9</c:v>
                </c:pt>
                <c:pt idx="3">
                  <c:v>7.2</c:v>
                </c:pt>
                <c:pt idx="4">
                  <c:v>3.1</c:v>
                </c:pt>
              </c:numCache>
            </c:numRef>
          </c:val>
        </c:ser>
        <c:dLbls>
          <c:numFmt formatCode="0" sourceLinked="0"/>
          <c:txPr>
            <a:bodyPr/>
            <a:lstStyle/>
            <a:p>
              <a:pPr>
                <a:defRPr sz="850">
                  <a:latin typeface="Arial"/>
                </a:defRPr>
              </a:pPr>
            </a:p>
          </c:txPr>
          <c:dLblPos val="outEnd"/>
          <c:showLegendKey val="0"/>
          <c:showVal val="1"/>
          <c:showCatName val="0"/>
          <c:showSerName val="0"/>
          <c:showPercent val="0"/>
          <c:showBubbleSize val="0"/>
          <c:showLeaderLines val="1"/>
        </c:dLbls>
        <c:gapWidth val="60"/>
        <c:overlap val="-10"/>
        <c:axId val="2226939960"/>
        <c:axId val="2180972856"/>
      </c:barChart>
      <c:catAx>
        <c:axId val="2226939960"/>
        <c:scaling>
          <c:orientation val="minMax"/>
        </c:scaling>
        <c:delete val="0"/>
        <c:axPos val="b"/>
        <c:majorTickMark val="out"/>
        <c:minorTickMark val="none"/>
        <c:tickLblPos val="nextTo"/>
        <c:txPr>
          <a:bodyPr/>
          <a:lstStyle/>
          <a:p>
            <a:pPr>
              <a:defRPr sz="850">
                <a:latin typeface="Arial"/>
              </a:defRPr>
            </a:pPr>
          </a:p>
        </c:txPr>
        <c:crossAx val="2180972856"/>
        <c:crosses val="autoZero"/>
        <c:auto val="1"/>
        <c:lblAlgn val="ctr"/>
        <c:lblOffset val="100"/>
        <c:noMultiLvlLbl val="0"/>
      </c:catAx>
      <c:valAx>
        <c:axId val="2180972856"/>
        <c:scaling>
          <c:max val="300.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226939960"/>
        <c:crosses val="autoZero"/>
        <c:majorUnit val="100.0"/>
      </c:valAx>
    </c:plotArea>
    <c:legend>
      <c:legendPos val="b"/>
      <c:overlay val="0"/>
      <c:txPr>
        <a:bodyPr/>
        <a:lstStyle/>
        <a:p>
          <a:pPr>
            <a:defRPr sz="85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Our project is Riptide. It decompresses normal .gz files using all the cores, and the output is exactly what zlib gives. We wrote the decoder ourselves and worked on the one step our base paper keeps serial.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201240a44ad15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4201240a44ad15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Even today, gunzip on a big file uses one core. There are two reasons: you can't tell where a block starts without decoding everything before it, and a match can copy from up to 32 KB back. rapidgzip gets around both, but it still passes the windows from chunk to chunk one at a time. That's the part we looked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The orange boxes are our parts. Each chunk's last 32 KB depends on the chunk before it, but if you treat that dependency as a function, two of them combine into one function of the same kind, and the combining is associative. That's all you need for a prefix scan. The other change is for chunks that grow past their memory budget: we split them up instead of letting one thread finish them.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First, correctness: all 1,200 timed runs gave exactly the same bytes as zlib. On the biggest Silesia file we get about 3 GB/s with 10 threads, roughly two and a half times zlib. Efficiency isn't great, around 0.3, partly because six of the ten cores on this laptop are the small ones. And on the very compressible logs file zlib is still faster than us.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h4201240a44ad15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h4201240a44ad15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Everything here is our own code. The bugs on the left are the ones that cost us the most time. The race only failed about once in eight runs, so it took a while to even reproduce, and the memory problem only showed up once we tried 1 GB files. We also downloaded rapidgzip and ran it on the same laptop to compare.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4201240a44ad15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h4201240a44ad15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 sum up: the step rapidgzip calls serial can be done with a prefix scan, and it pays off with small chunks. We're level with rapidgzip at 10 threads, and it's still better on memory and on small chunks. Next we'd stream the output, which should fix most of the memory gap, and then try the scan inside rapidgzip on a big server.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M3. The blue bars are our scan, the orange ones are the chain done one by one, which is how rapidgzip does it. The scan is three to four times faster and keeps improving with more threads. It only shows up in the total time when chunks are small, though. With big chunks the chain was already cheap. Also, rapidgzip handles 64 KB chunks better than our decoder overall, because our block search and per-chunk bookkeeping cost more. So we can say M3 works in Riptide; whether it helps inside rapidgzip we haven't tested.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side is M1. When a chunk grows past its memory budget, rapidgzip's approach leaves the rest to one thread. We split it across idle threads, and with few large chunks that took the imbalance from 5.6 down to 1.3. With lots of small chunks it doesn't matter. Our other idea, sizing chunks from the Huffman headers, didn't pay off, so we're reporting that as a negative result. On the right we ran rapidgzip itself on the same laptop. At 10 threads we're about the same speed. It uses a lot less memory than we do, because it streams the output and we keep all of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8"/>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
          <p:cNvSpPr txBox="1"/>
          <p:nvPr>
            <p:ph type="ctrTitle"/>
          </p:nvPr>
        </p:nvSpPr>
        <p:spPr>
          <a:xfrm>
            <a:off x="310896" y="1554480"/>
            <a:ext cx="8522208" cy="118872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5200"/>
              <a:buNone/>
            </a:pPr>
            <a:r>
              <a:rPr sz="4000" b="1" i="0">
                <a:solidFill>
                  <a:srgbClr val="212121"/>
                </a:solidFill>
                <a:latin typeface="Arial"/>
              </a:rPr>
              <a:t>Riptide</a:t>
            </a:r>
            <a:endParaRPr/>
          </a:p>
          <a:p>
            <a:pPr algn="ctr"/>
            <a:r>
              <a:rPr sz="1700" b="0" i="0">
                <a:solidFill>
                  <a:srgbClr val="595959"/>
                </a:solidFill>
                <a:latin typeface="Arial"/>
              </a:rPr>
              <a:t>Breaking the Serial Window Chain in Parallel Gzip Decompression</a:t>
            </a:r>
          </a:p>
        </p:txBody>
      </p:sp>
      <p:sp>
        <p:nvSpPr>
          <p:cNvPr id="55" name="Google Shape;55;p1"/>
          <p:cNvSpPr txBox="1"/>
          <p:nvPr>
            <p:ph idx="1" type="subTitle"/>
          </p:nvPr>
        </p:nvSpPr>
        <p:spPr>
          <a:xfrm>
            <a:off x="310896" y="1216152"/>
            <a:ext cx="8522208" cy="292608"/>
          </a:xfrm>
          <a:prstGeom prst="rect">
            <a:avLst/>
          </a:prstGeom>
          <a:noFill/>
          <a:ln>
            <a:noFill/>
          </a:ln>
        </p:spPr>
        <p:txBody>
          <a:bodyPr anchorCtr="0" anchor="ctr" bIns="0" lIns="0" spcFirstLastPara="1" rIns="0" wrap="square" tIns="0">
            <a:normAutofit/>
          </a:bodyPr>
          <a:lstStyle/>
          <a:p>
            <a:pPr indent="0" lvl="0" marL="0" rtl="0" algn="ctr">
              <a:lnSpc>
                <a:spcPct val="100000"/>
              </a:lnSpc>
              <a:spcBef>
                <a:spcPts val="0"/>
              </a:spcBef>
              <a:spcAft>
                <a:spcPts val="0"/>
              </a:spcAft>
              <a:buSzPts val="2800"/>
              <a:buNone/>
            </a:pPr>
            <a:r>
              <a:rPr sz="1100" b="1" i="0" spc="300">
                <a:solidFill>
                  <a:srgbClr val="4285F4"/>
                </a:solidFill>
                <a:latin typeface="Arial"/>
              </a:rPr>
              <a:t>FINAL PRESENTATION</a:t>
            </a:r>
            <a:endParaRPr/>
          </a:p>
        </p:txBody>
      </p:sp>
      <p:pic>
        <p:nvPicPr>
          <p:cNvPr id="56" name="Picture 55" descr="nitk_logo.png"/>
          <p:cNvPicPr>
            <a:picLocks noChangeAspect="1"/>
          </p:cNvPicPr>
          <p:nvPr/>
        </p:nvPicPr>
        <p:blipFill>
          <a:blip r:embed="rId3"/>
          <a:stretch>
            <a:fillRect/>
          </a:stretch>
        </p:blipFill>
        <p:spPr>
          <a:xfrm>
            <a:off x="4151376" y="347472"/>
            <a:ext cx="840065" cy="777240"/>
          </a:xfrm>
          <a:prstGeom prst="rect">
            <a:avLst/>
          </a:prstGeom>
        </p:spPr>
      </p:pic>
      <p:sp>
        <p:nvSpPr>
          <p:cNvPr id="57" name="Rounded Rectangle 56"/>
          <p:cNvSpPr/>
          <p:nvPr/>
        </p:nvSpPr>
        <p:spPr>
          <a:xfrm>
            <a:off x="132588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Devansh Hiren Shah</a:t>
            </a:r>
          </a:p>
          <a:p>
            <a:pPr algn="ctr"/>
            <a:r>
              <a:rPr sz="1000" b="0" i="0">
                <a:solidFill>
                  <a:srgbClr val="78909C"/>
                </a:solidFill>
                <a:latin typeface="Arial"/>
              </a:rPr>
              <a:t>241IT024</a:t>
            </a:r>
          </a:p>
        </p:txBody>
      </p:sp>
      <p:sp>
        <p:nvSpPr>
          <p:cNvPr id="58" name="Rounded Rectangle 57"/>
          <p:cNvSpPr/>
          <p:nvPr/>
        </p:nvSpPr>
        <p:spPr>
          <a:xfrm>
            <a:off x="470916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Mantri Samarth Prakash</a:t>
            </a:r>
          </a:p>
          <a:p>
            <a:pPr algn="ctr"/>
            <a:r>
              <a:rPr sz="1000" b="0" i="0">
                <a:solidFill>
                  <a:srgbClr val="78909C"/>
                </a:solidFill>
                <a:latin typeface="Arial"/>
              </a:rPr>
              <a:t>241IT043</a:t>
            </a:r>
          </a:p>
        </p:txBody>
      </p:sp>
      <p:sp>
        <p:nvSpPr>
          <p:cNvPr id="59" name="Rounded Rectangle 58"/>
          <p:cNvSpPr/>
          <p:nvPr/>
        </p:nvSpPr>
        <p:spPr>
          <a:xfrm>
            <a:off x="132588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Shubh Minesh Thakkar</a:t>
            </a:r>
          </a:p>
          <a:p>
            <a:pPr algn="ctr"/>
            <a:r>
              <a:rPr sz="1000" b="0" i="0">
                <a:solidFill>
                  <a:srgbClr val="78909C"/>
                </a:solidFill>
                <a:latin typeface="Arial"/>
              </a:rPr>
              <a:t>241IT076</a:t>
            </a:r>
          </a:p>
        </p:txBody>
      </p:sp>
      <p:sp>
        <p:nvSpPr>
          <p:cNvPr id="60" name="Rounded Rectangle 59"/>
          <p:cNvSpPr/>
          <p:nvPr/>
        </p:nvSpPr>
        <p:spPr>
          <a:xfrm>
            <a:off x="470916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Ritesh Bhagat</a:t>
            </a:r>
          </a:p>
          <a:p>
            <a:pPr algn="ctr"/>
            <a:r>
              <a:rPr sz="1000" b="0" i="0">
                <a:solidFill>
                  <a:srgbClr val="78909C"/>
                </a:solidFill>
                <a:latin typeface="Arial"/>
              </a:rPr>
              <a:t>241IT063</a:t>
            </a:r>
          </a:p>
        </p:txBody>
      </p:sp>
      <p:sp>
        <p:nvSpPr>
          <p:cNvPr id="61" name="Rounded Rectangle 60"/>
          <p:cNvSpPr/>
          <p:nvPr/>
        </p:nvSpPr>
        <p:spPr>
          <a:xfrm>
            <a:off x="310896" y="4261104"/>
            <a:ext cx="8522208"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100" b="1" i="0">
                <a:solidFill>
                  <a:srgbClr val="212121"/>
                </a:solidFill>
                <a:latin typeface="Arial"/>
              </a:rPr>
              <a:t>IT 301 Parallel Computing</a:t>
            </a:r>
          </a:p>
          <a:p>
            <a:pPr algn="ctr"/>
            <a:r>
              <a:rPr sz="1000" b="0" i="0">
                <a:solidFill>
                  <a:srgbClr val="78909C"/>
                </a:solidFill>
                <a:latin typeface="Arial"/>
              </a:rPr>
              <a:t>Department of Information Technology  ·  NIT Karnataka, Surathkal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h4201240a44ad152a_0_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Problem Statement</a:t>
            </a:r>
            <a:endParaRPr/>
          </a:p>
        </p:txBody>
      </p:sp>
      <p:sp>
        <p:nvSpPr>
          <p:cNvPr id="61" name="TextBox 60"/>
          <p:cNvSpPr txBox="1"/>
          <p:nvPr/>
        </p:nvSpPr>
        <p:spPr>
          <a:xfrm>
            <a:off x="310896" y="1115568"/>
            <a:ext cx="3977639" cy="219456"/>
          </a:xfrm>
          <a:prstGeom prst="rect">
            <a:avLst/>
          </a:prstGeom>
          <a:noFill/>
        </p:spPr>
        <p:txBody>
          <a:bodyPr wrap="square" lIns="0" rIns="0" tIns="0" bIns="0" anchor="t">
            <a:spAutoFit/>
          </a:bodyPr>
          <a:lstStyle/>
          <a:p>
            <a:pPr algn="l"/>
            <a:r>
              <a:rPr sz="1050" b="1" i="0">
                <a:solidFill>
                  <a:srgbClr val="4285F4"/>
                </a:solidFill>
                <a:latin typeface="Arial"/>
              </a:rPr>
              <a:t>The problem</a:t>
            </a:r>
          </a:p>
        </p:txBody>
      </p:sp>
      <p:sp>
        <p:nvSpPr>
          <p:cNvPr id="62" name="TextBox 61"/>
          <p:cNvSpPr txBox="1"/>
          <p:nvPr/>
        </p:nvSpPr>
        <p:spPr>
          <a:xfrm>
            <a:off x="310896" y="1389888"/>
            <a:ext cx="3977639"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50" b="0" i="0">
                <a:solidFill>
                  <a:srgbClr val="595959"/>
                </a:solidFill>
                <a:latin typeface="Arial"/>
              </a:rPr>
              <a:t>Unzipping a large .gz file still uses one CPU core, even on a machine with 10 or 64 cores.</a:t>
            </a:r>
          </a:p>
          <a:p>
            <a:pPr marL="164592" indent="-164592">
              <a:lnSpc>
                <a:spcPct val="108000"/>
              </a:lnSpc>
              <a:spcAft>
                <a:spcPts val="700"/>
              </a:spcAft>
              <a:buClr>
                <a:srgbClr val="4285F4"/>
              </a:buClr>
              <a:buFont typeface="Arial"/>
              <a:buChar char="•"/>
            </a:pPr>
            <a:r>
              <a:rPr sz="1050" b="0" i="0">
                <a:solidFill>
                  <a:srgbClr val="595959"/>
                </a:solidFill>
                <a:latin typeface="Arial"/>
              </a:rPr>
              <a:t>The reason: DEFLATE blocks have no index and aren't byte-aligned, and a match can copy data from up to 32 KB earlier in the output.</a:t>
            </a:r>
          </a:p>
          <a:p>
            <a:pPr marL="164592" indent="-164592">
              <a:lnSpc>
                <a:spcPct val="108000"/>
              </a:lnSpc>
              <a:spcAft>
                <a:spcPts val="700"/>
              </a:spcAft>
              <a:buClr>
                <a:srgbClr val="4285F4"/>
              </a:buClr>
              <a:buFont typeface="Arial"/>
              <a:buChar char="•"/>
            </a:pPr>
            <a:r>
              <a:rPr sz="1050" b="1" i="0">
                <a:solidFill>
                  <a:srgbClr val="212121"/>
                </a:solidFill>
                <a:latin typeface="Arial"/>
              </a:rPr>
              <a:t>rapidgzip (HPDC '23)</a:t>
            </a:r>
            <a:r>
              <a:rPr sz="1050" b="0" i="0">
                <a:solidFill>
                  <a:srgbClr val="595959"/>
                </a:solidFill>
                <a:latin typeface="Arial"/>
              </a:rPr>
              <a:t> already decodes chunks in parallel, but it fixes up the 32 KB windows one chunk at a time, and the paper says that part can't be parallelised.</a:t>
            </a:r>
          </a:p>
          <a:p>
            <a:pPr marL="164592" indent="-164592">
              <a:lnSpc>
                <a:spcPct val="108000"/>
              </a:lnSpc>
              <a:spcAft>
                <a:spcPts val="700"/>
              </a:spcAft>
              <a:buClr>
                <a:srgbClr val="4285F4"/>
              </a:buClr>
              <a:buFont typeface="Arial"/>
              <a:buChar char="•"/>
            </a:pPr>
            <a:r>
              <a:rPr sz="1050" b="0" i="0">
                <a:solidFill>
                  <a:srgbClr val="595959"/>
                </a:solidFill>
                <a:latin typeface="Arial"/>
              </a:rPr>
              <a:t>We wanted to check whether that step really has to be serial, and also handle chunks that expand too much.</a:t>
            </a:r>
          </a:p>
        </p:txBody>
      </p:sp>
      <p:sp>
        <p:nvSpPr>
          <p:cNvPr id="63" name="TextBox 62"/>
          <p:cNvSpPr txBox="1"/>
          <p:nvPr/>
        </p:nvSpPr>
        <p:spPr>
          <a:xfrm>
            <a:off x="4526280" y="1115568"/>
            <a:ext cx="4306824" cy="219456"/>
          </a:xfrm>
          <a:prstGeom prst="rect">
            <a:avLst/>
          </a:prstGeom>
          <a:noFill/>
        </p:spPr>
        <p:txBody>
          <a:bodyPr wrap="square" lIns="0" rIns="0" tIns="0" bIns="0" anchor="t">
            <a:spAutoFit/>
          </a:bodyPr>
          <a:lstStyle/>
          <a:p>
            <a:pPr algn="l"/>
            <a:r>
              <a:rPr sz="1050" b="1" i="0">
                <a:solidFill>
                  <a:srgbClr val="4285F4"/>
                </a:solidFill>
                <a:latin typeface="Arial"/>
              </a:rPr>
              <a:t>Who benefits</a:t>
            </a:r>
          </a:p>
        </p:txBody>
      </p:sp>
      <p:graphicFrame>
        <p:nvGraphicFramePr>
          <p:cNvPr id="64" name="Table 63"/>
          <p:cNvGraphicFramePr>
            <a:graphicFrameLocks noGrp="1"/>
          </p:cNvGraphicFramePr>
          <p:nvPr/>
        </p:nvGraphicFramePr>
        <p:xfrm>
          <a:off x="4526280" y="1389888"/>
          <a:ext cx="4306824" cy="2286000"/>
        </p:xfrm>
        <a:graphic>
          <a:graphicData uri="http://schemas.openxmlformats.org/drawingml/2006/table">
            <a:tbl>
              <a:tblPr firstRow="1"/>
              <a:tblGrid>
                <a:gridCol w="1371600"/>
                <a:gridCol w="2935224"/>
              </a:tblGrid>
              <a:tr h="457200">
                <a:tc>
                  <a:txBody>
                    <a:bodyPr wrap="square"/>
                    <a:lstStyle/>
                    <a:p>
                      <a:pPr algn="l"/>
                      <a:r>
                        <a:rPr sz="900" b="1" i="0">
                          <a:solidFill>
                            <a:srgbClr val="FFFFFF"/>
                          </a:solidFill>
                          <a:latin typeface="Arial"/>
                        </a:rPr>
                        <a:t>Who</a:t>
                      </a:r>
                    </a:p>
                  </a:txBody>
                  <a:tcPr marL="54864" marR="54864" marT="18288" marB="18288" anchor="ctr">
                    <a:solidFill>
                      <a:srgbClr val="4285F4"/>
                    </a:solidFill>
                  </a:tcPr>
                </a:tc>
                <a:tc>
                  <a:txBody>
                    <a:bodyPr wrap="square"/>
                    <a:lstStyle/>
                    <a:p>
                      <a:pPr algn="l"/>
                      <a:r>
                        <a:rPr sz="900" b="1" i="0">
                          <a:solidFill>
                            <a:srgbClr val="FFFFFF"/>
                          </a:solidFill>
                          <a:latin typeface="Arial"/>
                        </a:rPr>
                        <a:t>How</a:t>
                      </a:r>
                    </a:p>
                  </a:txBody>
                  <a:tcPr marL="54864" marR="54864" marT="18288" marB="18288" anchor="ctr">
                    <a:solidFill>
                      <a:srgbClr val="4285F4"/>
                    </a:solidFill>
                  </a:tcPr>
                </a:tc>
              </a:tr>
              <a:tr h="457200">
                <a:tc>
                  <a:txBody>
                    <a:bodyPr wrap="square"/>
                    <a:lstStyle/>
                    <a:p>
                      <a:pPr algn="l"/>
                      <a:r>
                        <a:rPr sz="900" b="0" i="0">
                          <a:solidFill>
                            <a:srgbClr val="595959"/>
                          </a:solidFill>
                          <a:latin typeface="Arial"/>
                        </a:rPr>
                        <a:t>Genomics labs</a:t>
                      </a:r>
                    </a:p>
                  </a:txBody>
                  <a:tcPr marL="54864" marR="54864" marT="18288" marB="18288" anchor="ctr">
                    <a:solidFill>
                      <a:srgbClr val="FFFFFF"/>
                    </a:solidFill>
                  </a:tcPr>
                </a:tc>
                <a:tc>
                  <a:txBody>
                    <a:bodyPr wrap="square"/>
                    <a:lstStyle/>
                    <a:p>
                      <a:pPr algn="l"/>
                      <a:r>
                        <a:rPr sz="900" b="0" i="0">
                          <a:solidFill>
                            <a:srgbClr val="595959"/>
                          </a:solidFill>
                          <a:latin typeface="Arial"/>
                        </a:rPr>
                        <a:t>Old .fastq.gz files decompress faster when they are re-analysed</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Data engineers</a:t>
                      </a:r>
                    </a:p>
                  </a:txBody>
                  <a:tcPr marL="54864" marR="54864" marT="18288" marB="18288" anchor="ctr">
                    <a:solidFill>
                      <a:srgbClr val="F1F3F4"/>
                    </a:solidFill>
                  </a:tcPr>
                </a:tc>
                <a:tc>
                  <a:txBody>
                    <a:bodyPr wrap="square"/>
                    <a:lstStyle/>
                    <a:p>
                      <a:pPr algn="l"/>
                      <a:r>
                        <a:rPr sz="900" b="0" i="0">
                          <a:solidFill>
                            <a:srgbClr val="595959"/>
                          </a:solidFill>
                          <a:latin typeface="Arial"/>
                        </a:rPr>
                        <a:t>Gzipped logs, CSV and JSON load faster, no re-compressing</a:t>
                      </a:r>
                    </a:p>
                  </a:txBody>
                  <a:tcPr marL="54864" marR="54864" marT="18288" marB="18288" anchor="ctr">
                    <a:solidFill>
                      <a:srgbClr val="F1F3F4"/>
                    </a:solidFill>
                  </a:tcPr>
                </a:tc>
              </a:tr>
              <a:tr h="457200">
                <a:tc>
                  <a:txBody>
                    <a:bodyPr wrap="square"/>
                    <a:lstStyle/>
                    <a:p>
                      <a:pPr algn="l"/>
                      <a:r>
                        <a:rPr sz="900" b="0" i="0">
                          <a:solidFill>
                            <a:srgbClr val="595959"/>
                          </a:solidFill>
                          <a:latin typeface="Arial"/>
                        </a:rPr>
                        <a:t>DevOps / CI</a:t>
                      </a:r>
                    </a:p>
                  </a:txBody>
                  <a:tcPr marL="54864" marR="54864" marT="18288" marB="18288" anchor="ctr">
                    <a:solidFill>
                      <a:srgbClr val="FFFFFF"/>
                    </a:solidFill>
                  </a:tcPr>
                </a:tc>
                <a:tc>
                  <a:txBody>
                    <a:bodyPr wrap="square"/>
                    <a:lstStyle/>
                    <a:p>
                      <a:pPr algn="l"/>
                      <a:r>
                        <a:rPr sz="900" b="0" i="0">
                          <a:solidFill>
                            <a:srgbClr val="595959"/>
                          </a:solidFill>
                          <a:latin typeface="Arial"/>
                        </a:rPr>
                        <a:t>Faster extraction of tarballs and container layers</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Archives</a:t>
                      </a:r>
                    </a:p>
                  </a:txBody>
                  <a:tcPr marL="54864" marR="54864" marT="18288" marB="18288" anchor="ctr">
                    <a:solidFill>
                      <a:srgbClr val="F1F3F4"/>
                    </a:solidFill>
                  </a:tcPr>
                </a:tc>
                <a:tc>
                  <a:txBody>
                    <a:bodyPr wrap="square"/>
                    <a:lstStyle/>
                    <a:p>
                      <a:pPr algn="l"/>
                      <a:r>
                        <a:rPr sz="900" b="0" i="0">
                          <a:solidFill>
                            <a:srgbClr val="595959"/>
                          </a:solidFill>
                          <a:latin typeface="Arial"/>
                        </a:rPr>
                        <a:t>Existing .gz files can stay as they are</a:t>
                      </a:r>
                    </a:p>
                  </a:txBody>
                  <a:tcPr marL="54864" marR="54864" marT="18288" marB="18288" anchor="ctr">
                    <a:solidFill>
                      <a:srgbClr val="F1F3F4"/>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800"/>
              <a:t>Methodology Block Diagram</a:t>
            </a:r>
            <a:endParaRPr/>
          </a:p>
        </p:txBody>
      </p:sp>
      <p:sp>
        <p:nvSpPr>
          <p:cNvPr id="67" name="Rounded Rectangle 66"/>
          <p:cNvSpPr/>
          <p:nvPr/>
        </p:nvSpPr>
        <p:spPr>
          <a:xfrm>
            <a:off x="310896" y="1097280"/>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.gz file</a:t>
            </a:r>
          </a:p>
          <a:p>
            <a:pPr algn="ctr"/>
            <a:r>
              <a:rPr sz="900" b="1" i="0">
                <a:solidFill>
                  <a:srgbClr val="212121"/>
                </a:solidFill>
                <a:latin typeface="Arial"/>
              </a:rPr>
              <a:t>(memory-mapped)</a:t>
            </a:r>
          </a:p>
        </p:txBody>
      </p:sp>
      <p:sp>
        <p:nvSpPr>
          <p:cNvPr id="68" name="Rounded Rectangle 67"/>
          <p:cNvSpPr/>
          <p:nvPr/>
        </p:nvSpPr>
        <p:spPr>
          <a:xfrm>
            <a:off x="2080260"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1. Partition</a:t>
            </a:r>
          </a:p>
          <a:p>
            <a:pPr algn="ctr"/>
            <a:r>
              <a:rPr sz="900" b="1" i="0">
                <a:solidFill>
                  <a:srgbClr val="212121"/>
                </a:solidFill>
                <a:latin typeface="Arial"/>
              </a:rPr>
              <a:t>into chunks</a:t>
            </a:r>
          </a:p>
        </p:txBody>
      </p:sp>
      <p:sp>
        <p:nvSpPr>
          <p:cNvPr id="69" name="Rounded Rectangle 68"/>
          <p:cNvSpPr/>
          <p:nvPr/>
        </p:nvSpPr>
        <p:spPr>
          <a:xfrm>
            <a:off x="3849624"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2. Decode chunks</a:t>
            </a:r>
          </a:p>
          <a:p>
            <a:pPr algn="ctr"/>
            <a:r>
              <a:rPr sz="900" b="1" i="0">
                <a:solidFill>
                  <a:srgbClr val="212121"/>
                </a:solidFill>
                <a:latin typeface="Arial"/>
              </a:rPr>
              <a:t>with markers</a:t>
            </a:r>
          </a:p>
          <a:p>
            <a:pPr algn="ctr"/>
            <a:r>
              <a:rPr sz="800" b="1" i="0">
                <a:solidFill>
                  <a:srgbClr val="B06000"/>
                </a:solidFill>
                <a:latin typeface="Arial"/>
              </a:rPr>
              <a:t>M1: split big chunks</a:t>
            </a:r>
          </a:p>
        </p:txBody>
      </p:sp>
      <p:sp>
        <p:nvSpPr>
          <p:cNvPr id="70" name="Rounded Rectangle 69"/>
          <p:cNvSpPr/>
          <p:nvPr/>
        </p:nvSpPr>
        <p:spPr>
          <a:xfrm>
            <a:off x="5618988"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3. Link chunks</a:t>
            </a:r>
          </a:p>
          <a:p>
            <a:pPr algn="ctr"/>
            <a:r>
              <a:rPr sz="900" b="1" i="0">
                <a:solidFill>
                  <a:srgbClr val="212121"/>
                </a:solidFill>
                <a:latin typeface="Arial"/>
              </a:rPr>
              <a:t>in order</a:t>
            </a:r>
          </a:p>
        </p:txBody>
      </p:sp>
      <p:sp>
        <p:nvSpPr>
          <p:cNvPr id="71" name="Rounded Rectangle 70"/>
          <p:cNvSpPr/>
          <p:nvPr/>
        </p:nvSpPr>
        <p:spPr>
          <a:xfrm>
            <a:off x="7388352"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4. Resolve windows</a:t>
            </a:r>
          </a:p>
          <a:p>
            <a:pPr algn="ctr"/>
            <a:r>
              <a:rPr sz="900" b="1" i="0">
                <a:solidFill>
                  <a:srgbClr val="212121"/>
                </a:solidFill>
                <a:latin typeface="Arial"/>
              </a:rPr>
              <a:t>(prefix scan)</a:t>
            </a:r>
          </a:p>
          <a:p>
            <a:pPr algn="ctr"/>
            <a:r>
              <a:rPr sz="800" b="1" i="0">
                <a:solidFill>
                  <a:srgbClr val="B06000"/>
                </a:solidFill>
                <a:latin typeface="Arial"/>
              </a:rPr>
              <a:t>M3 (main idea)</a:t>
            </a:r>
          </a:p>
        </p:txBody>
      </p:sp>
      <p:sp>
        <p:nvSpPr>
          <p:cNvPr id="72" name="Rounded Rectangle 71"/>
          <p:cNvSpPr/>
          <p:nvPr/>
        </p:nvSpPr>
        <p:spPr>
          <a:xfrm>
            <a:off x="7388352"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5. Fill in markers,</a:t>
            </a:r>
          </a:p>
          <a:p>
            <a:pPr algn="ctr"/>
            <a:r>
              <a:rPr sz="900" b="1" i="0">
                <a:solidFill>
                  <a:srgbClr val="212121"/>
                </a:solidFill>
                <a:latin typeface="Arial"/>
              </a:rPr>
              <a:t>join chunks</a:t>
            </a:r>
          </a:p>
        </p:txBody>
      </p:sp>
      <p:sp>
        <p:nvSpPr>
          <p:cNvPr id="73" name="Rounded Rectangle 72"/>
          <p:cNvSpPr/>
          <p:nvPr/>
        </p:nvSpPr>
        <p:spPr>
          <a:xfrm>
            <a:off x="5618988"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6. Check CRC-32</a:t>
            </a:r>
          </a:p>
          <a:p>
            <a:pPr algn="ctr"/>
            <a:r>
              <a:rPr sz="900" b="1" i="0">
                <a:solidFill>
                  <a:srgbClr val="212121"/>
                </a:solidFill>
                <a:latin typeface="Arial"/>
              </a:rPr>
              <a:t>(in parallel)</a:t>
            </a:r>
          </a:p>
        </p:txBody>
      </p:sp>
      <p:sp>
        <p:nvSpPr>
          <p:cNvPr id="74" name="Rounded Rectangle 73"/>
          <p:cNvSpPr/>
          <p:nvPr/>
        </p:nvSpPr>
        <p:spPr>
          <a:xfrm>
            <a:off x="3849624" y="2267712"/>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Output (same</a:t>
            </a:r>
          </a:p>
          <a:p>
            <a:pPr algn="ctr"/>
            <a:r>
              <a:rPr sz="900" b="1" i="0">
                <a:solidFill>
                  <a:srgbClr val="212121"/>
                </a:solidFill>
                <a:latin typeface="Arial"/>
              </a:rPr>
              <a:t>as zlib)</a:t>
            </a:r>
          </a:p>
        </p:txBody>
      </p:sp>
      <p:sp>
        <p:nvSpPr>
          <p:cNvPr id="75" name="Rounded Rectangle 74"/>
          <p:cNvSpPr/>
          <p:nvPr/>
        </p:nvSpPr>
        <p:spPr>
          <a:xfrm>
            <a:off x="310896" y="2267712"/>
            <a:ext cx="3214116" cy="713232"/>
          </a:xfrm>
          <a:prstGeom prst="roundRect">
            <a:avLst>
              <a:gd name="adj" fmla="val 12000"/>
            </a:avLst>
          </a:prstGeom>
          <a:solidFill>
            <a:srgbClr val="F1F3F4"/>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Thread pool (work stealing)</a:t>
            </a:r>
          </a:p>
          <a:p>
            <a:pPr algn="ctr"/>
            <a:r>
              <a:rPr sz="900" b="1" i="0">
                <a:solidFill>
                  <a:srgbClr val="212121"/>
                </a:solidFill>
                <a:latin typeface="Arial"/>
              </a:rPr>
              <a:t>used by every step except 3</a:t>
            </a:r>
          </a:p>
        </p:txBody>
      </p:sp>
      <p:cxnSp>
        <p:nvCxnSpPr>
          <p:cNvPr id="76" name="Connector 75"/>
          <p:cNvCxnSpPr/>
          <p:nvPr/>
        </p:nvCxnSpPr>
        <p:spPr>
          <a:xfrm>
            <a:off x="1755648"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525012"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294376"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3740"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110728" y="1810512"/>
            <a:ext cx="0" cy="45720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7063740"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5294376"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310896" y="3108960"/>
            <a:ext cx="8522208" cy="219456"/>
          </a:xfrm>
          <a:prstGeom prst="rect">
            <a:avLst/>
          </a:prstGeom>
          <a:noFill/>
        </p:spPr>
        <p:txBody>
          <a:bodyPr wrap="square" lIns="0" rIns="0" tIns="0" bIns="0" anchor="t">
            <a:spAutoFit/>
          </a:bodyPr>
          <a:lstStyle/>
          <a:p>
            <a:pPr algn="l"/>
            <a:r>
              <a:rPr sz="1050" b="1" i="0">
                <a:solidFill>
                  <a:srgbClr val="212121"/>
                </a:solidFill>
                <a:latin typeface="Arial"/>
              </a:rPr>
              <a:t>What's different from rapidgzip (Knespel &amp; Brunst, HPDC '23)</a:t>
            </a:r>
          </a:p>
        </p:txBody>
      </p:sp>
      <p:sp>
        <p:nvSpPr>
          <p:cNvPr id="84" name="Rounded Rectangle 83"/>
          <p:cNvSpPr/>
          <p:nvPr/>
        </p:nvSpPr>
        <p:spPr>
          <a:xfrm>
            <a:off x="3108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M3: the window step</a:t>
            </a:r>
          </a:p>
          <a:p>
            <a:pPr algn="l"/>
            <a:r>
              <a:rPr sz="850" b="0" i="0">
                <a:solidFill>
                  <a:srgbClr val="595959"/>
                </a:solidFill>
                <a:latin typeface="Arial"/>
              </a:rPr>
              <a:t>rapidgzip passes the 32 KB windows along one chunk at a time and says this can't be parallelised.</a:t>
            </a:r>
          </a:p>
          <a:p>
            <a:pPr algn="l"/>
            <a:r>
              <a:rPr sz="850" b="1" i="0">
                <a:solidFill>
                  <a:srgbClr val="4285F4"/>
                </a:solidFill>
                <a:latin typeface="Arial"/>
              </a:rPr>
              <a:t>We combine windows like functions, so a parallel prefix scan works. 2.9-3.9x faster.</a:t>
            </a:r>
          </a:p>
        </p:txBody>
      </p:sp>
      <p:sp>
        <p:nvSpPr>
          <p:cNvPr id="85" name="Rounded Rectangle 84"/>
          <p:cNvSpPr/>
          <p:nvPr/>
        </p:nvSpPr>
        <p:spPr>
          <a:xfrm>
            <a:off x="32064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M1: chunks that expand a lot</a:t>
            </a:r>
          </a:p>
          <a:p>
            <a:pPr algn="l"/>
            <a:r>
              <a:rPr sz="850" b="0" i="0">
                <a:solidFill>
                  <a:srgbClr val="595959"/>
                </a:solidFill>
                <a:latin typeface="Arial"/>
              </a:rPr>
              <a:t>In rapidgzip the rest of an oversized chunk is decoded by a single thread.</a:t>
            </a:r>
          </a:p>
          <a:p>
            <a:pPr algn="l"/>
            <a:r>
              <a:rPr sz="850" b="1" i="0">
                <a:solidFill>
                  <a:srgbClr val="4285F4"/>
                </a:solidFill>
                <a:latin typeface="Arial"/>
              </a:rPr>
              <a:t>We split the rest across free threads. Imbalance went from 5.6 to 1.3.</a:t>
            </a:r>
          </a:p>
        </p:txBody>
      </p:sp>
      <p:sp>
        <p:nvSpPr>
          <p:cNvPr id="86" name="Rounded Rectangle 85"/>
          <p:cNvSpPr/>
          <p:nvPr/>
        </p:nvSpPr>
        <p:spPr>
          <a:xfrm>
            <a:off x="61020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Written from scratch</a:t>
            </a:r>
          </a:p>
          <a:p>
            <a:pPr algn="l"/>
            <a:r>
              <a:rPr sz="850" b="0" i="0">
                <a:solidFill>
                  <a:srgbClr val="595959"/>
                </a:solidFill>
                <a:latin typeface="Arial"/>
              </a:rPr>
              <a:t>Decoder, block finder, thread pool, 3 scans and CRC-32. About 5,300 lines of C++.</a:t>
            </a:r>
          </a:p>
          <a:p>
            <a:pPr algn="l"/>
            <a:r>
              <a:rPr sz="850" b="1" i="0">
                <a:solidFill>
                  <a:srgbClr val="4285F4"/>
                </a:solidFill>
                <a:latin typeface="Arial"/>
              </a:rPr>
              <a:t>44 tests. Output matched zlib in all 1,200 runs.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200"/>
              <a:t>Results and Analysis (1/3): Correctness and Scaling</a:t>
            </a:r>
            <a:endParaRPr/>
          </a:p>
        </p:txBody>
      </p:sp>
      <p:graphicFrame>
        <p:nvGraphicFramePr>
          <p:cNvPr id="73" name="Chart 72"/>
          <p:cNvGraphicFramePr>
            <a:graphicFrameLocks noGrp="1"/>
          </p:cNvGraphicFramePr>
          <p:nvPr/>
        </p:nvGraphicFramePr>
        <p:xfrm>
          <a:off x="310896" y="1024128"/>
          <a:ext cx="4892040" cy="3246120"/>
        </p:xfrm>
        <a:graphic>
          <a:graphicData uri="http://schemas.openxmlformats.org/drawingml/2006/chart">
            <c:chart r:id="rId3"/>
          </a:graphicData>
        </a:graphic>
      </p:graphicFrame>
      <p:sp>
        <p:nvSpPr>
          <p:cNvPr id="74" name="TextBox 7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Apple M4 laptop (4 fast + 6 slower cores). Median of 10 runs. zlib on the logs file reaches 6.04 GB/s, which is off the chart.</a:t>
            </a:r>
          </a:p>
        </p:txBody>
      </p:sp>
      <p:sp>
        <p:nvSpPr>
          <p:cNvPr id="75" name="Rounded Rectangle 74"/>
          <p:cNvSpPr/>
          <p:nvPr/>
        </p:nvSpPr>
        <p:spPr>
          <a:xfrm>
            <a:off x="5394960" y="1051560"/>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1,200 / 1,200</a:t>
            </a:r>
          </a:p>
          <a:p>
            <a:pPr algn="ctr"/>
            <a:r>
              <a:rPr sz="850" b="0" i="0">
                <a:solidFill>
                  <a:srgbClr val="595959"/>
                </a:solidFill>
                <a:latin typeface="Arial"/>
              </a:rPr>
              <a:t>runs matched zlib byte for byte</a:t>
            </a:r>
          </a:p>
        </p:txBody>
      </p:sp>
      <p:sp>
        <p:nvSpPr>
          <p:cNvPr id="76" name="Rounded Rectangle 75"/>
          <p:cNvSpPr/>
          <p:nvPr/>
        </p:nvSpPr>
        <p:spPr>
          <a:xfrm>
            <a:off x="5394960" y="1801367"/>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3.01 GB/s</a:t>
            </a:r>
          </a:p>
          <a:p>
            <a:pPr algn="ctr"/>
            <a:r>
              <a:rPr sz="850" b="0" i="0">
                <a:solidFill>
                  <a:srgbClr val="595959"/>
                </a:solidFill>
                <a:latin typeface="Arial"/>
              </a:rPr>
              <a:t>Silesia x5 with 10 threads (2.5x zlib)</a:t>
            </a:r>
          </a:p>
        </p:txBody>
      </p:sp>
      <p:sp>
        <p:nvSpPr>
          <p:cNvPr id="77" name="Rounded Rectangle 76"/>
          <p:cNvSpPr/>
          <p:nvPr/>
        </p:nvSpPr>
        <p:spPr>
          <a:xfrm>
            <a:off x="5394960" y="2551176"/>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2.1x</a:t>
            </a:r>
          </a:p>
          <a:p>
            <a:pPr algn="ctr"/>
            <a:r>
              <a:rPr sz="850" b="0" i="0">
                <a:solidFill>
                  <a:srgbClr val="595959"/>
                </a:solidFill>
                <a:latin typeface="Arial"/>
              </a:rPr>
              <a:t>faster than zlib on Silesia, the base paper's benchmark</a:t>
            </a:r>
          </a:p>
        </p:txBody>
      </p:sp>
      <p:sp>
        <p:nvSpPr>
          <p:cNvPr id="78" name="TextBox 77"/>
          <p:cNvSpPr txBox="1"/>
          <p:nvPr/>
        </p:nvSpPr>
        <p:spPr>
          <a:xfrm>
            <a:off x="5394960" y="3355848"/>
            <a:ext cx="3438144" cy="1463040"/>
          </a:xfrm>
          <a:prstGeom prst="rect">
            <a:avLst/>
          </a:prstGeom>
          <a:noFill/>
        </p:spPr>
        <p:txBody>
          <a:bodyPr wrap="square" lIns="0" rIns="0" tIns="0" bIns="0">
            <a:spAutoFit/>
          </a:bodyPr>
          <a:lstStyle/>
          <a:p>
            <a:pPr marL="164592" indent="-164592">
              <a:lnSpc>
                <a:spcPct val="108000"/>
              </a:lnSpc>
              <a:spcAft>
                <a:spcPts val="400"/>
              </a:spcAft>
              <a:buClr>
                <a:srgbClr val="4285F4"/>
              </a:buClr>
              <a:buFont typeface="Arial"/>
              <a:buChar char="•"/>
            </a:pPr>
            <a:r>
              <a:rPr sz="900" b="0" i="0">
                <a:solidFill>
                  <a:srgbClr val="595959"/>
                </a:solidFill>
                <a:latin typeface="Arial"/>
              </a:rPr>
              <a:t>Efficiency is only about 0.3 at 10 threads. Six of the cores are the slower efficiency cores, and filling in markers is an extra pass.</a:t>
            </a:r>
          </a:p>
          <a:p>
            <a:pPr marL="164592" indent="-164592">
              <a:lnSpc>
                <a:spcPct val="108000"/>
              </a:lnSpc>
              <a:spcAft>
                <a:spcPts val="400"/>
              </a:spcAft>
              <a:buClr>
                <a:srgbClr val="4285F4"/>
              </a:buClr>
              <a:buFont typeface="Arial"/>
              <a:buChar char="•"/>
            </a:pPr>
            <a:r>
              <a:rPr sz="900" b="0" i="0">
                <a:solidFill>
                  <a:srgbClr val="595959"/>
                </a:solidFill>
                <a:latin typeface="Arial"/>
              </a:rPr>
              <a:t>On the logs file zlib is faster: 94% of that output is markers.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h4201240a44ad152a_0_1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What We Have Achieved</a:t>
            </a:r>
            <a:endParaRPr/>
          </a:p>
        </p:txBody>
      </p:sp>
      <p:sp>
        <p:nvSpPr>
          <p:cNvPr id="79" name="TextBox 78"/>
          <p:cNvSpPr txBox="1"/>
          <p:nvPr/>
        </p:nvSpPr>
        <p:spPr>
          <a:xfrm>
            <a:off x="310896" y="1115568"/>
            <a:ext cx="4114800" cy="219456"/>
          </a:xfrm>
          <a:prstGeom prst="rect">
            <a:avLst/>
          </a:prstGeom>
          <a:noFill/>
        </p:spPr>
        <p:txBody>
          <a:bodyPr wrap="square" lIns="0" rIns="0" tIns="0" bIns="0" anchor="t">
            <a:spAutoFit/>
          </a:bodyPr>
          <a:lstStyle/>
          <a:p>
            <a:pPr algn="l"/>
            <a:r>
              <a:rPr sz="1050" b="1" i="0">
                <a:solidFill>
                  <a:srgbClr val="4285F4"/>
                </a:solidFill>
                <a:latin typeface="Arial"/>
              </a:rPr>
              <a:t>What we built</a:t>
            </a:r>
          </a:p>
        </p:txBody>
      </p:sp>
      <p:sp>
        <p:nvSpPr>
          <p:cNvPr id="80" name="TextBox 79"/>
          <p:cNvSpPr txBox="1"/>
          <p:nvPr/>
        </p:nvSpPr>
        <p:spPr>
          <a:xfrm>
            <a:off x="310896" y="1389888"/>
            <a:ext cx="4114800" cy="3383280"/>
          </a:xfrm>
          <a:prstGeom prst="rect">
            <a:avLst/>
          </a:prstGeom>
          <a:noFill/>
        </p:spPr>
        <p:txBody>
          <a:bodyPr wrap="square" lIns="0" rIns="0" tIns="0" bIns="0">
            <a:spAutoFit/>
          </a:bodyPr>
          <a:lstStyle/>
          <a:p>
            <a:pPr marL="164592" indent="-164592">
              <a:lnSpc>
                <a:spcPct val="108000"/>
              </a:lnSpc>
              <a:spcAft>
                <a:spcPts val="500"/>
              </a:spcAft>
              <a:buClr>
                <a:srgbClr val="4285F4"/>
              </a:buClr>
              <a:buFont typeface="Arial"/>
              <a:buChar char="•"/>
            </a:pPr>
            <a:r>
              <a:rPr sz="950" b="0" i="0">
                <a:solidFill>
                  <a:srgbClr val="595959"/>
                </a:solidFill>
                <a:latin typeface="Arial"/>
              </a:rPr>
              <a:t>A parallel gzip decoder written from scratch in C++: Huffman decoding, inflate, block finder, thread pool, three prefix scans and parallel CRC-32.</a:t>
            </a:r>
          </a:p>
          <a:p>
            <a:pPr marL="164592" indent="-164592">
              <a:lnSpc>
                <a:spcPct val="108000"/>
              </a:lnSpc>
              <a:spcAft>
                <a:spcPts val="500"/>
              </a:spcAft>
              <a:buClr>
                <a:srgbClr val="4285F4"/>
              </a:buClr>
              <a:buFont typeface="Arial"/>
              <a:buChar char="•"/>
            </a:pPr>
            <a:r>
              <a:rPr sz="950" b="0" i="0">
                <a:solidFill>
                  <a:srgbClr val="595959"/>
                </a:solidFill>
                <a:latin typeface="Arial"/>
              </a:rPr>
              <a:t>M3 and M1 implemented and measured on 5 datasets (1,200 timed runs).</a:t>
            </a:r>
          </a:p>
          <a:p>
            <a:pPr marL="164592" indent="-164592">
              <a:lnSpc>
                <a:spcPct val="108000"/>
              </a:lnSpc>
              <a:spcAft>
                <a:spcPts val="500"/>
              </a:spcAft>
              <a:buClr>
                <a:srgbClr val="4285F4"/>
              </a:buClr>
              <a:buFont typeface="Arial"/>
              <a:buChar char="•"/>
            </a:pPr>
            <a:r>
              <a:rPr sz="950" b="1" i="0">
                <a:solidFill>
                  <a:srgbClr val="212121"/>
                </a:solidFill>
                <a:latin typeface="Arial"/>
              </a:rPr>
              <a:t>Bugs that took the longest: </a:t>
            </a:r>
            <a:r>
              <a:rPr sz="950" b="0" i="0">
                <a:solidFill>
                  <a:srgbClr val="595959"/>
                </a:solidFill>
                <a:latin typeface="Arial"/>
              </a:rPr>
              <a:t>a race in our task groups (failed 1 run in 8), an infinite loop on truncated files, a block search that crawled through uncompressed data, and memory use of 7x the output (now under 3x).</a:t>
            </a:r>
          </a:p>
          <a:p>
            <a:pPr marL="164592" indent="-164592">
              <a:lnSpc>
                <a:spcPct val="108000"/>
              </a:lnSpc>
              <a:spcAft>
                <a:spcPts val="500"/>
              </a:spcAft>
              <a:buClr>
                <a:srgbClr val="4285F4"/>
              </a:buClr>
              <a:buFont typeface="Arial"/>
              <a:buChar char="•"/>
            </a:pPr>
            <a:r>
              <a:rPr sz="950" b="0" i="0">
                <a:solidFill>
                  <a:srgbClr val="595959"/>
                </a:solidFill>
                <a:latin typeface="Arial"/>
              </a:rPr>
              <a:t>Tested against rapidgzip itself: same speed at 10 threads, faster with 1-2 threads.</a:t>
            </a:r>
          </a:p>
          <a:p>
            <a:pPr marL="164592" indent="-164592">
              <a:lnSpc>
                <a:spcPct val="108000"/>
              </a:lnSpc>
              <a:spcAft>
                <a:spcPts val="500"/>
              </a:spcAft>
              <a:buClr>
                <a:srgbClr val="4285F4"/>
              </a:buClr>
              <a:buFont typeface="Arial"/>
              <a:buChar char="•"/>
            </a:pPr>
            <a:r>
              <a:rPr sz="950" b="0" i="0">
                <a:solidFill>
                  <a:srgbClr val="595959"/>
                </a:solidFill>
                <a:latin typeface="Arial"/>
              </a:rPr>
              <a:t>44 tests, clean under AddressSanitizer, UBSan and ThreadSanitizer.</a:t>
            </a:r>
          </a:p>
        </p:txBody>
      </p:sp>
      <p:sp>
        <p:nvSpPr>
          <p:cNvPr id="81" name="TextBox 80"/>
          <p:cNvSpPr txBox="1"/>
          <p:nvPr/>
        </p:nvSpPr>
        <p:spPr>
          <a:xfrm>
            <a:off x="4626864" y="1115568"/>
            <a:ext cx="4206240" cy="219456"/>
          </a:xfrm>
          <a:prstGeom prst="rect">
            <a:avLst/>
          </a:prstGeom>
          <a:noFill/>
        </p:spPr>
        <p:txBody>
          <a:bodyPr wrap="square" lIns="0" rIns="0" tIns="0" bIns="0" anchor="t">
            <a:spAutoFit/>
          </a:bodyPr>
          <a:lstStyle/>
          <a:p>
            <a:pPr algn="l"/>
            <a:r>
              <a:rPr sz="1050" b="1" i="0">
                <a:solidFill>
                  <a:srgbClr val="4285F4"/>
                </a:solidFill>
                <a:latin typeface="Arial"/>
              </a:rPr>
              <a:t>Use case and deployment</a:t>
            </a:r>
          </a:p>
        </p:txBody>
      </p:sp>
      <p:sp>
        <p:nvSpPr>
          <p:cNvPr id="82" name="TextBox 81"/>
          <p:cNvSpPr txBox="1"/>
          <p:nvPr/>
        </p:nvSpPr>
        <p:spPr>
          <a:xfrm>
            <a:off x="4626864" y="1389888"/>
            <a:ext cx="4206240" cy="146304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0" i="0">
                <a:solidFill>
                  <a:srgbClr val="595959"/>
                </a:solidFill>
                <a:latin typeface="Arial"/>
              </a:rPr>
              <a:t>A command-line tool (riptide) and a C++ library. You can use it instead of gzip -d on files you already have.</a:t>
            </a:r>
          </a:p>
          <a:p>
            <a:pPr marL="164592" indent="-164592">
              <a:lnSpc>
                <a:spcPct val="108000"/>
              </a:lnSpc>
              <a:spcAft>
                <a:spcPts val="700"/>
              </a:spcAft>
              <a:buClr>
                <a:srgbClr val="4285F4"/>
              </a:buClr>
              <a:buFont typeface="Arial"/>
              <a:buChar char="•"/>
            </a:pPr>
            <a:r>
              <a:rPr sz="1000" b="0" i="0">
                <a:solidFill>
                  <a:srgbClr val="595959"/>
                </a:solidFill>
                <a:latin typeface="Arial"/>
              </a:rPr>
              <a:t>Useful for large reads, logs and archives on multi-core machines, with no re-compressing.</a:t>
            </a:r>
          </a:p>
          <a:p>
            <a:pPr marL="164592" indent="-164592">
              <a:lnSpc>
                <a:spcPct val="108000"/>
              </a:lnSpc>
              <a:spcAft>
                <a:spcPts val="700"/>
              </a:spcAft>
              <a:buClr>
                <a:srgbClr val="4285F4"/>
              </a:buClr>
              <a:buFont typeface="Arial"/>
              <a:buChar char="•"/>
            </a:pPr>
            <a:r>
              <a:rPr sz="1000" b="0" i="0">
                <a:solidFill>
                  <a:srgbClr val="595959"/>
                </a:solidFill>
                <a:latin typeface="Arial"/>
              </a:rPr>
              <a:t>All results can be reproduced with the scripts in bench/.</a:t>
            </a:r>
          </a:p>
        </p:txBody>
      </p:sp>
      <p:sp>
        <p:nvSpPr>
          <p:cNvPr id="83" name="Rounded Rectangle 82"/>
          <p:cNvSpPr/>
          <p:nvPr/>
        </p:nvSpPr>
        <p:spPr>
          <a:xfrm>
            <a:off x="4626864" y="3246120"/>
            <a:ext cx="4206240" cy="9601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950" b="1" i="0">
                <a:solidFill>
                  <a:srgbClr val="212121"/>
                </a:solidFill>
                <a:latin typeface="Arial"/>
              </a:rPr>
              <a:t>Who benefits</a:t>
            </a:r>
          </a:p>
          <a:p>
            <a:pPr algn="l"/>
            <a:r>
              <a:rPr sz="900" b="0" i="0">
                <a:solidFill>
                  <a:srgbClr val="595959"/>
                </a:solidFill>
                <a:latin typeface="Arial"/>
              </a:rPr>
              <a:t>Up to 2.5x faster than zlib on a 10-core laptop (1.2-2.5x depending on the file; only the very compressible logs are slower). The output is exactly what zlib gives.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h4201240a44ad152a_0_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Conclusion</a:t>
            </a:r>
            <a:endParaRPr/>
          </a:p>
        </p:txBody>
      </p:sp>
      <p:sp>
        <p:nvSpPr>
          <p:cNvPr id="85" name="TextBox 84"/>
          <p:cNvSpPr txBox="1"/>
          <p:nvPr/>
        </p:nvSpPr>
        <p:spPr>
          <a:xfrm>
            <a:off x="310896" y="1143000"/>
            <a:ext cx="4754880" cy="3657600"/>
          </a:xfrm>
          <a:prstGeom prst="rect">
            <a:avLst/>
          </a:prstGeom>
          <a:noFill/>
        </p:spPr>
        <p:txBody>
          <a:bodyPr wrap="square" lIns="0" rIns="0" tIns="0" bIns="0">
            <a:spAutoFit/>
          </a:bodyPr>
          <a:lstStyle/>
          <a:p>
            <a:pPr marL="164592" indent="-164592">
              <a:lnSpc>
                <a:spcPct val="108000"/>
              </a:lnSpc>
              <a:spcAft>
                <a:spcPts val="800"/>
              </a:spcAft>
              <a:buClr>
                <a:srgbClr val="4285F4"/>
              </a:buClr>
              <a:buFont typeface="Arial"/>
              <a:buChar char="•"/>
            </a:pPr>
            <a:r>
              <a:rPr sz="1050" b="0" i="0">
                <a:solidFill>
                  <a:srgbClr val="595959"/>
                </a:solidFill>
                <a:latin typeface="Arial"/>
              </a:rPr>
              <a:t>The window chain isn't inherently serial. Windows combine associatively, so a prefix scan works.</a:t>
            </a:r>
          </a:p>
          <a:p>
            <a:pPr marL="164592" indent="-164592">
              <a:lnSpc>
                <a:spcPct val="108000"/>
              </a:lnSpc>
              <a:spcAft>
                <a:spcPts val="800"/>
              </a:spcAft>
              <a:buClr>
                <a:srgbClr val="4285F4"/>
              </a:buClr>
              <a:buFont typeface="Arial"/>
              <a:buChar char="•"/>
            </a:pPr>
            <a:r>
              <a:rPr sz="1050" b="0" i="0">
                <a:solidFill>
                  <a:srgbClr val="595959"/>
                </a:solidFill>
                <a:latin typeface="Arial"/>
              </a:rPr>
              <a:t>The scan makes that step 2.9-3.9x faster, which matters when chunks are small.</a:t>
            </a:r>
          </a:p>
          <a:p>
            <a:pPr marL="164592" indent="-164592">
              <a:lnSpc>
                <a:spcPct val="108000"/>
              </a:lnSpc>
              <a:spcAft>
                <a:spcPts val="800"/>
              </a:spcAft>
              <a:buClr>
                <a:srgbClr val="4285F4"/>
              </a:buClr>
              <a:buFont typeface="Arial"/>
              <a:buChar char="•"/>
            </a:pPr>
            <a:r>
              <a:rPr sz="1050" b="0" i="0">
                <a:solidFill>
                  <a:srgbClr val="595959"/>
                </a:solidFill>
                <a:latin typeface="Arial"/>
              </a:rPr>
              <a:t>Splitting big chunks gives 1.59x when there are only a few chunks per thread.</a:t>
            </a:r>
          </a:p>
          <a:p>
            <a:pPr marL="164592" indent="-164592">
              <a:lnSpc>
                <a:spcPct val="108000"/>
              </a:lnSpc>
              <a:spcAft>
                <a:spcPts val="800"/>
              </a:spcAft>
              <a:buClr>
                <a:srgbClr val="4285F4"/>
              </a:buClr>
              <a:buFont typeface="Arial"/>
              <a:buChar char="•"/>
            </a:pPr>
            <a:r>
              <a:rPr sz="1050" b="0" i="0">
                <a:solidFill>
                  <a:srgbClr val="595959"/>
                </a:solidFill>
                <a:latin typeface="Arial"/>
              </a:rPr>
              <a:t>Compared with rapidgzip we're level at 10 threads, but it still uses less memory and handles small chunks better.</a:t>
            </a:r>
          </a:p>
          <a:p>
            <a:pPr marL="164592" indent="-164592">
              <a:lnSpc>
                <a:spcPct val="108000"/>
              </a:lnSpc>
              <a:spcAft>
                <a:spcPts val="800"/>
              </a:spcAft>
              <a:buClr>
                <a:srgbClr val="4285F4"/>
              </a:buClr>
              <a:buFont typeface="Arial"/>
              <a:buChar char="•"/>
            </a:pPr>
            <a:r>
              <a:rPr sz="1050" b="1" i="0">
                <a:solidFill>
                  <a:srgbClr val="212121"/>
                </a:solidFill>
                <a:latin typeface="Arial"/>
              </a:rPr>
              <a:t>Next: </a:t>
            </a:r>
            <a:r>
              <a:rPr sz="1050" b="0" i="0">
                <a:solidFill>
                  <a:srgbClr val="595959"/>
                </a:solidFill>
                <a:latin typeface="Arial"/>
              </a:rPr>
              <a:t>stream the output to cut memory, lower our per-chunk overhead, try M3 inside rapidgzip on 64-128 cores, and maybe marker spans (M2) or a GPU version.</a:t>
            </a:r>
          </a:p>
        </p:txBody>
      </p:sp>
      <p:sp>
        <p:nvSpPr>
          <p:cNvPr id="86" name="TextBox 85"/>
          <p:cNvSpPr txBox="1"/>
          <p:nvPr/>
        </p:nvSpPr>
        <p:spPr>
          <a:xfrm>
            <a:off x="5440680" y="1143000"/>
            <a:ext cx="3392424" cy="219456"/>
          </a:xfrm>
          <a:prstGeom prst="rect">
            <a:avLst/>
          </a:prstGeom>
          <a:noFill/>
        </p:spPr>
        <p:txBody>
          <a:bodyPr wrap="square" lIns="0" rIns="0" tIns="0" bIns="0" anchor="t">
            <a:spAutoFit/>
          </a:bodyPr>
          <a:lstStyle/>
          <a:p>
            <a:pPr algn="l"/>
            <a:r>
              <a:rPr sz="1050" b="1" i="0">
                <a:solidFill>
                  <a:srgbClr val="4285F4"/>
                </a:solidFill>
                <a:latin typeface="Arial"/>
              </a:rPr>
              <a:t>Status</a:t>
            </a:r>
          </a:p>
        </p:txBody>
      </p:sp>
      <p:sp>
        <p:nvSpPr>
          <p:cNvPr id="87" name="Rounded Rectangle 86"/>
          <p:cNvSpPr/>
          <p:nvPr/>
        </p:nvSpPr>
        <p:spPr>
          <a:xfrm>
            <a:off x="5440680" y="1463040"/>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Decoder written from scratch</a:t>
            </a:r>
          </a:p>
        </p:txBody>
      </p:sp>
      <p:sp>
        <p:nvSpPr>
          <p:cNvPr id="88" name="Rounded Rectangle 87"/>
          <p:cNvSpPr/>
          <p:nvPr/>
        </p:nvSpPr>
        <p:spPr>
          <a:xfrm>
            <a:off x="5440680" y="2084832"/>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M3 with 3 scan versions</a:t>
            </a:r>
          </a:p>
        </p:txBody>
      </p:sp>
      <p:sp>
        <p:nvSpPr>
          <p:cNvPr id="89" name="Rounded Rectangle 88"/>
          <p:cNvSpPr/>
          <p:nvPr/>
        </p:nvSpPr>
        <p:spPr>
          <a:xfrm>
            <a:off x="5440680" y="2706624"/>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M1: splitting big chunks</a:t>
            </a:r>
          </a:p>
        </p:txBody>
      </p:sp>
      <p:sp>
        <p:nvSpPr>
          <p:cNvPr id="90" name="Rounded Rectangle 89"/>
          <p:cNvSpPr/>
          <p:nvPr/>
        </p:nvSpPr>
        <p:spPr>
          <a:xfrm>
            <a:off x="5440680" y="3328416"/>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Benchmarks + rapidgzip comparison</a:t>
            </a:r>
          </a:p>
        </p:txBody>
      </p:sp>
      <p:sp>
        <p:nvSpPr>
          <p:cNvPr id="91" name="Rounded Rectangle 90"/>
          <p:cNvSpPr/>
          <p:nvPr/>
        </p:nvSpPr>
        <p:spPr>
          <a:xfrm>
            <a:off x="5440680" y="3950208"/>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Streaming output, M3 in rapidgzip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(2/3): Parallel Window Resolution (M3)</a:t>
            </a:r>
          </a:p>
        </p:txBody>
      </p:sp>
      <p:graphicFrame>
        <p:nvGraphicFramePr>
          <p:cNvPr id="3" name="Chart 2"/>
          <p:cNvGraphicFramePr>
            <a:graphicFrameLocks noGrp="1"/>
          </p:cNvGraphicFramePr>
          <p:nvPr/>
        </p:nvGraphicFramePr>
        <p:xfrm>
          <a:off x="310896" y="1024128"/>
          <a:ext cx="4892040" cy="3246120"/>
        </p:xfrm>
        <a:graphic>
          <a:graphicData uri="http://schemas.openxmlformats.org/drawingml/2006/chart">
            <c:chart xmlns:c="http://schemas.openxmlformats.org/drawingml/2006/chart" r:id="rId2"/>
          </a:graphicData>
        </a:graphic>
      </p:graphicFrame>
      <p:sp>
        <p:nvSpPr>
          <p:cNvPr id="4" name="TextBox 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Number of chunks in brackets. The Hillis-Steele and Blelloch scans land in between (table in the report).</a:t>
            </a:r>
          </a:p>
        </p:txBody>
      </p:sp>
      <p:sp>
        <p:nvSpPr>
          <p:cNvPr id="5" name="TextBox 4"/>
          <p:cNvSpPr txBox="1"/>
          <p:nvPr/>
        </p:nvSpPr>
        <p:spPr>
          <a:xfrm>
            <a:off x="5394960" y="1097280"/>
            <a:ext cx="3438144" cy="3749039"/>
          </a:xfrm>
          <a:prstGeom prst="rect">
            <a:avLst/>
          </a:prstGeom>
          <a:noFill/>
        </p:spPr>
        <p:txBody>
          <a:bodyPr wrap="square" lIns="0" rIns="0" tIns="0" bIns="0">
            <a:spAutoFit/>
          </a:bodyPr>
          <a:lstStyle/>
          <a:p>
            <a:pPr marL="164592" indent="-164592">
              <a:lnSpc>
                <a:spcPct val="108000"/>
              </a:lnSpc>
              <a:spcAft>
                <a:spcPts val="500"/>
              </a:spcAft>
              <a:buClr>
                <a:srgbClr val="4285F4"/>
              </a:buClr>
              <a:buFont typeface="Arial"/>
              <a:buChar char="•"/>
            </a:pPr>
            <a:r>
              <a:rPr sz="950" b="0" i="0">
                <a:solidFill>
                  <a:srgbClr val="595959"/>
                </a:solidFill>
                <a:latin typeface="Arial"/>
              </a:rPr>
              <a:t>The scan is 2.9-3.9x faster than the one-by-one chain at every chunk size (p &lt; 0.001).</a:t>
            </a:r>
          </a:p>
          <a:p>
            <a:pPr marL="164592" indent="-164592">
              <a:lnSpc>
                <a:spcPct val="108000"/>
              </a:lnSpc>
              <a:spcAft>
                <a:spcPts val="500"/>
              </a:spcAft>
              <a:buClr>
                <a:srgbClr val="4285F4"/>
              </a:buClr>
              <a:buFont typeface="Arial"/>
              <a:buChar char="•"/>
            </a:pPr>
            <a:r>
              <a:rPr sz="950" b="0" i="0">
                <a:solidFill>
                  <a:srgbClr val="595959"/>
                </a:solidFill>
                <a:latin typeface="Arial"/>
              </a:rPr>
              <a:t>With 64 KiB chunks the chain was about 20% of the run, so the whole decompression got 1.14x (Silesia x5) and 1.21x (Silesia) faster.</a:t>
            </a:r>
          </a:p>
          <a:p>
            <a:pPr marL="164592" indent="-164592">
              <a:lnSpc>
                <a:spcPct val="108000"/>
              </a:lnSpc>
              <a:spcAft>
                <a:spcPts val="500"/>
              </a:spcAft>
              <a:buClr>
                <a:srgbClr val="4285F4"/>
              </a:buClr>
              <a:buFont typeface="Arial"/>
              <a:buChar char="•"/>
            </a:pPr>
            <a:r>
              <a:rPr sz="950" b="0" i="0">
                <a:solidFill>
                  <a:srgbClr val="595959"/>
                </a:solidFill>
                <a:latin typeface="Arial"/>
              </a:rPr>
              <a:t>More threads help the scan (221 ms at 2 threads, 74 ms at 10). The chain stays at 180-260 ms.</a:t>
            </a:r>
          </a:p>
          <a:p>
            <a:pPr marL="164592" indent="-164592">
              <a:lnSpc>
                <a:spcPct val="108000"/>
              </a:lnSpc>
              <a:spcAft>
                <a:spcPts val="500"/>
              </a:spcAft>
              <a:buClr>
                <a:srgbClr val="4285F4"/>
              </a:buClr>
              <a:buFont typeface="Arial"/>
              <a:buChar char="•"/>
            </a:pPr>
            <a:r>
              <a:rPr sz="950" b="0" i="0">
                <a:solidFill>
                  <a:srgbClr val="595959"/>
                </a:solidFill>
                <a:latin typeface="Arial"/>
              </a:rPr>
              <a:t>Small chunks use 19-35% less memory, which is why this is worth doing.</a:t>
            </a:r>
          </a:p>
          <a:p>
            <a:pPr marL="164592" indent="-164592">
              <a:lnSpc>
                <a:spcPct val="108000"/>
              </a:lnSpc>
              <a:spcAft>
                <a:spcPts val="500"/>
              </a:spcAft>
              <a:buClr>
                <a:srgbClr val="4285F4"/>
              </a:buClr>
              <a:buFont typeface="Arial"/>
              <a:buChar char="•"/>
            </a:pPr>
            <a:r>
              <a:rPr sz="950" b="1" i="0">
                <a:solidFill>
                  <a:srgbClr val="212121"/>
                </a:solidFill>
                <a:latin typeface="Arial"/>
              </a:rPr>
              <a:t>But </a:t>
            </a:r>
            <a:r>
              <a:rPr sz="950" b="0" i="0">
                <a:solidFill>
                  <a:srgbClr val="595959"/>
                </a:solidFill>
                <a:latin typeface="Arial"/>
              </a:rPr>
              <a:t>from 1 MiB up the chain is under 2% of the run, so there's no visible gain. And with 64 KiB chunks rapidgzip is still 1.3x faster than our whole decoder.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(3/3): Load Balance (M1) and State of the Art</a:t>
            </a:r>
          </a:p>
        </p:txBody>
      </p:sp>
      <p:sp>
        <p:nvSpPr>
          <p:cNvPr id="3" name="TextBox 2"/>
          <p:cNvSpPr txBox="1"/>
          <p:nvPr/>
        </p:nvSpPr>
        <p:spPr>
          <a:xfrm>
            <a:off x="310896" y="1051560"/>
            <a:ext cx="4114800" cy="219456"/>
          </a:xfrm>
          <a:prstGeom prst="rect">
            <a:avLst/>
          </a:prstGeom>
          <a:noFill/>
        </p:spPr>
        <p:txBody>
          <a:bodyPr wrap="square" lIns="0" rIns="0" tIns="0" bIns="0" anchor="t">
            <a:spAutoFit/>
          </a:bodyPr>
          <a:lstStyle/>
          <a:p>
            <a:pPr algn="l"/>
            <a:r>
              <a:rPr sz="1000" b="1" i="0">
                <a:solidFill>
                  <a:srgbClr val="4285F4"/>
                </a:solidFill>
                <a:latin typeface="Arial"/>
              </a:rPr>
              <a:t>Splitting big chunks (logs, 16 MiB chunks, 4x budget)</a:t>
            </a:r>
          </a:p>
        </p:txBody>
      </p:sp>
      <p:graphicFrame>
        <p:nvGraphicFramePr>
          <p:cNvPr id="4" name="Table 3"/>
          <p:cNvGraphicFramePr>
            <a:graphicFrameLocks noGrp="1"/>
          </p:cNvGraphicFramePr>
          <p:nvPr/>
        </p:nvGraphicFramePr>
        <p:xfrm>
          <a:off x="310896" y="1307592"/>
          <a:ext cx="4114800" cy="877824"/>
        </p:xfrm>
        <a:graphic>
          <a:graphicData uri="http://schemas.openxmlformats.org/drawingml/2006/table">
            <a:tbl>
              <a:tblPr firstRow="1"/>
              <a:tblGrid>
                <a:gridCol w="1280160"/>
                <a:gridCol w="914400"/>
                <a:gridCol w="914400"/>
                <a:gridCol w="1005840"/>
              </a:tblGrid>
              <a:tr h="292608">
                <a:tc>
                  <a:txBody>
                    <a:bodyPr wrap="square"/>
                    <a:lstStyle/>
                    <a:p>
                      <a:pPr algn="l"/>
                      <a:r>
                        <a:rPr sz="900" b="1" i="0">
                          <a:solidFill>
                            <a:srgbClr val="FFFFFF"/>
                          </a:solidFill>
                          <a:latin typeface="Arial"/>
                        </a:rPr>
                        <a:t>Policy</a:t>
                      </a:r>
                    </a:p>
                  </a:txBody>
                  <a:tcPr marL="54864" marR="54864" marT="18288" marB="18288" anchor="ctr">
                    <a:solidFill>
                      <a:srgbClr val="4285F4"/>
                    </a:solidFill>
                  </a:tcPr>
                </a:tc>
                <a:tc>
                  <a:txBody>
                    <a:bodyPr wrap="square"/>
                    <a:lstStyle/>
                    <a:p>
                      <a:pPr algn="r"/>
                      <a:r>
                        <a:rPr sz="900" b="1" i="0">
                          <a:solidFill>
                            <a:srgbClr val="FFFFFF"/>
                          </a:solidFill>
                          <a:latin typeface="Arial"/>
                        </a:rPr>
                        <a:t>Time (ms)</a:t>
                      </a:r>
                    </a:p>
                  </a:txBody>
                  <a:tcPr marL="54864" marR="54864" marT="18288" marB="18288" anchor="ctr">
                    <a:solidFill>
                      <a:srgbClr val="4285F4"/>
                    </a:solidFill>
                  </a:tcPr>
                </a:tc>
                <a:tc>
                  <a:txBody>
                    <a:bodyPr wrap="square"/>
                    <a:lstStyle/>
                    <a:p>
                      <a:pPr algn="r"/>
                      <a:r>
                        <a:rPr sz="900" b="1" i="0">
                          <a:solidFill>
                            <a:srgbClr val="FFFFFF"/>
                          </a:solidFill>
                          <a:latin typeface="Arial"/>
                        </a:rPr>
                        <a:t>Imbalance λ</a:t>
                      </a:r>
                    </a:p>
                  </a:txBody>
                  <a:tcPr marL="54864" marR="54864" marT="18288" marB="18288" anchor="ctr">
                    <a:solidFill>
                      <a:srgbClr val="4285F4"/>
                    </a:solidFill>
                  </a:tcPr>
                </a:tc>
                <a:tc>
                  <a:txBody>
                    <a:bodyPr wrap="square"/>
                    <a:lstStyle/>
                    <a:p>
                      <a:pPr algn="r"/>
                      <a:r>
                        <a:rPr sz="900" b="1" i="0">
                          <a:solidFill>
                            <a:srgbClr val="FFFFFF"/>
                          </a:solidFill>
                          <a:latin typeface="Arial"/>
                        </a:rPr>
                        <a:t>Speedup</a:t>
                      </a:r>
                    </a:p>
                  </a:txBody>
                  <a:tcPr marL="54864" marR="54864" marT="18288" marB="18288" anchor="ctr">
                    <a:solidFill>
                      <a:srgbClr val="4285F4"/>
                    </a:solidFill>
                  </a:tcPr>
                </a:tc>
              </a:tr>
              <a:tr h="292608">
                <a:tc>
                  <a:txBody>
                    <a:bodyPr wrap="square"/>
                    <a:lstStyle/>
                    <a:p>
                      <a:pPr algn="l"/>
                      <a:r>
                        <a:rPr sz="900" b="0" i="0">
                          <a:solidFill>
                            <a:srgbClr val="595959"/>
                          </a:solidFill>
                          <a:latin typeface="Arial"/>
                        </a:rPr>
                        <a:t>One thread (rapidgzip)</a:t>
                      </a:r>
                    </a:p>
                  </a:txBody>
                  <a:tcPr marL="54864" marR="54864" marT="18288" marB="18288" anchor="ctr">
                    <a:solidFill>
                      <a:srgbClr val="FFFFFF"/>
                    </a:solidFill>
                  </a:tcPr>
                </a:tc>
                <a:tc>
                  <a:txBody>
                    <a:bodyPr wrap="square"/>
                    <a:lstStyle/>
                    <a:p>
                      <a:pPr algn="r"/>
                      <a:r>
                        <a:rPr sz="900" b="0" i="0">
                          <a:solidFill>
                            <a:srgbClr val="595959"/>
                          </a:solidFill>
                          <a:latin typeface="Arial"/>
                        </a:rPr>
                        <a:t>407</a:t>
                      </a:r>
                    </a:p>
                  </a:txBody>
                  <a:tcPr marL="54864" marR="54864" marT="18288" marB="18288" anchor="ctr">
                    <a:solidFill>
                      <a:srgbClr val="FFFFFF"/>
                    </a:solidFill>
                  </a:tcPr>
                </a:tc>
                <a:tc>
                  <a:txBody>
                    <a:bodyPr wrap="square"/>
                    <a:lstStyle/>
                    <a:p>
                      <a:pPr algn="r"/>
                      <a:r>
                        <a:rPr sz="900" b="0" i="0">
                          <a:solidFill>
                            <a:srgbClr val="595959"/>
                          </a:solidFill>
                          <a:latin typeface="Arial"/>
                        </a:rPr>
                        <a:t>5.58</a:t>
                      </a:r>
                    </a:p>
                  </a:txBody>
                  <a:tcPr marL="54864" marR="54864" marT="18288" marB="18288" anchor="ctr">
                    <a:solidFill>
                      <a:srgbClr val="FFFFFF"/>
                    </a:solidFill>
                  </a:tcPr>
                </a:tc>
                <a:tc>
                  <a:txBody>
                    <a:bodyPr wrap="square"/>
                    <a:lstStyle/>
                    <a:p>
                      <a:pPr algn="r"/>
                      <a:r>
                        <a:rPr sz="900" b="0" i="0">
                          <a:solidFill>
                            <a:srgbClr val="595959"/>
                          </a:solidFill>
                          <a:latin typeface="Arial"/>
                        </a:rPr>
                        <a:t>1.00</a:t>
                      </a:r>
                    </a:p>
                  </a:txBody>
                  <a:tcPr marL="54864" marR="54864" marT="18288" marB="18288" anchor="ctr">
                    <a:solidFill>
                      <a:srgbClr val="FFFFFF"/>
                    </a:solidFill>
                  </a:tcPr>
                </a:tc>
              </a:tr>
              <a:tr h="292608">
                <a:tc>
                  <a:txBody>
                    <a:bodyPr wrap="square"/>
                    <a:lstStyle/>
                    <a:p>
                      <a:pPr algn="l"/>
                      <a:r>
                        <a:rPr sz="900" b="1" i="0">
                          <a:solidFill>
                            <a:srgbClr val="B06000"/>
                          </a:solidFill>
                          <a:latin typeface="Arial"/>
                        </a:rPr>
                        <a:t>Split (ours)</a:t>
                      </a:r>
                    </a:p>
                  </a:txBody>
                  <a:tcPr marL="54864" marR="54864" marT="18288" marB="18288" anchor="ctr">
                    <a:solidFill>
                      <a:srgbClr val="FFF4E5"/>
                    </a:solidFill>
                  </a:tcPr>
                </a:tc>
                <a:tc>
                  <a:txBody>
                    <a:bodyPr wrap="square"/>
                    <a:lstStyle/>
                    <a:p>
                      <a:pPr algn="r"/>
                      <a:r>
                        <a:rPr sz="900" b="1" i="0">
                          <a:solidFill>
                            <a:srgbClr val="B06000"/>
                          </a:solidFill>
                          <a:latin typeface="Arial"/>
                        </a:rPr>
                        <a:t>256</a:t>
                      </a:r>
                    </a:p>
                  </a:txBody>
                  <a:tcPr marL="54864" marR="54864" marT="18288" marB="18288" anchor="ctr">
                    <a:solidFill>
                      <a:srgbClr val="FFF4E5"/>
                    </a:solidFill>
                  </a:tcPr>
                </a:tc>
                <a:tc>
                  <a:txBody>
                    <a:bodyPr wrap="square"/>
                    <a:lstStyle/>
                    <a:p>
                      <a:pPr algn="r"/>
                      <a:r>
                        <a:rPr sz="900" b="1" i="0">
                          <a:solidFill>
                            <a:srgbClr val="B06000"/>
                          </a:solidFill>
                          <a:latin typeface="Arial"/>
                        </a:rPr>
                        <a:t>1.29</a:t>
                      </a:r>
                    </a:p>
                  </a:txBody>
                  <a:tcPr marL="54864" marR="54864" marT="18288" marB="18288" anchor="ctr">
                    <a:solidFill>
                      <a:srgbClr val="FFF4E5"/>
                    </a:solidFill>
                  </a:tcPr>
                </a:tc>
                <a:tc>
                  <a:txBody>
                    <a:bodyPr wrap="square"/>
                    <a:lstStyle/>
                    <a:p>
                      <a:pPr algn="r"/>
                      <a:r>
                        <a:rPr sz="900" b="1" i="0">
                          <a:solidFill>
                            <a:srgbClr val="B06000"/>
                          </a:solidFill>
                          <a:latin typeface="Arial"/>
                        </a:rPr>
                        <a:t>1.59x</a:t>
                      </a:r>
                    </a:p>
                  </a:txBody>
                  <a:tcPr marL="54864" marR="54864" marT="18288" marB="18288" anchor="ctr">
                    <a:solidFill>
                      <a:srgbClr val="FFF4E5"/>
                    </a:solidFill>
                  </a:tcPr>
                </a:tc>
              </a:tr>
            </a:tbl>
          </a:graphicData>
        </a:graphic>
      </p:graphicFrame>
      <p:sp>
        <p:nvSpPr>
          <p:cNvPr id="5" name="TextBox 4"/>
          <p:cNvSpPr txBox="1"/>
          <p:nvPr/>
        </p:nvSpPr>
        <p:spPr>
          <a:xfrm>
            <a:off x="310896" y="2286000"/>
            <a:ext cx="4114800" cy="1005840"/>
          </a:xfrm>
          <a:prstGeom prst="rect">
            <a:avLst/>
          </a:prstGeom>
          <a:noFill/>
        </p:spPr>
        <p:txBody>
          <a:bodyPr wrap="square" lIns="0" rIns="0" tIns="0" bIns="0">
            <a:spAutoFit/>
          </a:bodyPr>
          <a:lstStyle/>
          <a:p>
            <a:pPr marL="164592" indent="-164592">
              <a:lnSpc>
                <a:spcPct val="108000"/>
              </a:lnSpc>
              <a:spcAft>
                <a:spcPts val="300"/>
              </a:spcAft>
              <a:buClr>
                <a:srgbClr val="4285F4"/>
              </a:buClr>
              <a:buFont typeface="Arial"/>
              <a:buChar char="•"/>
            </a:pPr>
            <a:r>
              <a:rPr sz="900" b="0" i="0">
                <a:solidFill>
                  <a:srgbClr val="595959"/>
                </a:solidFill>
                <a:latin typeface="Arial"/>
              </a:rPr>
              <a:t>This only helps when there are few chunks per thread. With 4 MiB chunks the difference isn't significant.</a:t>
            </a:r>
          </a:p>
          <a:p>
            <a:pPr marL="164592" indent="-164592">
              <a:lnSpc>
                <a:spcPct val="108000"/>
              </a:lnSpc>
              <a:spcAft>
                <a:spcPts val="300"/>
              </a:spcAft>
              <a:buClr>
                <a:srgbClr val="4285F4"/>
              </a:buClr>
              <a:buFont typeface="Arial"/>
              <a:buChar char="•"/>
            </a:pPr>
            <a:r>
              <a:rPr sz="900" b="0" i="0">
                <a:solidFill>
                  <a:srgbClr val="595959"/>
                </a:solidFill>
                <a:latin typeface="Arial"/>
              </a:rPr>
              <a:t>Sizing chunks from the Huffman headers (work-balanced chunking) didn't work out: sampling costs 10-74 ms and decoding isn't faster.</a:t>
            </a:r>
          </a:p>
        </p:txBody>
      </p:sp>
      <p:sp>
        <p:nvSpPr>
          <p:cNvPr id="6" name="TextBox 5"/>
          <p:cNvSpPr txBox="1"/>
          <p:nvPr/>
        </p:nvSpPr>
        <p:spPr>
          <a:xfrm>
            <a:off x="4572000" y="1051560"/>
            <a:ext cx="4261104" cy="219456"/>
          </a:xfrm>
          <a:prstGeom prst="rect">
            <a:avLst/>
          </a:prstGeom>
          <a:noFill/>
        </p:spPr>
        <p:txBody>
          <a:bodyPr wrap="square" lIns="0" rIns="0" tIns="0" bIns="0" anchor="t">
            <a:spAutoFit/>
          </a:bodyPr>
          <a:lstStyle/>
          <a:p>
            <a:pPr algn="l"/>
            <a:r>
              <a:rPr sz="1000" b="1" i="0">
                <a:solidFill>
                  <a:srgbClr val="4285F4"/>
                </a:solidFill>
                <a:latin typeface="Arial"/>
              </a:rPr>
              <a:t>vs rapidgzip 0.16.0 on the same laptop (GB/s)</a:t>
            </a:r>
          </a:p>
        </p:txBody>
      </p:sp>
      <p:graphicFrame>
        <p:nvGraphicFramePr>
          <p:cNvPr id="7" name="Table 6"/>
          <p:cNvGraphicFramePr>
            <a:graphicFrameLocks noGrp="1"/>
          </p:cNvGraphicFramePr>
          <p:nvPr/>
        </p:nvGraphicFramePr>
        <p:xfrm>
          <a:off x="4572000" y="1307592"/>
          <a:ext cx="4261104" cy="1325880"/>
        </p:xfrm>
        <a:graphic>
          <a:graphicData uri="http://schemas.openxmlformats.org/drawingml/2006/table">
            <a:tbl>
              <a:tblPr firstRow="1"/>
              <a:tblGrid>
                <a:gridCol w="969264"/>
                <a:gridCol w="822960"/>
                <a:gridCol w="914400"/>
                <a:gridCol w="749808"/>
                <a:gridCol w="804672"/>
              </a:tblGrid>
              <a:tr h="265176">
                <a:tc>
                  <a:txBody>
                    <a:bodyPr wrap="square"/>
                    <a:lstStyle/>
                    <a:p>
                      <a:pPr algn="l"/>
                      <a:r>
                        <a:rPr sz="850" b="1" i="0">
                          <a:solidFill>
                            <a:srgbClr val="FFFFFF"/>
                          </a:solidFill>
                          <a:latin typeface="Arial"/>
                        </a:rPr>
                        <a:t>File</a:t>
                      </a:r>
                    </a:p>
                  </a:txBody>
                  <a:tcPr marL="54864" marR="54864" marT="18288" marB="18288" anchor="ctr">
                    <a:solidFill>
                      <a:srgbClr val="4285F4"/>
                    </a:solidFill>
                  </a:tcPr>
                </a:tc>
                <a:tc>
                  <a:txBody>
                    <a:bodyPr wrap="square"/>
                    <a:lstStyle/>
                    <a:p>
                      <a:pPr algn="r"/>
                      <a:r>
                        <a:rPr sz="850" b="1" i="0">
                          <a:solidFill>
                            <a:srgbClr val="FFFFFF"/>
                          </a:solidFill>
                          <a:latin typeface="Arial"/>
                        </a:rPr>
                        <a:t>Ours, 10t</a:t>
                      </a:r>
                    </a:p>
                  </a:txBody>
                  <a:tcPr marL="54864" marR="54864" marT="18288" marB="18288" anchor="ctr">
                    <a:solidFill>
                      <a:srgbClr val="4285F4"/>
                    </a:solidFill>
                  </a:tcPr>
                </a:tc>
                <a:tc>
                  <a:txBody>
                    <a:bodyPr wrap="square"/>
                    <a:lstStyle/>
                    <a:p>
                      <a:pPr algn="r"/>
                      <a:r>
                        <a:rPr sz="850" b="1" i="0">
                          <a:solidFill>
                            <a:srgbClr val="FFFFFF"/>
                          </a:solidFill>
                          <a:latin typeface="Arial"/>
                        </a:rPr>
                        <a:t>rapidgzip, 10t</a:t>
                      </a:r>
                    </a:p>
                  </a:txBody>
                  <a:tcPr marL="54864" marR="54864" marT="18288" marB="18288" anchor="ctr">
                    <a:solidFill>
                      <a:srgbClr val="4285F4"/>
                    </a:solidFill>
                  </a:tcPr>
                </a:tc>
                <a:tc>
                  <a:txBody>
                    <a:bodyPr wrap="square"/>
                    <a:lstStyle/>
                    <a:p>
                      <a:pPr algn="r"/>
                      <a:r>
                        <a:rPr sz="850" b="1" i="0">
                          <a:solidFill>
                            <a:srgbClr val="FFFFFF"/>
                          </a:solidFill>
                          <a:latin typeface="Arial"/>
                        </a:rPr>
                        <a:t>Ours, 1t</a:t>
                      </a:r>
                    </a:p>
                  </a:txBody>
                  <a:tcPr marL="54864" marR="54864" marT="18288" marB="18288" anchor="ctr">
                    <a:solidFill>
                      <a:srgbClr val="4285F4"/>
                    </a:solidFill>
                  </a:tcPr>
                </a:tc>
                <a:tc>
                  <a:txBody>
                    <a:bodyPr wrap="square"/>
                    <a:lstStyle/>
                    <a:p>
                      <a:pPr algn="r"/>
                      <a:r>
                        <a:rPr sz="850" b="1" i="0">
                          <a:solidFill>
                            <a:srgbClr val="FFFFFF"/>
                          </a:solidFill>
                          <a:latin typeface="Arial"/>
                        </a:rPr>
                        <a:t>rapidgzip, 1t</a:t>
                      </a:r>
                    </a:p>
                  </a:txBody>
                  <a:tcPr marL="54864" marR="54864" marT="18288" marB="18288" anchor="ctr">
                    <a:solidFill>
                      <a:srgbClr val="4285F4"/>
                    </a:solidFill>
                  </a:tcPr>
                </a:tc>
              </a:tr>
              <a:tr h="265176">
                <a:tc>
                  <a:txBody>
                    <a:bodyPr wrap="square"/>
                    <a:lstStyle/>
                    <a:p>
                      <a:pPr algn="l"/>
                      <a:r>
                        <a:rPr sz="850" b="0" i="0">
                          <a:solidFill>
                            <a:srgbClr val="595959"/>
                          </a:solidFill>
                          <a:latin typeface="Arial"/>
                        </a:rPr>
                        <a:t>Silesia</a:t>
                      </a:r>
                    </a:p>
                  </a:txBody>
                  <a:tcPr marL="54864" marR="54864" marT="18288" marB="18288" anchor="ctr">
                    <a:solidFill>
                      <a:srgbClr val="FFFFFF"/>
                    </a:solidFill>
                  </a:tcPr>
                </a:tc>
                <a:tc>
                  <a:txBody>
                    <a:bodyPr wrap="square"/>
                    <a:lstStyle/>
                    <a:p>
                      <a:pPr algn="r"/>
                      <a:r>
                        <a:rPr sz="850" b="0" i="0">
                          <a:solidFill>
                            <a:srgbClr val="595959"/>
                          </a:solidFill>
                          <a:latin typeface="Arial"/>
                        </a:rPr>
                        <a:t>2.33</a:t>
                      </a:r>
                    </a:p>
                  </a:txBody>
                  <a:tcPr marL="54864" marR="54864" marT="18288" marB="18288" anchor="ctr">
                    <a:solidFill>
                      <a:srgbClr val="FFFFFF"/>
                    </a:solidFill>
                  </a:tcPr>
                </a:tc>
                <a:tc>
                  <a:txBody>
                    <a:bodyPr wrap="square"/>
                    <a:lstStyle/>
                    <a:p>
                      <a:pPr algn="r"/>
                      <a:r>
                        <a:rPr sz="850" b="0" i="0">
                          <a:solidFill>
                            <a:srgbClr val="595959"/>
                          </a:solidFill>
                          <a:latin typeface="Arial"/>
                        </a:rPr>
                        <a:t>2.14</a:t>
                      </a:r>
                    </a:p>
                  </a:txBody>
                  <a:tcPr marL="54864" marR="54864" marT="18288" marB="18288" anchor="ctr">
                    <a:solidFill>
                      <a:srgbClr val="FFFFFF"/>
                    </a:solidFill>
                  </a:tcPr>
                </a:tc>
                <a:tc>
                  <a:txBody>
                    <a:bodyPr wrap="square"/>
                    <a:lstStyle/>
                    <a:p>
                      <a:pPr algn="r"/>
                      <a:r>
                        <a:rPr sz="850" b="0" i="0">
                          <a:solidFill>
                            <a:srgbClr val="595959"/>
                          </a:solidFill>
                          <a:latin typeface="Arial"/>
                        </a:rPr>
                        <a:t>0.87</a:t>
                      </a:r>
                    </a:p>
                  </a:txBody>
                  <a:tcPr marL="54864" marR="54864" marT="18288" marB="18288" anchor="ctr">
                    <a:solidFill>
                      <a:srgbClr val="FFFFFF"/>
                    </a:solidFill>
                  </a:tcPr>
                </a:tc>
                <a:tc>
                  <a:txBody>
                    <a:bodyPr wrap="square"/>
                    <a:lstStyle/>
                    <a:p>
                      <a:pPr algn="r"/>
                      <a:r>
                        <a:rPr sz="850" b="0" i="0">
                          <a:solidFill>
                            <a:srgbClr val="595959"/>
                          </a:solidFill>
                          <a:latin typeface="Arial"/>
                        </a:rPr>
                        <a:t>0.47</a:t>
                      </a:r>
                    </a:p>
                  </a:txBody>
                  <a:tcPr marL="54864" marR="54864" marT="18288" marB="18288" anchor="ctr">
                    <a:solidFill>
                      <a:srgbClr val="FFFFFF"/>
                    </a:solidFill>
                  </a:tcPr>
                </a:tc>
              </a:tr>
              <a:tr h="265176">
                <a:tc>
                  <a:txBody>
                    <a:bodyPr wrap="square"/>
                    <a:lstStyle/>
                    <a:p>
                      <a:pPr algn="l"/>
                      <a:r>
                        <a:rPr sz="850" b="0" i="0">
                          <a:solidFill>
                            <a:srgbClr val="595959"/>
                          </a:solidFill>
                          <a:latin typeface="Arial"/>
                        </a:rPr>
                        <a:t>Silesia x5</a:t>
                      </a:r>
                    </a:p>
                  </a:txBody>
                  <a:tcPr marL="54864" marR="54864" marT="18288" marB="18288" anchor="ctr">
                    <a:solidFill>
                      <a:srgbClr val="F1F3F4"/>
                    </a:solidFill>
                  </a:tcPr>
                </a:tc>
                <a:tc>
                  <a:txBody>
                    <a:bodyPr wrap="square"/>
                    <a:lstStyle/>
                    <a:p>
                      <a:pPr algn="r"/>
                      <a:r>
                        <a:rPr sz="850" b="0" i="0">
                          <a:solidFill>
                            <a:srgbClr val="595959"/>
                          </a:solidFill>
                          <a:latin typeface="Arial"/>
                        </a:rPr>
                        <a:t>2.50</a:t>
                      </a:r>
                    </a:p>
                  </a:txBody>
                  <a:tcPr marL="54864" marR="54864" marT="18288" marB="18288" anchor="ctr">
                    <a:solidFill>
                      <a:srgbClr val="F1F3F4"/>
                    </a:solidFill>
                  </a:tcPr>
                </a:tc>
                <a:tc>
                  <a:txBody>
                    <a:bodyPr wrap="square"/>
                    <a:lstStyle/>
                    <a:p>
                      <a:pPr algn="r"/>
                      <a:r>
                        <a:rPr sz="850" b="0" i="0">
                          <a:solidFill>
                            <a:srgbClr val="595959"/>
                          </a:solidFill>
                          <a:latin typeface="Arial"/>
                        </a:rPr>
                        <a:t>2.16</a:t>
                      </a:r>
                    </a:p>
                  </a:txBody>
                  <a:tcPr marL="54864" marR="54864" marT="18288" marB="18288" anchor="ctr">
                    <a:solidFill>
                      <a:srgbClr val="F1F3F4"/>
                    </a:solidFill>
                  </a:tcPr>
                </a:tc>
                <a:tc>
                  <a:txBody>
                    <a:bodyPr wrap="square"/>
                    <a:lstStyle/>
                    <a:p>
                      <a:pPr algn="r"/>
                      <a:r>
                        <a:rPr sz="850" b="0" i="0">
                          <a:solidFill>
                            <a:srgbClr val="595959"/>
                          </a:solidFill>
                          <a:latin typeface="Arial"/>
                        </a:rPr>
                        <a:t>0.86</a:t>
                      </a:r>
                    </a:p>
                  </a:txBody>
                  <a:tcPr marL="54864" marR="54864" marT="18288" marB="18288" anchor="ctr">
                    <a:solidFill>
                      <a:srgbClr val="F1F3F4"/>
                    </a:solidFill>
                  </a:tcPr>
                </a:tc>
                <a:tc>
                  <a:txBody>
                    <a:bodyPr wrap="square"/>
                    <a:lstStyle/>
                    <a:p>
                      <a:pPr algn="r"/>
                      <a:r>
                        <a:rPr sz="850" b="0" i="0">
                          <a:solidFill>
                            <a:srgbClr val="595959"/>
                          </a:solidFill>
                          <a:latin typeface="Arial"/>
                        </a:rPr>
                        <a:t>0.46</a:t>
                      </a:r>
                    </a:p>
                  </a:txBody>
                  <a:tcPr marL="54864" marR="54864" marT="18288" marB="18288" anchor="ctr">
                    <a:solidFill>
                      <a:srgbClr val="F1F3F4"/>
                    </a:solidFill>
                  </a:tcPr>
                </a:tc>
              </a:tr>
              <a:tr h="265176">
                <a:tc>
                  <a:txBody>
                    <a:bodyPr wrap="square"/>
                    <a:lstStyle/>
                    <a:p>
                      <a:pPr algn="l"/>
                      <a:r>
                        <a:rPr sz="850" b="0" i="0">
                          <a:solidFill>
                            <a:srgbClr val="595959"/>
                          </a:solidFill>
                          <a:latin typeface="Arial"/>
                        </a:rPr>
                        <a:t>FASTQ</a:t>
                      </a:r>
                    </a:p>
                  </a:txBody>
                  <a:tcPr marL="54864" marR="54864" marT="18288" marB="18288" anchor="ctr">
                    <a:solidFill>
                      <a:srgbClr val="FFFFFF"/>
                    </a:solidFill>
                  </a:tcPr>
                </a:tc>
                <a:tc>
                  <a:txBody>
                    <a:bodyPr wrap="square"/>
                    <a:lstStyle/>
                    <a:p>
                      <a:pPr algn="r"/>
                      <a:r>
                        <a:rPr sz="850" b="0" i="0">
                          <a:solidFill>
                            <a:srgbClr val="595959"/>
                          </a:solidFill>
                          <a:latin typeface="Arial"/>
                        </a:rPr>
                        <a:t>1.99</a:t>
                      </a:r>
                    </a:p>
                  </a:txBody>
                  <a:tcPr marL="54864" marR="54864" marT="18288" marB="18288" anchor="ctr">
                    <a:solidFill>
                      <a:srgbClr val="FFFFFF"/>
                    </a:solidFill>
                  </a:tcPr>
                </a:tc>
                <a:tc>
                  <a:txBody>
                    <a:bodyPr wrap="square"/>
                    <a:lstStyle/>
                    <a:p>
                      <a:pPr algn="r"/>
                      <a:r>
                        <a:rPr sz="850" b="0" i="0">
                          <a:solidFill>
                            <a:srgbClr val="595959"/>
                          </a:solidFill>
                          <a:latin typeface="Arial"/>
                        </a:rPr>
                        <a:t>2.03</a:t>
                      </a:r>
                    </a:p>
                  </a:txBody>
                  <a:tcPr marL="54864" marR="54864" marT="18288" marB="18288" anchor="ctr">
                    <a:solidFill>
                      <a:srgbClr val="FFFFFF"/>
                    </a:solidFill>
                  </a:tcPr>
                </a:tc>
                <a:tc>
                  <a:txBody>
                    <a:bodyPr wrap="square"/>
                    <a:lstStyle/>
                    <a:p>
                      <a:pPr algn="r"/>
                      <a:r>
                        <a:rPr sz="850" b="0" i="0">
                          <a:solidFill>
                            <a:srgbClr val="595959"/>
                          </a:solidFill>
                          <a:latin typeface="Arial"/>
                        </a:rPr>
                        <a:t>0.66</a:t>
                      </a:r>
                    </a:p>
                  </a:txBody>
                  <a:tcPr marL="54864" marR="54864" marT="18288" marB="18288" anchor="ctr">
                    <a:solidFill>
                      <a:srgbClr val="FFFFFF"/>
                    </a:solidFill>
                  </a:tcPr>
                </a:tc>
                <a:tc>
                  <a:txBody>
                    <a:bodyPr wrap="square"/>
                    <a:lstStyle/>
                    <a:p>
                      <a:pPr algn="r"/>
                      <a:r>
                        <a:rPr sz="850" b="0" i="0">
                          <a:solidFill>
                            <a:srgbClr val="595959"/>
                          </a:solidFill>
                          <a:latin typeface="Arial"/>
                        </a:rPr>
                        <a:t>0.54</a:t>
                      </a:r>
                    </a:p>
                  </a:txBody>
                  <a:tcPr marL="54864" marR="54864" marT="18288" marB="18288" anchor="ctr">
                    <a:solidFill>
                      <a:srgbClr val="FFFFFF"/>
                    </a:solidFill>
                  </a:tcPr>
                </a:tc>
              </a:tr>
              <a:tr h="265176">
                <a:tc>
                  <a:txBody>
                    <a:bodyPr wrap="square"/>
                    <a:lstStyle/>
                    <a:p>
                      <a:pPr algn="l"/>
                      <a:r>
                        <a:rPr sz="850" b="0" i="0">
                          <a:solidFill>
                            <a:srgbClr val="595959"/>
                          </a:solidFill>
                          <a:latin typeface="Arial"/>
                        </a:rPr>
                        <a:t>Logs</a:t>
                      </a:r>
                    </a:p>
                  </a:txBody>
                  <a:tcPr marL="54864" marR="54864" marT="18288" marB="18288" anchor="ctr">
                    <a:solidFill>
                      <a:srgbClr val="F1F3F4"/>
                    </a:solidFill>
                  </a:tcPr>
                </a:tc>
                <a:tc>
                  <a:txBody>
                    <a:bodyPr wrap="square"/>
                    <a:lstStyle/>
                    <a:p>
                      <a:pPr algn="r"/>
                      <a:r>
                        <a:rPr sz="850" b="0" i="0">
                          <a:solidFill>
                            <a:srgbClr val="595959"/>
                          </a:solidFill>
                          <a:latin typeface="Arial"/>
                        </a:rPr>
                        <a:t>4.21</a:t>
                      </a:r>
                    </a:p>
                  </a:txBody>
                  <a:tcPr marL="54864" marR="54864" marT="18288" marB="18288" anchor="ctr">
                    <a:solidFill>
                      <a:srgbClr val="F1F3F4"/>
                    </a:solidFill>
                  </a:tcPr>
                </a:tc>
                <a:tc>
                  <a:txBody>
                    <a:bodyPr wrap="square"/>
                    <a:lstStyle/>
                    <a:p>
                      <a:pPr algn="r"/>
                      <a:r>
                        <a:rPr sz="850" b="0" i="0">
                          <a:solidFill>
                            <a:srgbClr val="595959"/>
                          </a:solidFill>
                          <a:latin typeface="Arial"/>
                        </a:rPr>
                        <a:t>4.61</a:t>
                      </a:r>
                    </a:p>
                  </a:txBody>
                  <a:tcPr marL="54864" marR="54864" marT="18288" marB="18288" anchor="ctr">
                    <a:solidFill>
                      <a:srgbClr val="F1F3F4"/>
                    </a:solidFill>
                  </a:tcPr>
                </a:tc>
                <a:tc>
                  <a:txBody>
                    <a:bodyPr wrap="square"/>
                    <a:lstStyle/>
                    <a:p>
                      <a:pPr algn="r"/>
                      <a:r>
                        <a:rPr sz="850" b="0" i="0">
                          <a:solidFill>
                            <a:srgbClr val="595959"/>
                          </a:solidFill>
                          <a:latin typeface="Arial"/>
                        </a:rPr>
                        <a:t>1.75</a:t>
                      </a:r>
                    </a:p>
                  </a:txBody>
                  <a:tcPr marL="54864" marR="54864" marT="18288" marB="18288" anchor="ctr">
                    <a:solidFill>
                      <a:srgbClr val="F1F3F4"/>
                    </a:solidFill>
                  </a:tcPr>
                </a:tc>
                <a:tc>
                  <a:txBody>
                    <a:bodyPr wrap="square"/>
                    <a:lstStyle/>
                    <a:p>
                      <a:pPr algn="r"/>
                      <a:r>
                        <a:rPr sz="850" b="0" i="0">
                          <a:solidFill>
                            <a:srgbClr val="595959"/>
                          </a:solidFill>
                          <a:latin typeface="Arial"/>
                        </a:rPr>
                        <a:t>1.78</a:t>
                      </a:r>
                    </a:p>
                  </a:txBody>
                  <a:tcPr marL="54864" marR="54864" marT="18288" marB="18288" anchor="ctr">
                    <a:solidFill>
                      <a:srgbClr val="F1F3F4"/>
                    </a:solidFill>
                  </a:tcPr>
                </a:tc>
              </a:tr>
            </a:tbl>
          </a:graphicData>
        </a:graphic>
      </p:graphicFrame>
      <p:sp>
        <p:nvSpPr>
          <p:cNvPr id="8" name="TextBox 7"/>
          <p:cNvSpPr txBox="1"/>
          <p:nvPr/>
        </p:nvSpPr>
        <p:spPr>
          <a:xfrm>
            <a:off x="4572000" y="2679192"/>
            <a:ext cx="4261104" cy="685800"/>
          </a:xfrm>
          <a:prstGeom prst="rect">
            <a:avLst/>
          </a:prstGeom>
          <a:noFill/>
        </p:spPr>
        <p:txBody>
          <a:bodyPr wrap="square" lIns="0" rIns="0" tIns="0" bIns="0" anchor="t">
            <a:spAutoFit/>
          </a:bodyPr>
          <a:lstStyle/>
          <a:p>
            <a:pPr algn="l"/>
            <a:r>
              <a:rPr sz="800" b="0" i="1">
                <a:solidFill>
                  <a:srgbClr val="78909C"/>
                </a:solidFill>
                <a:latin typeface="Arial"/>
              </a:rPr>
              <a:t>At 10 threads the difference isn't significant. With 1-2 threads we're 1.2-1.9x faster (their ARM build doesn't use ISA-L). rapidgzip uses 2-5x less memory and is 1.3x faster with 64 KiB chunks.</a:t>
            </a:r>
          </a:p>
        </p:txBody>
      </p:sp>
      <p:sp>
        <p:nvSpPr>
          <p:cNvPr id="9" name="Rounded Rectangle 8"/>
          <p:cNvSpPr/>
          <p:nvPr/>
        </p:nvSpPr>
        <p:spPr>
          <a:xfrm>
            <a:off x="310896" y="3429000"/>
            <a:ext cx="8522208" cy="132588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1000" b="1" i="0">
                <a:solidFill>
                  <a:srgbClr val="212121"/>
                </a:solidFill>
                <a:latin typeface="Arial"/>
              </a:rPr>
              <a:t>Are the chosen metrics enough to assess the project?</a:t>
            </a:r>
          </a:p>
          <a:p>
            <a:pPr algn="l"/>
            <a:r>
              <a:rPr sz="900" b="0" i="0">
                <a:solidFill>
                  <a:srgbClr val="595959"/>
                </a:solidFill>
                <a:latin typeface="Arial"/>
              </a:rPr>
              <a:t>Correctness comes first: every one of the 1,200 runs matched zlib.</a:t>
            </a:r>
          </a:p>
          <a:p>
            <a:pPr algn="l"/>
            <a:r>
              <a:rPr sz="900" b="0" i="0">
                <a:solidFill>
                  <a:srgbClr val="595959"/>
                </a:solidFill>
                <a:latin typeface="Arial"/>
              </a:rPr>
              <a:t>Each idea has its own measure: time of the window step for M3, load imbalance λ for M1, and peak memory.</a:t>
            </a:r>
          </a:p>
          <a:p>
            <a:pPr algn="l"/>
            <a:r>
              <a:rPr sz="900" b="0" i="0">
                <a:solidFill>
                  <a:srgbClr val="595959"/>
                </a:solidFill>
                <a:latin typeface="Arial"/>
              </a:rPr>
              <a:t>Every setting was run 10 times and compared with a Mann-Whitney U test (Holm correction). Limits: one laptop, and 3 of the 5 datasets are synthetic.</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