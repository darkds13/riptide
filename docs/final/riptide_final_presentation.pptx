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2" r:id="rId13"/>
    <p:sldId id="263" r:id="rId14"/>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2" roundtripDataSignature="AMtx7mgI24oTcC8pyATHdhJlvgNiU4JP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customschemas.google.com/relationships/presentationmetadata" Target="metadata"/><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212121"/>
                </a:solidFill>
                <a:latin typeface="Arial"/>
              </a:rPr>
              <a:t>Throughput (GB/s) against threads, 4 MiB chunks</a:t>
            </a:r>
          </a:p>
        </c:rich>
      </c:tx>
      <c:layout/>
      <c:overlay val="0"/>
    </c:title>
    <c:autoTitleDeleted val="0"/>
    <c:plotArea>
      <c:lineChart>
        <c:grouping val="standard"/>
        <c:varyColors val="0"/>
        <c:ser>
          <c:idx val="0"/>
          <c:order val="0"/>
          <c:tx>
            <c:strRef>
              <c:f>Sheet1!$B$1</c:f>
              <c:strCache>
                <c:ptCount val="1"/>
                <c:pt idx="0">
                  <c:v>Silesia ×5</c:v>
                </c:pt>
              </c:strCache>
            </c:strRef>
          </c:tx>
          <c:spPr>
            <a:ln w="25400">
              <a:solidFill>
                <a:srgbClr val="1A73E8"/>
              </a:solidFill>
            </a:ln>
          </c:spPr>
          <c:marker>
            <c:size val="5"/>
            <c:spPr>
              <a:solidFill>
                <a:srgbClr val="1A73E8"/>
              </a:solidFill>
            </c:spPr>
          </c:marker>
          <c:cat>
            <c:strRef>
              <c:f>Sheet1!$A$2:$A$7</c:f>
              <c:strCache>
                <c:ptCount val="6"/>
                <c:pt idx="0">
                  <c:v>1</c:v>
                </c:pt>
                <c:pt idx="1">
                  <c:v>2</c:v>
                </c:pt>
                <c:pt idx="2">
                  <c:v>4</c:v>
                </c:pt>
                <c:pt idx="3">
                  <c:v>6</c:v>
                </c:pt>
                <c:pt idx="4">
                  <c:v>8</c:v>
                </c:pt>
                <c:pt idx="5">
                  <c:v>10</c:v>
                </c:pt>
              </c:strCache>
            </c:strRef>
          </c:cat>
          <c:val>
            <c:numRef>
              <c:f>Sheet1!$B$2:$B$7</c:f>
              <c:numCache>
                <c:formatCode>General</c:formatCode>
                <c:ptCount val="6"/>
                <c:pt idx="0">
                  <c:v>0.91</c:v>
                </c:pt>
                <c:pt idx="1">
                  <c:v>1.29</c:v>
                </c:pt>
                <c:pt idx="2">
                  <c:v>1.92</c:v>
                </c:pt>
                <c:pt idx="3">
                  <c:v>2.38</c:v>
                </c:pt>
                <c:pt idx="4">
                  <c:v>2.83</c:v>
                </c:pt>
                <c:pt idx="5">
                  <c:v>3.01</c:v>
                </c:pt>
              </c:numCache>
            </c:numRef>
          </c:val>
          <c:smooth val="0"/>
        </c:ser>
        <c:ser>
          <c:idx val="1"/>
          <c:order val="1"/>
          <c:tx>
            <c:strRef>
              <c:f>Sheet1!$C$1</c:f>
              <c:strCache>
                <c:ptCount val="1"/>
                <c:pt idx="0">
                  <c:v>Silesia</c:v>
                </c:pt>
              </c:strCache>
            </c:strRef>
          </c:tx>
          <c:spPr>
            <a:ln w="25400">
              <a:solidFill>
                <a:srgbClr val="0B3D91"/>
              </a:solidFill>
            </a:ln>
          </c:spPr>
          <c:marker>
            <c:size val="5"/>
            <c:spPr>
              <a:solidFill>
                <a:srgbClr val="0B3D91"/>
              </a:solidFill>
            </c:spPr>
          </c:marker>
          <c:cat>
            <c:strRef>
              <c:f>Sheet1!$A$2:$A$7</c:f>
              <c:strCache>
                <c:ptCount val="6"/>
                <c:pt idx="0">
                  <c:v>1</c:v>
                </c:pt>
                <c:pt idx="1">
                  <c:v>2</c:v>
                </c:pt>
                <c:pt idx="2">
                  <c:v>4</c:v>
                </c:pt>
                <c:pt idx="3">
                  <c:v>6</c:v>
                </c:pt>
                <c:pt idx="4">
                  <c:v>8</c:v>
                </c:pt>
                <c:pt idx="5">
                  <c:v>10</c:v>
                </c:pt>
              </c:strCache>
            </c:strRef>
          </c:cat>
          <c:val>
            <c:numRef>
              <c:f>Sheet1!$C$2:$C$7</c:f>
              <c:numCache>
                <c:formatCode>General</c:formatCode>
                <c:ptCount val="6"/>
                <c:pt idx="0">
                  <c:v>0.9</c:v>
                </c:pt>
                <c:pt idx="1">
                  <c:v>1.22</c:v>
                </c:pt>
                <c:pt idx="2">
                  <c:v>1.89</c:v>
                </c:pt>
                <c:pt idx="3">
                  <c:v>2.18</c:v>
                </c:pt>
                <c:pt idx="4">
                  <c:v>2.54</c:v>
                </c:pt>
                <c:pt idx="5">
                  <c:v>2.6</c:v>
                </c:pt>
              </c:numCache>
            </c:numRef>
          </c:val>
          <c:smooth val="0"/>
        </c:ser>
        <c:ser>
          <c:idx val="2"/>
          <c:order val="2"/>
          <c:tx>
            <c:strRef>
              <c:f>Sheet1!$D$1</c:f>
              <c:strCache>
                <c:ptCount val="1"/>
                <c:pt idx="0">
                  <c:v>Mixed</c:v>
                </c:pt>
              </c:strCache>
            </c:strRef>
          </c:tx>
          <c:spPr>
            <a:ln w="25400">
              <a:solidFill>
                <a:srgbClr val="E8A33D"/>
              </a:solidFill>
            </a:ln>
          </c:spPr>
          <c:marker>
            <c:size val="5"/>
            <c:spPr>
              <a:solidFill>
                <a:srgbClr val="E8A33D"/>
              </a:solidFill>
            </c:spPr>
          </c:marker>
          <c:cat>
            <c:strRef>
              <c:f>Sheet1!$A$2:$A$7</c:f>
              <c:strCache>
                <c:ptCount val="6"/>
                <c:pt idx="0">
                  <c:v>1</c:v>
                </c:pt>
                <c:pt idx="1">
                  <c:v>2</c:v>
                </c:pt>
                <c:pt idx="2">
                  <c:v>4</c:v>
                </c:pt>
                <c:pt idx="3">
                  <c:v>6</c:v>
                </c:pt>
                <c:pt idx="4">
                  <c:v>8</c:v>
                </c:pt>
                <c:pt idx="5">
                  <c:v>10</c:v>
                </c:pt>
              </c:strCache>
            </c:strRef>
          </c:cat>
          <c:val>
            <c:numRef>
              <c:f>Sheet1!$D$2:$D$7</c:f>
              <c:numCache>
                <c:formatCode>General</c:formatCode>
                <c:ptCount val="6"/>
                <c:pt idx="0">
                  <c:v>1.12</c:v>
                </c:pt>
                <c:pt idx="1">
                  <c:v>1.43</c:v>
                </c:pt>
                <c:pt idx="2">
                  <c:v>1.98</c:v>
                </c:pt>
                <c:pt idx="3">
                  <c:v>2.3</c:v>
                </c:pt>
                <c:pt idx="4">
                  <c:v>2.95</c:v>
                </c:pt>
                <c:pt idx="5">
                  <c:v>2.84</c:v>
                </c:pt>
              </c:numCache>
            </c:numRef>
          </c:val>
          <c:smooth val="0"/>
        </c:ser>
        <c:ser>
          <c:idx val="3"/>
          <c:order val="3"/>
          <c:tx>
            <c:strRef>
              <c:f>Sheet1!$E$1</c:f>
              <c:strCache>
                <c:ptCount val="1"/>
                <c:pt idx="0">
                  <c:v>FASTQ</c:v>
                </c:pt>
              </c:strCache>
            </c:strRef>
          </c:tx>
          <c:spPr>
            <a:ln w="25400">
              <a:solidFill>
                <a:srgbClr val="34A853"/>
              </a:solidFill>
            </a:ln>
          </c:spPr>
          <c:marker>
            <c:size val="5"/>
            <c:spPr>
              <a:solidFill>
                <a:srgbClr val="34A853"/>
              </a:solidFill>
            </c:spPr>
          </c:marker>
          <c:cat>
            <c:strRef>
              <c:f>Sheet1!$A$2:$A$7</c:f>
              <c:strCache>
                <c:ptCount val="6"/>
                <c:pt idx="0">
                  <c:v>1</c:v>
                </c:pt>
                <c:pt idx="1">
                  <c:v>2</c:v>
                </c:pt>
                <c:pt idx="2">
                  <c:v>4</c:v>
                </c:pt>
                <c:pt idx="3">
                  <c:v>6</c:v>
                </c:pt>
                <c:pt idx="4">
                  <c:v>8</c:v>
                </c:pt>
                <c:pt idx="5">
                  <c:v>10</c:v>
                </c:pt>
              </c:strCache>
            </c:strRef>
          </c:cat>
          <c:val>
            <c:numRef>
              <c:f>Sheet1!$E$2:$E$7</c:f>
              <c:numCache>
                <c:formatCode>General</c:formatCode>
                <c:ptCount val="6"/>
                <c:pt idx="0">
                  <c:v>0.75</c:v>
                </c:pt>
                <c:pt idx="1">
                  <c:v>1.02</c:v>
                </c:pt>
                <c:pt idx="2">
                  <c:v>1.27</c:v>
                </c:pt>
                <c:pt idx="3">
                  <c:v>1.57</c:v>
                </c:pt>
                <c:pt idx="4">
                  <c:v>1.87</c:v>
                </c:pt>
                <c:pt idx="5">
                  <c:v>1.98</c:v>
                </c:pt>
              </c:numCache>
            </c:numRef>
          </c:val>
          <c:smooth val="0"/>
        </c:ser>
        <c:ser>
          <c:idx val="4"/>
          <c:order val="4"/>
          <c:tx>
            <c:strRef>
              <c:f>Sheet1!$F$1</c:f>
              <c:strCache>
                <c:ptCount val="1"/>
                <c:pt idx="0">
                  <c:v>Logs</c:v>
                </c:pt>
              </c:strCache>
            </c:strRef>
          </c:tx>
          <c:spPr>
            <a:ln w="25400">
              <a:solidFill>
                <a:srgbClr val="9AA0A6"/>
              </a:solidFill>
            </a:ln>
          </c:spPr>
          <c:marker>
            <c:size val="5"/>
            <c:spPr>
              <a:solidFill>
                <a:srgbClr val="9AA0A6"/>
              </a:solidFill>
            </c:spPr>
          </c:marker>
          <c:cat>
            <c:strRef>
              <c:f>Sheet1!$A$2:$A$7</c:f>
              <c:strCache>
                <c:ptCount val="6"/>
                <c:pt idx="0">
                  <c:v>1</c:v>
                </c:pt>
                <c:pt idx="1">
                  <c:v>2</c:v>
                </c:pt>
                <c:pt idx="2">
                  <c:v>4</c:v>
                </c:pt>
                <c:pt idx="3">
                  <c:v>6</c:v>
                </c:pt>
                <c:pt idx="4">
                  <c:v>8</c:v>
                </c:pt>
                <c:pt idx="5">
                  <c:v>10</c:v>
                </c:pt>
              </c:strCache>
            </c:strRef>
          </c:cat>
          <c:val>
            <c:numRef>
              <c:f>Sheet1!$F$2:$F$7</c:f>
              <c:numCache>
                <c:formatCode>General</c:formatCode>
                <c:ptCount val="6"/>
                <c:pt idx="0">
                  <c:v>1.57</c:v>
                </c:pt>
                <c:pt idx="1">
                  <c:v>1.49</c:v>
                </c:pt>
                <c:pt idx="2">
                  <c:v>2.22</c:v>
                </c:pt>
                <c:pt idx="3">
                  <c:v>2.73</c:v>
                </c:pt>
                <c:pt idx="4">
                  <c:v>2.95</c:v>
                </c:pt>
                <c:pt idx="5">
                  <c:v>3.74</c:v>
                </c:pt>
              </c:numCache>
            </c:numRef>
          </c:val>
          <c:smooth val="0"/>
        </c:ser>
        <c:ser>
          <c:idx val="5"/>
          <c:order val="5"/>
          <c:tx>
            <c:strRef>
              <c:f>Sheet1!$G$1</c:f>
              <c:strCache>
                <c:ptCount val="1"/>
                <c:pt idx="0">
                  <c:v>zlib (Silesia)</c:v>
                </c:pt>
              </c:strCache>
            </c:strRef>
          </c:tx>
          <c:spPr>
            <a:ln w="15875">
              <a:solidFill>
                <a:srgbClr val="000000"/>
              </a:solidFill>
              <a:prstDash val="dash"/>
            </a:ln>
          </c:spPr>
          <c:marker>
            <c:size val="5"/>
            <c:spPr>
              <a:solidFill>
                <a:srgbClr val="000000"/>
              </a:solidFill>
            </c:spPr>
          </c:marker>
          <c:cat>
            <c:strRef>
              <c:f>Sheet1!$A$2:$A$7</c:f>
              <c:strCache>
                <c:ptCount val="6"/>
                <c:pt idx="0">
                  <c:v>1</c:v>
                </c:pt>
                <c:pt idx="1">
                  <c:v>2</c:v>
                </c:pt>
                <c:pt idx="2">
                  <c:v>4</c:v>
                </c:pt>
                <c:pt idx="3">
                  <c:v>6</c:v>
                </c:pt>
                <c:pt idx="4">
                  <c:v>8</c:v>
                </c:pt>
                <c:pt idx="5">
                  <c:v>10</c:v>
                </c:pt>
              </c:strCache>
            </c:strRef>
          </c:cat>
          <c:val>
            <c:numRef>
              <c:f>Sheet1!$G$2:$G$7</c:f>
              <c:numCache>
                <c:formatCode>General</c:formatCode>
                <c:ptCount val="6"/>
                <c:pt idx="0">
                  <c:v>1.22</c:v>
                </c:pt>
                <c:pt idx="1">
                  <c:v>1.22</c:v>
                </c:pt>
                <c:pt idx="2">
                  <c:v>1.22</c:v>
                </c:pt>
                <c:pt idx="3">
                  <c:v>1.22</c:v>
                </c:pt>
                <c:pt idx="4">
                  <c:v>1.22</c:v>
                </c:pt>
                <c:pt idx="5">
                  <c:v>1.22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50">
                <a:latin typeface="Arial"/>
              </a:defRPr>
            </a:pPr>
          </a:p>
        </c:txPr>
        <c:crossAx val="2140495176"/>
        <c:crosses val="autoZero"/>
        <c:auto val="1"/>
        <c:lblAlgn val="ctr"/>
        <c:lblOffset val="100"/>
        <c:noMultiLvlLbl val="0"/>
      </c:catAx>
      <c:valAx>
        <c:axId val="2140495176"/>
        <c:scaling>
          <c:max val="4.0"/>
          <c:min val="0.0"/>
        </c:scaling>
        <c:delete val="0"/>
        <c:axPos val="l"/>
        <c:majorGridlines>
          <c:spPr>
            <a:ln>
              <a:solidFill>
                <a:srgbClr val="E0E0E0"/>
              </a:solidFill>
            </a:ln>
          </c:spPr>
        </c:majorGridlines>
        <c:majorTickMark val="out"/>
        <c:minorTickMark val="none"/>
        <c:tickLblPos val="nextTo"/>
        <c:spPr>
          <a:ln>
            <a:noFill/>
          </a:ln>
        </c:spPr>
        <c:txPr>
          <a:bodyPr/>
          <a:lstStyle/>
          <a:p>
            <a:pPr>
              <a:defRPr sz="850">
                <a:latin typeface="Arial"/>
              </a:defRPr>
            </a:pPr>
          </a:p>
        </c:txPr>
        <c:crossAx val="2118791784"/>
        <c:crosses val="autoZero"/>
        <c:majorUnit val="1.0"/>
      </c:valAx>
    </c:plotArea>
    <c:legend>
      <c:legendPos val="b"/>
      <c:layout/>
      <c:overlay val="0"/>
      <c:txPr>
        <a:bodyPr/>
        <a:lstStyle/>
        <a:p>
          <a:pPr>
            <a:defRPr sz="85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212121"/>
                </a:solidFill>
                <a:latin typeface="Arial"/>
              </a:rPr>
              <a:t>Window resolution time (ms), Silesia ×5, 10 threads</a:t>
            </a:r>
          </a:p>
        </c:rich>
      </c:tx>
      <c:layout/>
      <c:overlay val="0"/>
    </c:title>
    <c:autoTitleDeleted val="0"/>
    <c:plotArea>
      <c:barChart>
        <c:barDir val="col"/>
        <c:grouping val="clustered"/>
        <c:ser>
          <c:idx val="0"/>
          <c:order val="0"/>
          <c:tx>
            <c:strRef>
              <c:f>Sheet1!$B$1</c:f>
              <c:strCache>
                <c:ptCount val="1"/>
                <c:pt idx="0">
                  <c:v>Serial chain (base paper)</c:v>
                </c:pt>
              </c:strCache>
            </c:strRef>
          </c:tx>
          <c:spPr>
            <a:solidFill>
              <a:srgbClr val="FFAB40"/>
            </a:solidFill>
          </c:spPr>
          <c:cat>
            <c:strRef>
              <c:f>Sheet1!$A$2:$A$6</c:f>
              <c:strCache>
                <c:ptCount val="5"/>
                <c:pt idx="0">
                  <c:v>64 KiB
(5205)</c:v>
                </c:pt>
                <c:pt idx="1">
                  <c:v>128 KiB
(2603)</c:v>
                </c:pt>
                <c:pt idx="2">
                  <c:v>256 KiB
(1302)</c:v>
                </c:pt>
                <c:pt idx="3">
                  <c:v>512 KiB
(651)</c:v>
                </c:pt>
                <c:pt idx="4">
                  <c:v>1 MiB
(326)</c:v>
                </c:pt>
              </c:strCache>
            </c:strRef>
          </c:cat>
          <c:val>
            <c:numRef>
              <c:f>Sheet1!$B$2:$B$6</c:f>
              <c:numCache>
                <c:formatCode>General</c:formatCode>
                <c:ptCount val="5"/>
                <c:pt idx="0">
                  <c:v>270.8</c:v>
                </c:pt>
                <c:pt idx="1">
                  <c:v>140.0</c:v>
                </c:pt>
                <c:pt idx="2">
                  <c:v>66.7</c:v>
                </c:pt>
                <c:pt idx="3">
                  <c:v>28.3</c:v>
                </c:pt>
                <c:pt idx="4">
                  <c:v>10.6</c:v>
                </c:pt>
              </c:numCache>
            </c:numRef>
          </c:val>
        </c:ser>
        <c:ser>
          <c:idx val="1"/>
          <c:order val="1"/>
          <c:tx>
            <c:strRef>
              <c:f>Sheet1!$C$1</c:f>
              <c:strCache>
                <c:ptCount val="1"/>
                <c:pt idx="0">
                  <c:v>Blocked prefix scan (ours)</c:v>
                </c:pt>
              </c:strCache>
            </c:strRef>
          </c:tx>
          <c:spPr>
            <a:solidFill>
              <a:srgbClr val="4285F4"/>
            </a:solidFill>
          </c:spPr>
          <c:cat>
            <c:strRef>
              <c:f>Sheet1!$A$2:$A$6</c:f>
              <c:strCache>
                <c:ptCount val="5"/>
                <c:pt idx="0">
                  <c:v>64 KiB
(5205)</c:v>
                </c:pt>
                <c:pt idx="1">
                  <c:v>128 KiB
(2603)</c:v>
                </c:pt>
                <c:pt idx="2">
                  <c:v>256 KiB
(1302)</c:v>
                </c:pt>
                <c:pt idx="3">
                  <c:v>512 KiB
(651)</c:v>
                </c:pt>
                <c:pt idx="4">
                  <c:v>1 MiB
(326)</c:v>
                </c:pt>
              </c:strCache>
            </c:strRef>
          </c:cat>
          <c:val>
            <c:numRef>
              <c:f>Sheet1!$C$2:$C$6</c:f>
              <c:numCache>
                <c:formatCode>General</c:formatCode>
                <c:ptCount val="5"/>
                <c:pt idx="0">
                  <c:v>81.6</c:v>
                </c:pt>
                <c:pt idx="1">
                  <c:v>38.8</c:v>
                </c:pt>
                <c:pt idx="2">
                  <c:v>19.9</c:v>
                </c:pt>
                <c:pt idx="3">
                  <c:v>7.2</c:v>
                </c:pt>
                <c:pt idx="4">
                  <c:v>3.1</c:v>
                </c:pt>
              </c:numCache>
            </c:numRef>
          </c:val>
        </c:ser>
        <c:dLbls>
          <c:numFmt formatCode="0" sourceLinked="0"/>
          <c:txPr>
            <a:bodyPr/>
            <a:lstStyle/>
            <a:p>
              <a:pPr>
                <a:defRPr sz="850">
                  <a:latin typeface="Arial"/>
                </a:defRPr>
              </a:pPr>
            </a:p>
          </c:txPr>
          <c:dLblPos val="outEnd"/>
          <c:showLegendKey val="0"/>
          <c:showVal val="1"/>
          <c:showCatName val="0"/>
          <c:showSerName val="0"/>
          <c:showPercent val="0"/>
          <c:showBubbleSize val="0"/>
          <c:showLeaderLines val="1"/>
        </c:dLbls>
        <c:gapWidth val="60"/>
        <c:overlap val="-10"/>
        <c:axId val="2226939960"/>
        <c:axId val="2180972856"/>
      </c:barChart>
      <c:catAx>
        <c:axId val="2226939960"/>
        <c:scaling>
          <c:orientation val="minMax"/>
        </c:scaling>
        <c:delete val="0"/>
        <c:axPos val="b"/>
        <c:majorTickMark val="out"/>
        <c:minorTickMark val="none"/>
        <c:tickLblPos val="nextTo"/>
        <c:txPr>
          <a:bodyPr/>
          <a:lstStyle/>
          <a:p>
            <a:pPr>
              <a:defRPr sz="850">
                <a:latin typeface="Arial"/>
              </a:defRPr>
            </a:pPr>
          </a:p>
        </c:txPr>
        <c:crossAx val="2180972856"/>
        <c:crosses val="autoZero"/>
        <c:auto val="1"/>
        <c:lblAlgn val="ctr"/>
        <c:lblOffset val="100"/>
        <c:noMultiLvlLbl val="0"/>
      </c:catAx>
      <c:valAx>
        <c:axId val="2180972856"/>
        <c:scaling>
          <c:max val="300.0"/>
          <c:min val="0.0"/>
        </c:scaling>
        <c:delete val="0"/>
        <c:axPos val="l"/>
        <c:majorGridlines>
          <c:spPr>
            <a:ln>
              <a:solidFill>
                <a:srgbClr val="E0E0E0"/>
              </a:solidFill>
            </a:ln>
          </c:spPr>
        </c:majorGridlines>
        <c:majorTickMark val="out"/>
        <c:minorTickMark val="none"/>
        <c:tickLblPos val="nextTo"/>
        <c:spPr>
          <a:ln>
            <a:noFill/>
          </a:ln>
        </c:spPr>
        <c:txPr>
          <a:bodyPr/>
          <a:lstStyle/>
          <a:p>
            <a:pPr>
              <a:defRPr sz="850">
                <a:latin typeface="Arial"/>
              </a:defRPr>
            </a:pPr>
          </a:p>
        </c:txPr>
        <c:crossAx val="2226939960"/>
        <c:crosses val="autoZero"/>
        <c:majorUnit val="100.0"/>
      </c:valAx>
    </c:plotArea>
    <c:legend>
      <c:legendPos val="b"/>
      <c:overlay val="0"/>
      <c:txPr>
        <a:bodyPr/>
        <a:lstStyle/>
        <a:p>
          <a:pPr>
            <a:defRPr sz="85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Riptide decompresses ordinary gzip files on all cores and gives output identical to zlib. We built the whole decoder from scratch and parallelised the one step our base paper left serial.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4201240a44ad15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4201240a44ad15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dependencies make gzip serial: no index of block starts, and copies from up to 32 KiB back. rapidgzip solves both with speculative decoding and markers, but resolves the windows between chunks one after another. That is the step we parallelise.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Amber stages contain our contributions. Each chunk's final window is a map from the window before it; maps compose associatively, so the chain is a prefix scan. A chunk that exceeds its output budget is split and handed to idle workers instead of finishing on one thread. Everything, including the decoder itself, is our own code.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Correctness first: every one of 1,200 timed runs matched zlib byte for byte. Silesia times five reaches 3 GB/s with 10 threads, two and a half times zlib. Efficiency is about 0.3 because six of the ten cores are efficiency cores and two-stage decoding has to replace markers afterwards. On the highly compressible logs zlib still wins, and we say so.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4201240a44ad15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4201240a44ad15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Everything on the slide is our own code and our own measurements. The bugs we list are the ones that cost us most time: the race only showed up in one run in eight, and the memory problem only appeared on gigabyte-sized inputs. We also ran rapidgzip, the base paper's own tool, on the same laptop: at 10 threads the two are statistically level.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4201240a44ad152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4201240a44ad152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claim is narrow and measured: the base paper's serial step parallelises, and it pays off exactly when chunks are small. Against the base paper's own tool we are level at 10 threads, and we name where it is still better: memory and small chunks. The next steps are streaming output, which closes the memory gap, and putting the scan into rapidgzip on the core counts where it stops scaling.</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main result. The blocked scan resolves the windows three to four times faster than the serial chain at every chunk size, and it keeps getting faster with more cores while the chain does not. It matters for the whole run when chunks are small, which is also when memory use is lowest. Two limits we state ourselves: with large chunks the chain was already cheap, and with 64 KiB chunks rapidgzip is still faster than our whole decoder, because our block search and per-chunk bookkeeping cost more than theirs. So M3 is proven inside Riptide; inside rapidgzip it is future work.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When an output budget turns a few large chunks into chains of continuations, splitting them brings load imbalance from 5.6 to 1.3 and makes the run 1.6 times faster. With many small chunks it makes no difference, and our header-based chunk planner did not pay off, which we report as a negative result. Against rapidgzip itself, run on the same laptop, we are level at 10 threads and faster with few threads, but rapidgzip uses much less memory because it streams its output, and it is faster with small chunks, so we do not claim M3 would speed rapidgzip up without porting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0896" y="1554480"/>
            <a:ext cx="8522208" cy="118872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sz="4000" b="1" i="0">
                <a:solidFill>
                  <a:srgbClr val="212121"/>
                </a:solidFill>
                <a:latin typeface="Arial"/>
              </a:rPr>
              <a:t>Riptide</a:t>
            </a:r>
            <a:endParaRPr/>
          </a:p>
          <a:p>
            <a:pPr algn="ctr"/>
            <a:r>
              <a:rPr sz="1700" b="0" i="0">
                <a:solidFill>
                  <a:srgbClr val="595959"/>
                </a:solidFill>
                <a:latin typeface="Arial"/>
              </a:rPr>
              <a:t>Breaking the Serial Window Chain in Parallel Gzip Decompression</a:t>
            </a:r>
          </a:p>
        </p:txBody>
      </p:sp>
      <p:sp>
        <p:nvSpPr>
          <p:cNvPr id="55" name="Google Shape;55;p1"/>
          <p:cNvSpPr txBox="1"/>
          <p:nvPr>
            <p:ph idx="1" type="subTitle"/>
          </p:nvPr>
        </p:nvSpPr>
        <p:spPr>
          <a:xfrm>
            <a:off x="310896" y="1216152"/>
            <a:ext cx="8522208" cy="292608"/>
          </a:xfrm>
          <a:prstGeom prst="rect">
            <a:avLst/>
          </a:prstGeom>
          <a:noFill/>
          <a:ln>
            <a:noFill/>
          </a:ln>
        </p:spPr>
        <p:txBody>
          <a:bodyPr anchorCtr="0" anchor="ctr" bIns="0" lIns="0" spcFirstLastPara="1" rIns="0" wrap="square" tIns="0">
            <a:normAutofit/>
          </a:bodyPr>
          <a:lstStyle/>
          <a:p>
            <a:pPr indent="0" lvl="0" marL="0" rtl="0" algn="ctr">
              <a:lnSpc>
                <a:spcPct val="100000"/>
              </a:lnSpc>
              <a:spcBef>
                <a:spcPts val="0"/>
              </a:spcBef>
              <a:spcAft>
                <a:spcPts val="0"/>
              </a:spcAft>
              <a:buSzPts val="2800"/>
              <a:buNone/>
            </a:pPr>
            <a:r>
              <a:rPr sz="1100" b="1" i="0" spc="300">
                <a:solidFill>
                  <a:srgbClr val="4285F4"/>
                </a:solidFill>
                <a:latin typeface="Arial"/>
              </a:rPr>
              <a:t>FINAL PRESENTATION</a:t>
            </a:r>
            <a:endParaRPr/>
          </a:p>
        </p:txBody>
      </p:sp>
      <p:pic>
        <p:nvPicPr>
          <p:cNvPr id="56" name="Picture 55" descr="nitk_logo.png"/>
          <p:cNvPicPr>
            <a:picLocks noChangeAspect="1"/>
          </p:cNvPicPr>
          <p:nvPr/>
        </p:nvPicPr>
        <p:blipFill>
          <a:blip r:embed="rId3"/>
          <a:stretch>
            <a:fillRect/>
          </a:stretch>
        </p:blipFill>
        <p:spPr>
          <a:xfrm>
            <a:off x="4151376" y="347472"/>
            <a:ext cx="840065" cy="777240"/>
          </a:xfrm>
          <a:prstGeom prst="rect">
            <a:avLst/>
          </a:prstGeom>
        </p:spPr>
      </p:pic>
      <p:sp>
        <p:nvSpPr>
          <p:cNvPr id="57" name="Rounded Rectangle 56"/>
          <p:cNvSpPr/>
          <p:nvPr/>
        </p:nvSpPr>
        <p:spPr>
          <a:xfrm>
            <a:off x="1325880" y="3017520"/>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Devansh Hiren Shah</a:t>
            </a:r>
          </a:p>
          <a:p>
            <a:pPr algn="ctr"/>
            <a:r>
              <a:rPr sz="1000" b="0" i="0">
                <a:solidFill>
                  <a:srgbClr val="78909C"/>
                </a:solidFill>
                <a:latin typeface="Arial"/>
              </a:rPr>
              <a:t>241IT024</a:t>
            </a:r>
          </a:p>
        </p:txBody>
      </p:sp>
      <p:sp>
        <p:nvSpPr>
          <p:cNvPr id="58" name="Rounded Rectangle 57"/>
          <p:cNvSpPr/>
          <p:nvPr/>
        </p:nvSpPr>
        <p:spPr>
          <a:xfrm>
            <a:off x="4709160" y="3017520"/>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Mantri Samarth Prakash</a:t>
            </a:r>
          </a:p>
          <a:p>
            <a:pPr algn="ctr"/>
            <a:r>
              <a:rPr sz="1000" b="0" i="0">
                <a:solidFill>
                  <a:srgbClr val="78909C"/>
                </a:solidFill>
                <a:latin typeface="Arial"/>
              </a:rPr>
              <a:t>241IT043</a:t>
            </a:r>
          </a:p>
        </p:txBody>
      </p:sp>
      <p:sp>
        <p:nvSpPr>
          <p:cNvPr id="59" name="Rounded Rectangle 58"/>
          <p:cNvSpPr/>
          <p:nvPr/>
        </p:nvSpPr>
        <p:spPr>
          <a:xfrm>
            <a:off x="1325880" y="3529584"/>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Shubh Minesh Thakkar</a:t>
            </a:r>
          </a:p>
          <a:p>
            <a:pPr algn="ctr"/>
            <a:r>
              <a:rPr sz="1000" b="0" i="0">
                <a:solidFill>
                  <a:srgbClr val="78909C"/>
                </a:solidFill>
                <a:latin typeface="Arial"/>
              </a:rPr>
              <a:t>241IT076</a:t>
            </a:r>
          </a:p>
        </p:txBody>
      </p:sp>
      <p:sp>
        <p:nvSpPr>
          <p:cNvPr id="60" name="Rounded Rectangle 59"/>
          <p:cNvSpPr/>
          <p:nvPr/>
        </p:nvSpPr>
        <p:spPr>
          <a:xfrm>
            <a:off x="4709160" y="3529584"/>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Ritesh Bhagat</a:t>
            </a:r>
          </a:p>
          <a:p>
            <a:pPr algn="ctr"/>
            <a:r>
              <a:rPr sz="1000" b="0" i="0">
                <a:solidFill>
                  <a:srgbClr val="78909C"/>
                </a:solidFill>
                <a:latin typeface="Arial"/>
              </a:rPr>
              <a:t>241IT063</a:t>
            </a:r>
          </a:p>
        </p:txBody>
      </p:sp>
      <p:sp>
        <p:nvSpPr>
          <p:cNvPr id="61" name="Rounded Rectangle 60"/>
          <p:cNvSpPr/>
          <p:nvPr/>
        </p:nvSpPr>
        <p:spPr>
          <a:xfrm>
            <a:off x="310896" y="4261104"/>
            <a:ext cx="8522208"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100" b="1" i="0">
                <a:solidFill>
                  <a:srgbClr val="212121"/>
                </a:solidFill>
                <a:latin typeface="Arial"/>
              </a:rPr>
              <a:t>IT 301 Parallel Computing</a:t>
            </a:r>
          </a:p>
          <a:p>
            <a:pPr algn="ctr"/>
            <a:r>
              <a:rPr sz="1000" b="0" i="0">
                <a:solidFill>
                  <a:srgbClr val="78909C"/>
                </a:solidFill>
                <a:latin typeface="Arial"/>
              </a:rPr>
              <a:t>Department of Information Technology  ·  NIT Karnataka, Surathkal</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h4201240a44ad152a_0_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800"/>
              <a:t>Problem Statement</a:t>
            </a:r>
            <a:endParaRPr/>
          </a:p>
        </p:txBody>
      </p:sp>
      <p:sp>
        <p:nvSpPr>
          <p:cNvPr id="61" name="TextBox 60"/>
          <p:cNvSpPr txBox="1"/>
          <p:nvPr/>
        </p:nvSpPr>
        <p:spPr>
          <a:xfrm>
            <a:off x="310896" y="1115568"/>
            <a:ext cx="3977639" cy="219456"/>
          </a:xfrm>
          <a:prstGeom prst="rect">
            <a:avLst/>
          </a:prstGeom>
          <a:noFill/>
        </p:spPr>
        <p:txBody>
          <a:bodyPr wrap="square" lIns="0" rIns="0" tIns="0" bIns="0" anchor="t">
            <a:spAutoFit/>
          </a:bodyPr>
          <a:lstStyle/>
          <a:p>
            <a:pPr algn="l"/>
            <a:r>
              <a:rPr sz="1050" b="1" i="0">
                <a:solidFill>
                  <a:srgbClr val="4285F4"/>
                </a:solidFill>
                <a:latin typeface="Arial"/>
              </a:rPr>
              <a:t>The problem</a:t>
            </a:r>
          </a:p>
        </p:txBody>
      </p:sp>
      <p:sp>
        <p:nvSpPr>
          <p:cNvPr id="62" name="TextBox 61"/>
          <p:cNvSpPr txBox="1"/>
          <p:nvPr/>
        </p:nvSpPr>
        <p:spPr>
          <a:xfrm>
            <a:off x="310896" y="1389888"/>
            <a:ext cx="3977639" cy="3383280"/>
          </a:xfrm>
          <a:prstGeom prst="rect">
            <a:avLst/>
          </a:prstGeom>
          <a:noFill/>
        </p:spPr>
        <p:txBody>
          <a:bodyPr wrap="square" lIns="0" rIns="0" tIns="0" bIns="0">
            <a:spAutoFit/>
          </a:bodyPr>
          <a:lstStyle/>
          <a:p>
            <a:pPr marL="164592" indent="-164592">
              <a:lnSpc>
                <a:spcPct val="108000"/>
              </a:lnSpc>
              <a:spcAft>
                <a:spcPts val="700"/>
              </a:spcAft>
              <a:buClr>
                <a:srgbClr val="4285F4"/>
              </a:buClr>
              <a:buFont typeface="Arial"/>
              <a:buChar char="•"/>
            </a:pPr>
            <a:r>
              <a:rPr sz="1050" b="1" i="0">
                <a:solidFill>
                  <a:srgbClr val="212121"/>
                </a:solidFill>
                <a:latin typeface="Arial"/>
              </a:rPr>
              <a:t>One core per file. </a:t>
            </a:r>
            <a:r>
              <a:rPr sz="1050" b="0" i="0">
                <a:solidFill>
                  <a:srgbClr val="595959"/>
                </a:solidFill>
                <a:latin typeface="Arial"/>
              </a:rPr>
              <a:t>zlib and pigz decode a .gz on one core, however many the machine has.</a:t>
            </a:r>
          </a:p>
          <a:p>
            <a:pPr marL="164592" indent="-164592">
              <a:lnSpc>
                <a:spcPct val="108000"/>
              </a:lnSpc>
              <a:spcAft>
                <a:spcPts val="700"/>
              </a:spcAft>
              <a:buClr>
                <a:srgbClr val="4285F4"/>
              </a:buClr>
              <a:buFont typeface="Arial"/>
              <a:buChar char="•"/>
            </a:pPr>
            <a:r>
              <a:rPr sz="1050" b="1" i="0">
                <a:solidFill>
                  <a:srgbClr val="212121"/>
                </a:solidFill>
                <a:latin typeface="Arial"/>
              </a:rPr>
              <a:t>Why: </a:t>
            </a:r>
            <a:r>
              <a:rPr sz="1050" b="0" i="0">
                <a:solidFill>
                  <a:srgbClr val="595959"/>
                </a:solidFill>
                <a:latin typeface="Arial"/>
              </a:rPr>
              <a:t>blocks have no index and are not byte-aligned, and back-references copy up to 32 KiB of earlier output.</a:t>
            </a:r>
          </a:p>
          <a:p>
            <a:pPr marL="164592" indent="-164592">
              <a:lnSpc>
                <a:spcPct val="108000"/>
              </a:lnSpc>
              <a:spcAft>
                <a:spcPts val="700"/>
              </a:spcAft>
              <a:buClr>
                <a:srgbClr val="4285F4"/>
              </a:buClr>
              <a:buFont typeface="Arial"/>
              <a:buChar char="•"/>
            </a:pPr>
            <a:r>
              <a:rPr sz="1050" b="1" i="0">
                <a:solidFill>
                  <a:srgbClr val="212121"/>
                </a:solidFill>
                <a:latin typeface="Arial"/>
              </a:rPr>
              <a:t>The state of the art leaves a serial step. </a:t>
            </a:r>
            <a:r>
              <a:rPr sz="1050" b="0" i="0">
                <a:solidFill>
                  <a:srgbClr val="595959"/>
                </a:solidFill>
                <a:latin typeface="Arial"/>
              </a:rPr>
              <a:t>rapidgzip (HPDC '23) decodes chunks in parallel but resolves the windows between them one by one, and states this cannot be parallelised.</a:t>
            </a:r>
          </a:p>
          <a:p>
            <a:pPr marL="164592" indent="-164592">
              <a:lnSpc>
                <a:spcPct val="108000"/>
              </a:lnSpc>
              <a:spcAft>
                <a:spcPts val="700"/>
              </a:spcAft>
              <a:buClr>
                <a:srgbClr val="4285F4"/>
              </a:buClr>
              <a:buFont typeface="Arial"/>
              <a:buChar char="•"/>
            </a:pPr>
            <a:r>
              <a:rPr sz="1050" b="1" i="0">
                <a:solidFill>
                  <a:srgbClr val="212121"/>
                </a:solidFill>
                <a:latin typeface="Arial"/>
              </a:rPr>
              <a:t>Our aim: </a:t>
            </a:r>
            <a:r>
              <a:rPr sz="1050" b="0" i="0">
                <a:solidFill>
                  <a:srgbClr val="595959"/>
                </a:solidFill>
                <a:latin typeface="Arial"/>
              </a:rPr>
              <a:t>parallelise that step and the handling of oversized chunks, output byte-identical to zlib.</a:t>
            </a:r>
          </a:p>
        </p:txBody>
      </p:sp>
      <p:sp>
        <p:nvSpPr>
          <p:cNvPr id="63" name="TextBox 62"/>
          <p:cNvSpPr txBox="1"/>
          <p:nvPr/>
        </p:nvSpPr>
        <p:spPr>
          <a:xfrm>
            <a:off x="4526280" y="1115568"/>
            <a:ext cx="4306824" cy="219456"/>
          </a:xfrm>
          <a:prstGeom prst="rect">
            <a:avLst/>
          </a:prstGeom>
          <a:noFill/>
        </p:spPr>
        <p:txBody>
          <a:bodyPr wrap="square" lIns="0" rIns="0" tIns="0" bIns="0" anchor="t">
            <a:spAutoFit/>
          </a:bodyPr>
          <a:lstStyle/>
          <a:p>
            <a:pPr algn="l"/>
            <a:r>
              <a:rPr sz="1050" b="1" i="0">
                <a:solidFill>
                  <a:srgbClr val="4285F4"/>
                </a:solidFill>
                <a:latin typeface="Arial"/>
              </a:rPr>
              <a:t>Stakeholders and how they benefit</a:t>
            </a:r>
          </a:p>
        </p:txBody>
      </p:sp>
      <p:graphicFrame>
        <p:nvGraphicFramePr>
          <p:cNvPr id="64" name="Table 63"/>
          <p:cNvGraphicFramePr>
            <a:graphicFrameLocks noGrp="1"/>
          </p:cNvGraphicFramePr>
          <p:nvPr/>
        </p:nvGraphicFramePr>
        <p:xfrm>
          <a:off x="4526280" y="1389888"/>
          <a:ext cx="4306824" cy="2286000"/>
        </p:xfrm>
        <a:graphic>
          <a:graphicData uri="http://schemas.openxmlformats.org/drawingml/2006/table">
            <a:tbl>
              <a:tblPr firstRow="1"/>
              <a:tblGrid>
                <a:gridCol w="1371600"/>
                <a:gridCol w="2935224"/>
              </a:tblGrid>
              <a:tr h="457200">
                <a:tc>
                  <a:txBody>
                    <a:bodyPr wrap="square"/>
                    <a:lstStyle/>
                    <a:p>
                      <a:pPr algn="l"/>
                      <a:r>
                        <a:rPr sz="900" b="1" i="0">
                          <a:solidFill>
                            <a:srgbClr val="FFFFFF"/>
                          </a:solidFill>
                          <a:latin typeface="Arial"/>
                        </a:rPr>
                        <a:t>Stakeholder</a:t>
                      </a:r>
                    </a:p>
                  </a:txBody>
                  <a:tcPr marL="54864" marR="54864" marT="18288" marB="18288" anchor="ctr">
                    <a:solidFill>
                      <a:srgbClr val="4285F4"/>
                    </a:solidFill>
                  </a:tcPr>
                </a:tc>
                <a:tc>
                  <a:txBody>
                    <a:bodyPr wrap="square"/>
                    <a:lstStyle/>
                    <a:p>
                      <a:pPr algn="l"/>
                      <a:r>
                        <a:rPr sz="900" b="1" i="0">
                          <a:solidFill>
                            <a:srgbClr val="FFFFFF"/>
                          </a:solidFill>
                          <a:latin typeface="Arial"/>
                        </a:rPr>
                        <a:t>Benefit</a:t>
                      </a:r>
                    </a:p>
                  </a:txBody>
                  <a:tcPr marL="54864" marR="54864" marT="18288" marB="18288" anchor="ctr">
                    <a:solidFill>
                      <a:srgbClr val="4285F4"/>
                    </a:solidFill>
                  </a:tcPr>
                </a:tc>
              </a:tr>
              <a:tr h="457200">
                <a:tc>
                  <a:txBody>
                    <a:bodyPr wrap="square"/>
                    <a:lstStyle/>
                    <a:p>
                      <a:pPr algn="l"/>
                      <a:r>
                        <a:rPr sz="900" b="0" i="0">
                          <a:solidFill>
                            <a:srgbClr val="595959"/>
                          </a:solidFill>
                          <a:latin typeface="Arial"/>
                        </a:rPr>
                        <a:t>Bioinformatics labs</a:t>
                      </a:r>
                    </a:p>
                  </a:txBody>
                  <a:tcPr marL="54864" marR="54864" marT="18288" marB="18288" anchor="ctr">
                    <a:solidFill>
                      <a:srgbClr val="FFFFFF"/>
                    </a:solidFill>
                  </a:tcPr>
                </a:tc>
                <a:tc>
                  <a:txBody>
                    <a:bodyPr wrap="square"/>
                    <a:lstStyle/>
                    <a:p>
                      <a:pPr algn="l"/>
                      <a:r>
                        <a:rPr sz="900" b="0" i="0">
                          <a:solidFill>
                            <a:srgbClr val="595959"/>
                          </a:solidFill>
                          <a:latin typeface="Arial"/>
                        </a:rPr>
                        <a:t>Archived .fastq.gz re-analysed without a one-thread bottleneck</a:t>
                      </a:r>
                    </a:p>
                  </a:txBody>
                  <a:tcPr marL="54864" marR="54864" marT="18288" marB="18288" anchor="ctr">
                    <a:solidFill>
                      <a:srgbClr val="FFFFFF"/>
                    </a:solidFill>
                  </a:tcPr>
                </a:tc>
              </a:tr>
              <a:tr h="457200">
                <a:tc>
                  <a:txBody>
                    <a:bodyPr wrap="square"/>
                    <a:lstStyle/>
                    <a:p>
                      <a:pPr algn="l"/>
                      <a:r>
                        <a:rPr sz="900" b="0" i="0">
                          <a:solidFill>
                            <a:srgbClr val="595959"/>
                          </a:solidFill>
                          <a:latin typeface="Arial"/>
                        </a:rPr>
                        <a:t>Data engineers</a:t>
                      </a:r>
                    </a:p>
                  </a:txBody>
                  <a:tcPr marL="54864" marR="54864" marT="18288" marB="18288" anchor="ctr">
                    <a:solidFill>
                      <a:srgbClr val="F1F3F4"/>
                    </a:solidFill>
                  </a:tcPr>
                </a:tc>
                <a:tc>
                  <a:txBody>
                    <a:bodyPr wrap="square"/>
                    <a:lstStyle/>
                    <a:p>
                      <a:pPr algn="l"/>
                      <a:r>
                        <a:rPr sz="900" b="0" i="0">
                          <a:solidFill>
                            <a:srgbClr val="595959"/>
                          </a:solidFill>
                          <a:latin typeface="Arial"/>
                        </a:rPr>
                        <a:t>Gzipped logs, CSV and JSON read at multi-core speed, no re-encoding</a:t>
                      </a:r>
                    </a:p>
                  </a:txBody>
                  <a:tcPr marL="54864" marR="54864" marT="18288" marB="18288" anchor="ctr">
                    <a:solidFill>
                      <a:srgbClr val="F1F3F4"/>
                    </a:solidFill>
                  </a:tcPr>
                </a:tc>
              </a:tr>
              <a:tr h="457200">
                <a:tc>
                  <a:txBody>
                    <a:bodyPr wrap="square"/>
                    <a:lstStyle/>
                    <a:p>
                      <a:pPr algn="l"/>
                      <a:r>
                        <a:rPr sz="900" b="0" i="0">
                          <a:solidFill>
                            <a:srgbClr val="595959"/>
                          </a:solidFill>
                          <a:latin typeface="Arial"/>
                        </a:rPr>
                        <a:t>DevOps / CI teams</a:t>
                      </a:r>
                    </a:p>
                  </a:txBody>
                  <a:tcPr marL="54864" marR="54864" marT="18288" marB="18288" anchor="ctr">
                    <a:solidFill>
                      <a:srgbClr val="FFFFFF"/>
                    </a:solidFill>
                  </a:tcPr>
                </a:tc>
                <a:tc>
                  <a:txBody>
                    <a:bodyPr wrap="square"/>
                    <a:lstStyle/>
                    <a:p>
                      <a:pPr algn="l"/>
                      <a:r>
                        <a:rPr sz="900" b="0" i="0">
                          <a:solidFill>
                            <a:srgbClr val="595959"/>
                          </a:solidFill>
                          <a:latin typeface="Arial"/>
                        </a:rPr>
                        <a:t>Faster extraction of release tarballs and container layers</a:t>
                      </a:r>
                    </a:p>
                  </a:txBody>
                  <a:tcPr marL="54864" marR="54864" marT="18288" marB="18288" anchor="ctr">
                    <a:solidFill>
                      <a:srgbClr val="FFFFFF"/>
                    </a:solidFill>
                  </a:tcPr>
                </a:tc>
              </a:tr>
              <a:tr h="457200">
                <a:tc>
                  <a:txBody>
                    <a:bodyPr wrap="square"/>
                    <a:lstStyle/>
                    <a:p>
                      <a:pPr algn="l"/>
                      <a:r>
                        <a:rPr sz="900" b="0" i="0">
                          <a:solidFill>
                            <a:srgbClr val="595959"/>
                          </a:solidFill>
                          <a:latin typeface="Arial"/>
                        </a:rPr>
                        <a:t>Archive hosts</a:t>
                      </a:r>
                    </a:p>
                  </a:txBody>
                  <a:tcPr marL="54864" marR="54864" marT="18288" marB="18288" anchor="ctr">
                    <a:solidFill>
                      <a:srgbClr val="F1F3F4"/>
                    </a:solidFill>
                  </a:tcPr>
                </a:tc>
                <a:tc>
                  <a:txBody>
                    <a:bodyPr wrap="square"/>
                    <a:lstStyle/>
                    <a:p>
                      <a:pPr algn="l"/>
                      <a:r>
                        <a:rPr sz="900" b="0" i="0">
                          <a:solidFill>
                            <a:srgbClr val="595959"/>
                          </a:solidFill>
                          <a:latin typeface="Arial"/>
                        </a:rPr>
                        <a:t>Existing .gz data stays as it is; no migration</a:t>
                      </a:r>
                    </a:p>
                  </a:txBody>
                  <a:tcPr marL="54864" marR="54864" marT="18288" marB="18288" anchor="ctr">
                    <a:solidFill>
                      <a:srgbClr val="F1F3F4"/>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sz="2800"/>
              <a:t>Methodology Block Diagram</a:t>
            </a:r>
            <a:endParaRPr/>
          </a:p>
        </p:txBody>
      </p:sp>
      <p:sp>
        <p:nvSpPr>
          <p:cNvPr id="67" name="Rounded Rectangle 66"/>
          <p:cNvSpPr/>
          <p:nvPr/>
        </p:nvSpPr>
        <p:spPr>
          <a:xfrm>
            <a:off x="310896" y="1097280"/>
            <a:ext cx="1444752" cy="713232"/>
          </a:xfrm>
          <a:prstGeom prst="roundRect">
            <a:avLst>
              <a:gd name="adj" fmla="val 12000"/>
            </a:avLst>
          </a:prstGeom>
          <a:solidFill>
            <a:srgbClr val="FFFFFF"/>
          </a:solidFill>
          <a:ln w="12700">
            <a:solidFill>
              <a:srgbClr val="7890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.gz file</a:t>
            </a:r>
          </a:p>
          <a:p>
            <a:pPr algn="ctr"/>
            <a:r>
              <a:rPr sz="900" b="1" i="0">
                <a:solidFill>
                  <a:srgbClr val="212121"/>
                </a:solidFill>
                <a:latin typeface="Arial"/>
              </a:rPr>
              <a:t>(memory-mapped)</a:t>
            </a:r>
          </a:p>
        </p:txBody>
      </p:sp>
      <p:sp>
        <p:nvSpPr>
          <p:cNvPr id="68" name="Rounded Rectangle 67"/>
          <p:cNvSpPr/>
          <p:nvPr/>
        </p:nvSpPr>
        <p:spPr>
          <a:xfrm>
            <a:off x="2080260" y="1097280"/>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1. Partition</a:t>
            </a:r>
          </a:p>
          <a:p>
            <a:pPr algn="ctr"/>
            <a:r>
              <a:rPr sz="900" b="1" i="0">
                <a:solidFill>
                  <a:srgbClr val="212121"/>
                </a:solidFill>
                <a:latin typeface="Arial"/>
              </a:rPr>
              <a:t>into chunks</a:t>
            </a:r>
          </a:p>
        </p:txBody>
      </p:sp>
      <p:sp>
        <p:nvSpPr>
          <p:cNvPr id="69" name="Rounded Rectangle 68"/>
          <p:cNvSpPr/>
          <p:nvPr/>
        </p:nvSpPr>
        <p:spPr>
          <a:xfrm>
            <a:off x="3849624" y="1097280"/>
            <a:ext cx="1444752" cy="713232"/>
          </a:xfrm>
          <a:prstGeom prst="roundRect">
            <a:avLst>
              <a:gd name="adj" fmla="val 12000"/>
            </a:avLst>
          </a:prstGeom>
          <a:solidFill>
            <a:srgbClr val="FFF4E5"/>
          </a:solidFill>
          <a:ln w="285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2. Speculative decode</a:t>
            </a:r>
          </a:p>
          <a:p>
            <a:pPr algn="ctr"/>
            <a:r>
              <a:rPr sz="900" b="1" i="0">
                <a:solidFill>
                  <a:srgbClr val="212121"/>
                </a:solidFill>
                <a:latin typeface="Arial"/>
              </a:rPr>
              <a:t>with markers</a:t>
            </a:r>
          </a:p>
          <a:p>
            <a:pPr algn="ctr"/>
            <a:r>
              <a:rPr sz="800" b="1" i="0">
                <a:solidFill>
                  <a:srgbClr val="B06000"/>
                </a:solidFill>
                <a:latin typeface="Arial"/>
              </a:rPr>
              <a:t>M1 · split on overflow</a:t>
            </a:r>
          </a:p>
        </p:txBody>
      </p:sp>
      <p:sp>
        <p:nvSpPr>
          <p:cNvPr id="70" name="Rounded Rectangle 69"/>
          <p:cNvSpPr/>
          <p:nvPr/>
        </p:nvSpPr>
        <p:spPr>
          <a:xfrm>
            <a:off x="5618988" y="1097280"/>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3. Chain linking</a:t>
            </a:r>
          </a:p>
          <a:p>
            <a:pPr algn="ctr"/>
            <a:r>
              <a:rPr sz="900" b="1" i="0">
                <a:solidFill>
                  <a:srgbClr val="212121"/>
                </a:solidFill>
                <a:latin typeface="Arial"/>
              </a:rPr>
              <a:t>(follow block ends)</a:t>
            </a:r>
          </a:p>
        </p:txBody>
      </p:sp>
      <p:sp>
        <p:nvSpPr>
          <p:cNvPr id="71" name="Rounded Rectangle 70"/>
          <p:cNvSpPr/>
          <p:nvPr/>
        </p:nvSpPr>
        <p:spPr>
          <a:xfrm>
            <a:off x="7388352" y="1097280"/>
            <a:ext cx="1444752" cy="713232"/>
          </a:xfrm>
          <a:prstGeom prst="roundRect">
            <a:avLst>
              <a:gd name="adj" fmla="val 12000"/>
            </a:avLst>
          </a:prstGeom>
          <a:solidFill>
            <a:srgbClr val="FFF4E5"/>
          </a:solidFill>
          <a:ln w="285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4. Window resolution</a:t>
            </a:r>
          </a:p>
          <a:p>
            <a:pPr algn="ctr"/>
            <a:r>
              <a:rPr sz="900" b="1" i="0">
                <a:solidFill>
                  <a:srgbClr val="212121"/>
                </a:solidFill>
                <a:latin typeface="Arial"/>
              </a:rPr>
              <a:t>by prefix scan</a:t>
            </a:r>
          </a:p>
          <a:p>
            <a:pPr algn="ctr"/>
            <a:r>
              <a:rPr sz="800" b="1" i="0">
                <a:solidFill>
                  <a:srgbClr val="B06000"/>
                </a:solidFill>
                <a:latin typeface="Arial"/>
              </a:rPr>
              <a:t>M3 · primary</a:t>
            </a:r>
          </a:p>
        </p:txBody>
      </p:sp>
      <p:sp>
        <p:nvSpPr>
          <p:cNvPr id="72" name="Rounded Rectangle 71"/>
          <p:cNvSpPr/>
          <p:nvPr/>
        </p:nvSpPr>
        <p:spPr>
          <a:xfrm>
            <a:off x="7388352" y="2267712"/>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5. Marker replace-</a:t>
            </a:r>
          </a:p>
          <a:p>
            <a:pPr algn="ctr"/>
            <a:r>
              <a:rPr sz="900" b="1" i="0">
                <a:solidFill>
                  <a:srgbClr val="212121"/>
                </a:solidFill>
                <a:latin typeface="Arial"/>
              </a:rPr>
              <a:t>ment, assembly</a:t>
            </a:r>
          </a:p>
        </p:txBody>
      </p:sp>
      <p:sp>
        <p:nvSpPr>
          <p:cNvPr id="73" name="Rounded Rectangle 72"/>
          <p:cNvSpPr/>
          <p:nvPr/>
        </p:nvSpPr>
        <p:spPr>
          <a:xfrm>
            <a:off x="5618988" y="2267712"/>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6. CRC-32 per block,</a:t>
            </a:r>
          </a:p>
          <a:p>
            <a:pPr algn="ctr"/>
            <a:r>
              <a:rPr sz="900" b="1" i="0">
                <a:solidFill>
                  <a:srgbClr val="212121"/>
                </a:solidFill>
                <a:latin typeface="Arial"/>
              </a:rPr>
              <a:t>combined</a:t>
            </a:r>
          </a:p>
        </p:txBody>
      </p:sp>
      <p:sp>
        <p:nvSpPr>
          <p:cNvPr id="74" name="Rounded Rectangle 73"/>
          <p:cNvSpPr/>
          <p:nvPr/>
        </p:nvSpPr>
        <p:spPr>
          <a:xfrm>
            <a:off x="3849624" y="2267712"/>
            <a:ext cx="1444752" cy="713232"/>
          </a:xfrm>
          <a:prstGeom prst="roundRect">
            <a:avLst>
              <a:gd name="adj" fmla="val 12000"/>
            </a:avLst>
          </a:prstGeom>
          <a:solidFill>
            <a:srgbClr val="FFFFFF"/>
          </a:solidFill>
          <a:ln w="12700">
            <a:solidFill>
              <a:srgbClr val="7890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Output identical</a:t>
            </a:r>
          </a:p>
          <a:p>
            <a:pPr algn="ctr"/>
            <a:r>
              <a:rPr sz="900" b="1" i="0">
                <a:solidFill>
                  <a:srgbClr val="212121"/>
                </a:solidFill>
                <a:latin typeface="Arial"/>
              </a:rPr>
              <a:t>to zlib</a:t>
            </a:r>
          </a:p>
        </p:txBody>
      </p:sp>
      <p:sp>
        <p:nvSpPr>
          <p:cNvPr id="75" name="Rounded Rectangle 74"/>
          <p:cNvSpPr/>
          <p:nvPr/>
        </p:nvSpPr>
        <p:spPr>
          <a:xfrm>
            <a:off x="310896" y="2267712"/>
            <a:ext cx="3214116" cy="713232"/>
          </a:xfrm>
          <a:prstGeom prst="roundRect">
            <a:avLst>
              <a:gd name="adj" fmla="val 12000"/>
            </a:avLst>
          </a:prstGeom>
          <a:solidFill>
            <a:srgbClr val="F1F3F4"/>
          </a:solidFill>
          <a:ln w="12700">
            <a:solidFill>
              <a:srgbClr val="7890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Work-stealing thread pool</a:t>
            </a:r>
          </a:p>
          <a:p>
            <a:pPr algn="ctr"/>
            <a:r>
              <a:rPr sz="900" b="1" i="0">
                <a:solidFill>
                  <a:srgbClr val="212121"/>
                </a:solidFill>
                <a:latin typeface="Arial"/>
              </a:rPr>
              <a:t>runs every stage except 3</a:t>
            </a:r>
          </a:p>
        </p:txBody>
      </p:sp>
      <p:cxnSp>
        <p:nvCxnSpPr>
          <p:cNvPr id="76" name="Connector 75"/>
          <p:cNvCxnSpPr/>
          <p:nvPr/>
        </p:nvCxnSpPr>
        <p:spPr>
          <a:xfrm>
            <a:off x="1755648" y="1453895"/>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525012" y="1453895"/>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294376" y="1453895"/>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3740" y="1453895"/>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110728" y="1810512"/>
            <a:ext cx="0" cy="4572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7063740" y="2624328"/>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5294376" y="2624328"/>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10896" y="3108960"/>
            <a:ext cx="8522208" cy="219456"/>
          </a:xfrm>
          <a:prstGeom prst="rect">
            <a:avLst/>
          </a:prstGeom>
          <a:noFill/>
        </p:spPr>
        <p:txBody>
          <a:bodyPr wrap="square" lIns="0" rIns="0" tIns="0" bIns="0" anchor="t">
            <a:spAutoFit/>
          </a:bodyPr>
          <a:lstStyle/>
          <a:p>
            <a:pPr algn="l"/>
            <a:r>
              <a:rPr sz="1050" b="1" i="0">
                <a:solidFill>
                  <a:srgbClr val="212121"/>
                </a:solidFill>
                <a:latin typeface="Arial"/>
              </a:rPr>
              <a:t>How this differs from the base paper: rapidgzip (Knespel &amp; Brunst, HPDC '23)</a:t>
            </a:r>
          </a:p>
        </p:txBody>
      </p:sp>
      <p:sp>
        <p:nvSpPr>
          <p:cNvPr id="84" name="Rounded Rectangle 83"/>
          <p:cNvSpPr/>
          <p:nvPr/>
        </p:nvSpPr>
        <p:spPr>
          <a:xfrm>
            <a:off x="310896" y="3401568"/>
            <a:ext cx="2731008" cy="11155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M3 · Window resolution (primary)</a:t>
            </a:r>
          </a:p>
          <a:p>
            <a:pPr algn="l"/>
            <a:r>
              <a:rPr sz="850" b="0" i="0">
                <a:solidFill>
                  <a:srgbClr val="595959"/>
                </a:solidFill>
                <a:latin typeface="Arial"/>
              </a:rPr>
              <a:t>Base paper: windows resolved one chunk after another; stated to be unparallelisable.</a:t>
            </a:r>
          </a:p>
          <a:p>
            <a:pPr algn="l"/>
            <a:r>
              <a:rPr sz="850" b="1" i="0">
                <a:solidFill>
                  <a:srgbClr val="4285F4"/>
                </a:solidFill>
                <a:latin typeface="Arial"/>
              </a:rPr>
              <a:t>Ours: maps compose associatively → blocked prefix scan, 2.9–3.9× faster.</a:t>
            </a:r>
          </a:p>
        </p:txBody>
      </p:sp>
      <p:sp>
        <p:nvSpPr>
          <p:cNvPr id="85" name="Rounded Rectangle 84"/>
          <p:cNvSpPr/>
          <p:nvPr/>
        </p:nvSpPr>
        <p:spPr>
          <a:xfrm>
            <a:off x="3206496" y="3401568"/>
            <a:ext cx="2731008" cy="11155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M1 · Oversized chunks</a:t>
            </a:r>
          </a:p>
          <a:p>
            <a:pPr algn="l"/>
            <a:r>
              <a:rPr sz="850" b="0" i="0">
                <a:solidFill>
                  <a:srgbClr val="595959"/>
                </a:solidFill>
                <a:latin typeface="Arial"/>
              </a:rPr>
              <a:t>Base paper's software: the rest of a chunk past its output budget is decoded on one thread.</a:t>
            </a:r>
          </a:p>
          <a:p>
            <a:pPr algn="l"/>
            <a:r>
              <a:rPr sz="850" b="1" i="0">
                <a:solidFill>
                  <a:srgbClr val="4285F4"/>
                </a:solidFill>
                <a:latin typeface="Arial"/>
              </a:rPr>
              <a:t>Ours: split across idle workers; λ 5.6 → 1.3 when chunks are few.</a:t>
            </a:r>
          </a:p>
        </p:txBody>
      </p:sp>
      <p:sp>
        <p:nvSpPr>
          <p:cNvPr id="86" name="Rounded Rectangle 85"/>
          <p:cNvSpPr/>
          <p:nvPr/>
        </p:nvSpPr>
        <p:spPr>
          <a:xfrm>
            <a:off x="6102096" y="3401568"/>
            <a:ext cx="2731008" cy="11155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Built from scratch</a:t>
            </a:r>
          </a:p>
          <a:p>
            <a:pPr algn="l"/>
            <a:r>
              <a:rPr sz="850" b="0" i="0">
                <a:solidFill>
                  <a:srgbClr val="595959"/>
                </a:solidFill>
                <a:latin typeface="Arial"/>
              </a:rPr>
              <a:t>Inflate, block finder, work-stealing pool, 3 parallel scans, parallel CRC-32: ~5 300 lines of C++20.</a:t>
            </a:r>
          </a:p>
          <a:p>
            <a:pPr algn="l"/>
            <a:r>
              <a:rPr sz="850" b="1" i="0">
                <a:solidFill>
                  <a:srgbClr val="4285F4"/>
                </a:solidFill>
                <a:latin typeface="Arial"/>
              </a:rPr>
              <a:t>44 tests, sanitizer-clean, byte-identical to zlib in 1 200 of 1 200 runs.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sz="2200"/>
              <a:t>Results and Analysis (1/3): Correctness and Scaling</a:t>
            </a:r>
            <a:endParaRPr/>
          </a:p>
        </p:txBody>
      </p:sp>
      <p:graphicFrame>
        <p:nvGraphicFramePr>
          <p:cNvPr id="73" name="Chart 72"/>
          <p:cNvGraphicFramePr>
            <a:graphicFrameLocks noGrp="1"/>
          </p:cNvGraphicFramePr>
          <p:nvPr/>
        </p:nvGraphicFramePr>
        <p:xfrm>
          <a:off x="310896" y="1024128"/>
          <a:ext cx="4892040" cy="3246120"/>
        </p:xfrm>
        <a:graphic>
          <a:graphicData uri="http://schemas.openxmlformats.org/drawingml/2006/chart">
            <c:chart r:id="rId3"/>
          </a:graphicData>
        </a:graphic>
      </p:graphicFrame>
      <p:sp>
        <p:nvSpPr>
          <p:cNvPr id="74" name="TextBox 73"/>
          <p:cNvSpPr txBox="1"/>
          <p:nvPr/>
        </p:nvSpPr>
        <p:spPr>
          <a:xfrm>
            <a:off x="310896" y="4297680"/>
            <a:ext cx="4892040" cy="457200"/>
          </a:xfrm>
          <a:prstGeom prst="rect">
            <a:avLst/>
          </a:prstGeom>
          <a:noFill/>
        </p:spPr>
        <p:txBody>
          <a:bodyPr wrap="square" lIns="0" rIns="0" tIns="0" bIns="0" anchor="t">
            <a:spAutoFit/>
          </a:bodyPr>
          <a:lstStyle/>
          <a:p>
            <a:pPr algn="l"/>
            <a:r>
              <a:rPr sz="800" b="0" i="1">
                <a:solidFill>
                  <a:srgbClr val="78909C"/>
                </a:solidFill>
                <a:latin typeface="Arial"/>
              </a:rPr>
              <a:t>Apple M4: 4 performance + 6 efficiency cores. Medians of 10 runs, interleaved across configurations. Logs: zlib reaches 6.04 GB/s (off the chart).</a:t>
            </a:r>
          </a:p>
        </p:txBody>
      </p:sp>
      <p:sp>
        <p:nvSpPr>
          <p:cNvPr id="75" name="Rounded Rectangle 74"/>
          <p:cNvSpPr/>
          <p:nvPr/>
        </p:nvSpPr>
        <p:spPr>
          <a:xfrm>
            <a:off x="5394960" y="1051560"/>
            <a:ext cx="3438144" cy="6583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4285F4"/>
                </a:solidFill>
                <a:latin typeface="Arial"/>
              </a:rPr>
              <a:t>1,200 / 1,200</a:t>
            </a:r>
          </a:p>
          <a:p>
            <a:pPr algn="ctr"/>
            <a:r>
              <a:rPr sz="850" b="0" i="0">
                <a:solidFill>
                  <a:srgbClr val="595959"/>
                </a:solidFill>
                <a:latin typeface="Arial"/>
              </a:rPr>
              <a:t>timed runs byte-identical to zlib</a:t>
            </a:r>
          </a:p>
        </p:txBody>
      </p:sp>
      <p:sp>
        <p:nvSpPr>
          <p:cNvPr id="76" name="Rounded Rectangle 75"/>
          <p:cNvSpPr/>
          <p:nvPr/>
        </p:nvSpPr>
        <p:spPr>
          <a:xfrm>
            <a:off x="5394960" y="1801367"/>
            <a:ext cx="3438144" cy="6583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4285F4"/>
                </a:solidFill>
                <a:latin typeface="Arial"/>
              </a:rPr>
              <a:t>3.01 GB/s</a:t>
            </a:r>
          </a:p>
          <a:p>
            <a:pPr algn="ctr"/>
            <a:r>
              <a:rPr sz="850" b="0" i="0">
                <a:solidFill>
                  <a:srgbClr val="595959"/>
                </a:solidFill>
                <a:latin typeface="Arial"/>
              </a:rPr>
              <a:t>Silesia ×5, 10 threads: 2.5× zlib, 4.4× our sequential decoder</a:t>
            </a:r>
          </a:p>
        </p:txBody>
      </p:sp>
      <p:sp>
        <p:nvSpPr>
          <p:cNvPr id="77" name="Rounded Rectangle 76"/>
          <p:cNvSpPr/>
          <p:nvPr/>
        </p:nvSpPr>
        <p:spPr>
          <a:xfrm>
            <a:off x="5394960" y="2551176"/>
            <a:ext cx="3438144" cy="658368"/>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4285F4"/>
                </a:solidFill>
                <a:latin typeface="Arial"/>
              </a:rPr>
              <a:t>2.1×</a:t>
            </a:r>
          </a:p>
          <a:p>
            <a:pPr algn="ctr"/>
            <a:r>
              <a:rPr sz="850" b="0" i="0">
                <a:solidFill>
                  <a:srgbClr val="595959"/>
                </a:solidFill>
                <a:latin typeface="Arial"/>
              </a:rPr>
              <a:t>faster than zlib on the Silesia corpus (the base paper's benchmark)</a:t>
            </a:r>
          </a:p>
        </p:txBody>
      </p:sp>
      <p:sp>
        <p:nvSpPr>
          <p:cNvPr id="78" name="TextBox 77"/>
          <p:cNvSpPr txBox="1"/>
          <p:nvPr/>
        </p:nvSpPr>
        <p:spPr>
          <a:xfrm>
            <a:off x="5394960" y="3355848"/>
            <a:ext cx="3438144" cy="1463040"/>
          </a:xfrm>
          <a:prstGeom prst="rect">
            <a:avLst/>
          </a:prstGeom>
          <a:noFill/>
        </p:spPr>
        <p:txBody>
          <a:bodyPr wrap="square" lIns="0" rIns="0" tIns="0" bIns="0">
            <a:spAutoFit/>
          </a:bodyPr>
          <a:lstStyle/>
          <a:p>
            <a:pPr marL="164592" indent="-164592">
              <a:lnSpc>
                <a:spcPct val="108000"/>
              </a:lnSpc>
              <a:spcAft>
                <a:spcPts val="400"/>
              </a:spcAft>
              <a:buClr>
                <a:srgbClr val="4285F4"/>
              </a:buClr>
              <a:buFont typeface="Arial"/>
              <a:buChar char="•"/>
            </a:pPr>
            <a:r>
              <a:rPr sz="900" b="1" i="0">
                <a:solidFill>
                  <a:srgbClr val="212121"/>
                </a:solidFill>
                <a:latin typeface="Arial"/>
              </a:rPr>
              <a:t>Efficiency ≈ 0.3 at 10 threads: </a:t>
            </a:r>
            <a:r>
              <a:rPr sz="900" b="0" i="0">
                <a:solidFill>
                  <a:srgbClr val="595959"/>
                </a:solidFill>
                <a:latin typeface="Arial"/>
              </a:rPr>
              <a:t>efficiency cores are slower, and marker replacement adds work.</a:t>
            </a:r>
          </a:p>
          <a:p>
            <a:pPr marL="164592" indent="-164592">
              <a:lnSpc>
                <a:spcPct val="108000"/>
              </a:lnSpc>
              <a:spcAft>
                <a:spcPts val="400"/>
              </a:spcAft>
              <a:buClr>
                <a:srgbClr val="4285F4"/>
              </a:buClr>
              <a:buFont typeface="Arial"/>
              <a:buChar char="•"/>
            </a:pPr>
            <a:r>
              <a:rPr sz="900" b="1" i="0">
                <a:solidFill>
                  <a:srgbClr val="212121"/>
                </a:solidFill>
                <a:latin typeface="Arial"/>
              </a:rPr>
              <a:t>Logs (23×): </a:t>
            </a:r>
            <a:r>
              <a:rPr sz="900" b="0" i="0">
                <a:solidFill>
                  <a:srgbClr val="595959"/>
                </a:solidFill>
                <a:latin typeface="Arial"/>
              </a:rPr>
              <a:t>94% of output is markers; zlib, doing long copies, stays faster.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h4201240a44ad152a_0_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800"/>
              <a:t>What We Have Achieved</a:t>
            </a:r>
            <a:endParaRPr/>
          </a:p>
        </p:txBody>
      </p:sp>
      <p:sp>
        <p:nvSpPr>
          <p:cNvPr id="79" name="TextBox 78"/>
          <p:cNvSpPr txBox="1"/>
          <p:nvPr/>
        </p:nvSpPr>
        <p:spPr>
          <a:xfrm>
            <a:off x="310896" y="1115568"/>
            <a:ext cx="4114800" cy="219456"/>
          </a:xfrm>
          <a:prstGeom prst="rect">
            <a:avLst/>
          </a:prstGeom>
          <a:noFill/>
        </p:spPr>
        <p:txBody>
          <a:bodyPr wrap="square" lIns="0" rIns="0" tIns="0" bIns="0" anchor="t">
            <a:spAutoFit/>
          </a:bodyPr>
          <a:lstStyle/>
          <a:p>
            <a:pPr algn="l"/>
            <a:r>
              <a:rPr sz="1050" b="1" i="0">
                <a:solidFill>
                  <a:srgbClr val="4285F4"/>
                </a:solidFill>
                <a:latin typeface="Arial"/>
              </a:rPr>
              <a:t>Built and measured</a:t>
            </a:r>
          </a:p>
        </p:txBody>
      </p:sp>
      <p:sp>
        <p:nvSpPr>
          <p:cNvPr id="80" name="TextBox 79"/>
          <p:cNvSpPr txBox="1"/>
          <p:nvPr/>
        </p:nvSpPr>
        <p:spPr>
          <a:xfrm>
            <a:off x="310896" y="1389888"/>
            <a:ext cx="4114800" cy="3383280"/>
          </a:xfrm>
          <a:prstGeom prst="rect">
            <a:avLst/>
          </a:prstGeom>
          <a:noFill/>
        </p:spPr>
        <p:txBody>
          <a:bodyPr wrap="square" lIns="0" rIns="0" tIns="0" bIns="0">
            <a:spAutoFit/>
          </a:bodyPr>
          <a:lstStyle/>
          <a:p>
            <a:pPr marL="164592" indent="-164592">
              <a:lnSpc>
                <a:spcPct val="108000"/>
              </a:lnSpc>
              <a:spcAft>
                <a:spcPts val="500"/>
              </a:spcAft>
              <a:buClr>
                <a:srgbClr val="4285F4"/>
              </a:buClr>
              <a:buFont typeface="Arial"/>
              <a:buChar char="•"/>
            </a:pPr>
            <a:r>
              <a:rPr sz="950" b="1" i="0">
                <a:solidFill>
                  <a:srgbClr val="212121"/>
                </a:solidFill>
                <a:latin typeface="Arial"/>
              </a:rPr>
              <a:t>A complete parallel gzip decoder from scratch: </a:t>
            </a:r>
            <a:r>
              <a:rPr sz="950" b="0" i="0">
                <a:solidFill>
                  <a:srgbClr val="595959"/>
                </a:solidFill>
                <a:latin typeface="Arial"/>
              </a:rPr>
              <a:t>Huffman tables, inflate, block finder, work-stealing pool, three scans, parallel CRC-32.</a:t>
            </a:r>
          </a:p>
          <a:p>
            <a:pPr marL="164592" indent="-164592">
              <a:lnSpc>
                <a:spcPct val="108000"/>
              </a:lnSpc>
              <a:spcAft>
                <a:spcPts val="500"/>
              </a:spcAft>
              <a:buClr>
                <a:srgbClr val="4285F4"/>
              </a:buClr>
              <a:buFont typeface="Arial"/>
              <a:buChar char="•"/>
            </a:pPr>
            <a:r>
              <a:rPr sz="950" b="1" i="0">
                <a:solidFill>
                  <a:srgbClr val="212121"/>
                </a:solidFill>
                <a:latin typeface="Arial"/>
              </a:rPr>
              <a:t>M3 and M1 implemented and evaluated </a:t>
            </a:r>
            <a:r>
              <a:rPr sz="950" b="0" i="0">
                <a:solidFill>
                  <a:srgbClr val="595959"/>
                </a:solidFill>
                <a:latin typeface="Arial"/>
              </a:rPr>
              <a:t>on five datasets, 1 200 timed runs, with significance tests.</a:t>
            </a:r>
          </a:p>
          <a:p>
            <a:pPr marL="164592" indent="-164592">
              <a:lnSpc>
                <a:spcPct val="108000"/>
              </a:lnSpc>
              <a:spcAft>
                <a:spcPts val="500"/>
              </a:spcAft>
              <a:buClr>
                <a:srgbClr val="4285F4"/>
              </a:buClr>
              <a:buFont typeface="Arial"/>
              <a:buChar char="•"/>
            </a:pPr>
            <a:r>
              <a:rPr sz="950" b="1" i="0">
                <a:solidFill>
                  <a:srgbClr val="212121"/>
                </a:solidFill>
                <a:latin typeface="Arial"/>
              </a:rPr>
              <a:t>Hard problems solved: </a:t>
            </a:r>
            <a:r>
              <a:rPr sz="950" b="0" i="0">
                <a:solidFill>
                  <a:srgbClr val="595959"/>
                </a:solidFill>
                <a:latin typeface="Arial"/>
              </a:rPr>
              <a:t>a task-group race, a hang on truncated input, a block search crawling through stored data, peak memory 7× → under 3× the output.</a:t>
            </a:r>
          </a:p>
          <a:p>
            <a:pPr marL="164592" indent="-164592">
              <a:lnSpc>
                <a:spcPct val="108000"/>
              </a:lnSpc>
              <a:spcAft>
                <a:spcPts val="500"/>
              </a:spcAft>
              <a:buClr>
                <a:srgbClr val="4285F4"/>
              </a:buClr>
              <a:buFont typeface="Arial"/>
              <a:buChar char="•"/>
            </a:pPr>
            <a:r>
              <a:rPr sz="950" b="1" i="0">
                <a:solidFill>
                  <a:srgbClr val="212121"/>
                </a:solidFill>
                <a:latin typeface="Arial"/>
              </a:rPr>
              <a:t>Benchmarked against the base paper's software: </a:t>
            </a:r>
            <a:r>
              <a:rPr sz="950" b="0" i="0">
                <a:solidFill>
                  <a:srgbClr val="595959"/>
                </a:solidFill>
                <a:latin typeface="Arial"/>
              </a:rPr>
              <a:t>level with rapidgzip at 10 threads, 1.2–1.9× faster with 1–2 threads.</a:t>
            </a:r>
          </a:p>
          <a:p>
            <a:pPr marL="164592" indent="-164592">
              <a:lnSpc>
                <a:spcPct val="108000"/>
              </a:lnSpc>
              <a:spcAft>
                <a:spcPts val="500"/>
              </a:spcAft>
              <a:buClr>
                <a:srgbClr val="4285F4"/>
              </a:buClr>
              <a:buFont typeface="Arial"/>
              <a:buChar char="•"/>
            </a:pPr>
            <a:r>
              <a:rPr sz="950" b="1" i="0">
                <a:solidFill>
                  <a:srgbClr val="212121"/>
                </a:solidFill>
                <a:latin typeface="Arial"/>
              </a:rPr>
              <a:t>Quality: </a:t>
            </a:r>
            <a:r>
              <a:rPr sz="950" b="0" i="0">
                <a:solidFill>
                  <a:srgbClr val="595959"/>
                </a:solidFill>
                <a:latin typeface="Arial"/>
              </a:rPr>
              <a:t>44 tests, clean under Address-, UB- and ThreadSanitizer; history on feature branches.</a:t>
            </a:r>
          </a:p>
        </p:txBody>
      </p:sp>
      <p:sp>
        <p:nvSpPr>
          <p:cNvPr id="81" name="TextBox 80"/>
          <p:cNvSpPr txBox="1"/>
          <p:nvPr/>
        </p:nvSpPr>
        <p:spPr>
          <a:xfrm>
            <a:off x="4626864" y="1115568"/>
            <a:ext cx="4206240" cy="219456"/>
          </a:xfrm>
          <a:prstGeom prst="rect">
            <a:avLst/>
          </a:prstGeom>
          <a:noFill/>
        </p:spPr>
        <p:txBody>
          <a:bodyPr wrap="square" lIns="0" rIns="0" tIns="0" bIns="0" anchor="t">
            <a:spAutoFit/>
          </a:bodyPr>
          <a:lstStyle/>
          <a:p>
            <a:pPr algn="l"/>
            <a:r>
              <a:rPr sz="1050" b="1" i="0">
                <a:solidFill>
                  <a:srgbClr val="4285F4"/>
                </a:solidFill>
                <a:latin typeface="Arial"/>
              </a:rPr>
              <a:t>Practical use case and deployment</a:t>
            </a:r>
          </a:p>
        </p:txBody>
      </p:sp>
      <p:sp>
        <p:nvSpPr>
          <p:cNvPr id="82" name="TextBox 81"/>
          <p:cNvSpPr txBox="1"/>
          <p:nvPr/>
        </p:nvSpPr>
        <p:spPr>
          <a:xfrm>
            <a:off x="4626864" y="1389888"/>
            <a:ext cx="4206240" cy="1463040"/>
          </a:xfrm>
          <a:prstGeom prst="rect">
            <a:avLst/>
          </a:prstGeom>
          <a:noFill/>
        </p:spPr>
        <p:txBody>
          <a:bodyPr wrap="square" lIns="0" rIns="0" tIns="0" bIns="0">
            <a:spAutoFit/>
          </a:bodyPr>
          <a:lstStyle/>
          <a:p>
            <a:pPr marL="164592" indent="-164592">
              <a:lnSpc>
                <a:spcPct val="108000"/>
              </a:lnSpc>
              <a:spcAft>
                <a:spcPts val="700"/>
              </a:spcAft>
              <a:buClr>
                <a:srgbClr val="4285F4"/>
              </a:buClr>
              <a:buFont typeface="Arial"/>
              <a:buChar char="•"/>
            </a:pPr>
            <a:r>
              <a:rPr sz="1000" b="1" i="0">
                <a:solidFill>
                  <a:srgbClr val="212121"/>
                </a:solidFill>
                <a:latin typeface="Arial"/>
              </a:rPr>
              <a:t>Deployed as: </a:t>
            </a:r>
            <a:r>
              <a:rPr sz="1000" b="0" i="0">
                <a:solidFill>
                  <a:srgbClr val="595959"/>
                </a:solidFill>
                <a:latin typeface="Arial"/>
              </a:rPr>
              <a:t>the riptide command-line tool and a C++ library, used in place of gzip -d on existing files.</a:t>
            </a:r>
          </a:p>
          <a:p>
            <a:pPr marL="164592" indent="-164592">
              <a:lnSpc>
                <a:spcPct val="108000"/>
              </a:lnSpc>
              <a:spcAft>
                <a:spcPts val="700"/>
              </a:spcAft>
              <a:buClr>
                <a:srgbClr val="4285F4"/>
              </a:buClr>
              <a:buFont typeface="Arial"/>
              <a:buChar char="•"/>
            </a:pPr>
            <a:r>
              <a:rPr sz="1000" b="1" i="0">
                <a:solidFill>
                  <a:srgbClr val="212121"/>
                </a:solidFill>
                <a:latin typeface="Arial"/>
              </a:rPr>
              <a:t>Use case: </a:t>
            </a:r>
            <a:r>
              <a:rPr sz="1000" b="0" i="0">
                <a:solidFill>
                  <a:srgbClr val="595959"/>
                </a:solidFill>
                <a:latin typeface="Arial"/>
              </a:rPr>
              <a:t>decompressing reads, logs and archives on multi-core machines without re-encoding them.</a:t>
            </a:r>
          </a:p>
          <a:p>
            <a:pPr marL="164592" indent="-164592">
              <a:lnSpc>
                <a:spcPct val="108000"/>
              </a:lnSpc>
              <a:spcAft>
                <a:spcPts val="700"/>
              </a:spcAft>
              <a:buClr>
                <a:srgbClr val="4285F4"/>
              </a:buClr>
              <a:buFont typeface="Arial"/>
              <a:buChar char="•"/>
            </a:pPr>
            <a:r>
              <a:rPr sz="1000" b="1" i="0">
                <a:solidFill>
                  <a:srgbClr val="212121"/>
                </a:solidFill>
                <a:latin typeface="Arial"/>
              </a:rPr>
              <a:t>Reproducible: </a:t>
            </a:r>
            <a:r>
              <a:rPr sz="1000" b="0" i="0">
                <a:solidFill>
                  <a:srgbClr val="595959"/>
                </a:solidFill>
                <a:latin typeface="Arial"/>
              </a:rPr>
              <a:t>scripts rebuild the datasets, run every experiment and compute the statistics.</a:t>
            </a:r>
          </a:p>
        </p:txBody>
      </p:sp>
      <p:sp>
        <p:nvSpPr>
          <p:cNvPr id="83" name="Rounded Rectangle 82"/>
          <p:cNvSpPr/>
          <p:nvPr/>
        </p:nvSpPr>
        <p:spPr>
          <a:xfrm>
            <a:off x="4626864" y="3246120"/>
            <a:ext cx="4206240" cy="960120"/>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27432" bIns="27432"/>
          <a:lstStyle/>
          <a:p>
            <a:pPr algn="l"/>
            <a:r>
              <a:rPr sz="950" b="1" i="0">
                <a:solidFill>
                  <a:srgbClr val="212121"/>
                </a:solidFill>
                <a:latin typeface="Arial"/>
              </a:rPr>
              <a:t>How stakeholders benefit</a:t>
            </a:r>
          </a:p>
          <a:p>
            <a:pPr algn="l"/>
            <a:r>
              <a:rPr sz="900" b="0" i="0">
                <a:solidFill>
                  <a:srgbClr val="595959"/>
                </a:solidFill>
                <a:latin typeface="Arial"/>
              </a:rPr>
              <a:t>Up to 2.5× faster than zlib on existing gzip data on a 10-core laptop (1.2–2.5× except on very highly compressed logs), output identical to zlib, nothing to migrate.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h4201240a44ad152a_0_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800"/>
              <a:t>Conclusion</a:t>
            </a:r>
            <a:endParaRPr/>
          </a:p>
        </p:txBody>
      </p:sp>
      <p:sp>
        <p:nvSpPr>
          <p:cNvPr id="85" name="TextBox 84"/>
          <p:cNvSpPr txBox="1"/>
          <p:nvPr/>
        </p:nvSpPr>
        <p:spPr>
          <a:xfrm>
            <a:off x="310896" y="1143000"/>
            <a:ext cx="4754880" cy="3657600"/>
          </a:xfrm>
          <a:prstGeom prst="rect">
            <a:avLst/>
          </a:prstGeom>
          <a:noFill/>
        </p:spPr>
        <p:txBody>
          <a:bodyPr wrap="square" lIns="0" rIns="0" tIns="0" bIns="0">
            <a:spAutoFit/>
          </a:bodyPr>
          <a:lstStyle/>
          <a:p>
            <a:pPr marL="164592" indent="-164592">
              <a:lnSpc>
                <a:spcPct val="108000"/>
              </a:lnSpc>
              <a:spcAft>
                <a:spcPts val="800"/>
              </a:spcAft>
              <a:buClr>
                <a:srgbClr val="4285F4"/>
              </a:buClr>
              <a:buFont typeface="Arial"/>
              <a:buChar char="•"/>
            </a:pPr>
            <a:r>
              <a:rPr sz="1050" b="1" i="0">
                <a:solidFill>
                  <a:srgbClr val="212121"/>
                </a:solidFill>
                <a:latin typeface="Arial"/>
              </a:rPr>
              <a:t>The window chain is a prefix computation, </a:t>
            </a:r>
            <a:r>
              <a:rPr sz="1050" b="0" i="0">
                <a:solidFill>
                  <a:srgbClr val="595959"/>
                </a:solidFill>
                <a:latin typeface="Arial"/>
              </a:rPr>
              <a:t>not an inherently serial step: window maps compose associatively.</a:t>
            </a:r>
          </a:p>
          <a:p>
            <a:pPr marL="164592" indent="-164592">
              <a:lnSpc>
                <a:spcPct val="108000"/>
              </a:lnSpc>
              <a:spcAft>
                <a:spcPts val="800"/>
              </a:spcAft>
              <a:buClr>
                <a:srgbClr val="4285F4"/>
              </a:buClr>
              <a:buFont typeface="Arial"/>
              <a:buChar char="•"/>
            </a:pPr>
            <a:r>
              <a:rPr sz="1050" b="1" i="0">
                <a:solidFill>
                  <a:srgbClr val="212121"/>
                </a:solidFill>
                <a:latin typeface="Arial"/>
              </a:rPr>
              <a:t>Measured: </a:t>
            </a:r>
            <a:r>
              <a:rPr sz="1050" b="0" i="0">
                <a:solidFill>
                  <a:srgbClr val="595959"/>
                </a:solidFill>
                <a:latin typeface="Arial"/>
              </a:rPr>
              <a:t>a blocked scan resolves windows 2.9–3.9× faster; it matters with small, memory-saving chunks.</a:t>
            </a:r>
          </a:p>
          <a:p>
            <a:pPr marL="164592" indent="-164592">
              <a:lnSpc>
                <a:spcPct val="108000"/>
              </a:lnSpc>
              <a:spcAft>
                <a:spcPts val="800"/>
              </a:spcAft>
              <a:buClr>
                <a:srgbClr val="4285F4"/>
              </a:buClr>
              <a:buFont typeface="Arial"/>
              <a:buChar char="•"/>
            </a:pPr>
            <a:r>
              <a:rPr sz="1050" b="1" i="0">
                <a:solidFill>
                  <a:srgbClr val="212121"/>
                </a:solidFill>
                <a:latin typeface="Arial"/>
              </a:rPr>
              <a:t>Splitting oversized chunks </a:t>
            </a:r>
            <a:r>
              <a:rPr sz="1050" b="0" i="0">
                <a:solidFill>
                  <a:srgbClr val="595959"/>
                </a:solidFill>
                <a:latin typeface="Arial"/>
              </a:rPr>
              <a:t>removes the serialisation an output budget causes when chunks are few (1.59×).</a:t>
            </a:r>
          </a:p>
          <a:p>
            <a:pPr marL="164592" indent="-164592">
              <a:lnSpc>
                <a:spcPct val="108000"/>
              </a:lnSpc>
              <a:spcAft>
                <a:spcPts val="800"/>
              </a:spcAft>
              <a:buClr>
                <a:srgbClr val="4285F4"/>
              </a:buClr>
              <a:buFont typeface="Arial"/>
              <a:buChar char="•"/>
            </a:pPr>
            <a:r>
              <a:rPr sz="1050" b="1" i="0">
                <a:solidFill>
                  <a:srgbClr val="212121"/>
                </a:solidFill>
                <a:latin typeface="Arial"/>
              </a:rPr>
              <a:t>Against rapidgzip: </a:t>
            </a:r>
            <a:r>
              <a:rPr sz="1050" b="0" i="0">
                <a:solidFill>
                  <a:srgbClr val="595959"/>
                </a:solidFill>
                <a:latin typeface="Arial"/>
              </a:rPr>
              <a:t>level at 10 threads, faster with few threads; it still wins on memory and small chunks.</a:t>
            </a:r>
          </a:p>
          <a:p>
            <a:pPr marL="164592" indent="-164592">
              <a:lnSpc>
                <a:spcPct val="108000"/>
              </a:lnSpc>
              <a:spcAft>
                <a:spcPts val="800"/>
              </a:spcAft>
              <a:buClr>
                <a:srgbClr val="4285F4"/>
              </a:buClr>
              <a:buFont typeface="Arial"/>
              <a:buChar char="•"/>
            </a:pPr>
            <a:r>
              <a:rPr sz="1050" b="1" i="0">
                <a:solidFill>
                  <a:srgbClr val="212121"/>
                </a:solidFill>
                <a:latin typeface="Arial"/>
              </a:rPr>
              <a:t>Future scope: </a:t>
            </a:r>
            <a:r>
              <a:rPr sz="1050" b="0" i="0">
                <a:solidFill>
                  <a:srgbClr val="595959"/>
                </a:solidFill>
                <a:latin typeface="Arial"/>
              </a:rPr>
              <a:t>streaming output and lower per-chunk cost; M3 inside rapidgzip on 64–128 cores; compact marker spans (M2); GPU window composition.</a:t>
            </a:r>
          </a:p>
        </p:txBody>
      </p:sp>
      <p:sp>
        <p:nvSpPr>
          <p:cNvPr id="86" name="TextBox 85"/>
          <p:cNvSpPr txBox="1"/>
          <p:nvPr/>
        </p:nvSpPr>
        <p:spPr>
          <a:xfrm>
            <a:off x="5440680" y="1143000"/>
            <a:ext cx="3392424" cy="219456"/>
          </a:xfrm>
          <a:prstGeom prst="rect">
            <a:avLst/>
          </a:prstGeom>
          <a:noFill/>
        </p:spPr>
        <p:txBody>
          <a:bodyPr wrap="square" lIns="0" rIns="0" tIns="0" bIns="0" anchor="t">
            <a:spAutoFit/>
          </a:bodyPr>
          <a:lstStyle/>
          <a:p>
            <a:pPr algn="l"/>
            <a:r>
              <a:rPr sz="1050" b="1" i="0">
                <a:solidFill>
                  <a:srgbClr val="4285F4"/>
                </a:solidFill>
                <a:latin typeface="Arial"/>
              </a:rPr>
              <a:t>Project status</a:t>
            </a:r>
          </a:p>
        </p:txBody>
      </p:sp>
      <p:sp>
        <p:nvSpPr>
          <p:cNvPr id="87" name="Rounded Rectangle 86"/>
          <p:cNvSpPr/>
          <p:nvPr/>
        </p:nvSpPr>
        <p:spPr>
          <a:xfrm>
            <a:off x="5440680" y="1463040"/>
            <a:ext cx="3392424" cy="493776"/>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00" b="1" i="0">
                <a:solidFill>
                  <a:srgbClr val="212121"/>
                </a:solidFill>
                <a:latin typeface="Arial"/>
              </a:rPr>
              <a:t>Done   Decoder built from scratch</a:t>
            </a:r>
          </a:p>
        </p:txBody>
      </p:sp>
      <p:sp>
        <p:nvSpPr>
          <p:cNvPr id="88" name="Rounded Rectangle 87"/>
          <p:cNvSpPr/>
          <p:nvPr/>
        </p:nvSpPr>
        <p:spPr>
          <a:xfrm>
            <a:off x="5440680" y="2084832"/>
            <a:ext cx="3392424" cy="493776"/>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00" b="1" i="0">
                <a:solidFill>
                  <a:srgbClr val="212121"/>
                </a:solidFill>
                <a:latin typeface="Arial"/>
              </a:rPr>
              <a:t>Done   M3: three parallel scans</a:t>
            </a:r>
          </a:p>
        </p:txBody>
      </p:sp>
      <p:sp>
        <p:nvSpPr>
          <p:cNvPr id="89" name="Rounded Rectangle 88"/>
          <p:cNvSpPr/>
          <p:nvPr/>
        </p:nvSpPr>
        <p:spPr>
          <a:xfrm>
            <a:off x="5440680" y="2706624"/>
            <a:ext cx="3392424" cy="493776"/>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00" b="1" i="0">
                <a:solidFill>
                  <a:srgbClr val="212121"/>
                </a:solidFill>
                <a:latin typeface="Arial"/>
              </a:rPr>
              <a:t>Done   M1: split-on-overflow</a:t>
            </a:r>
          </a:p>
        </p:txBody>
      </p:sp>
      <p:sp>
        <p:nvSpPr>
          <p:cNvPr id="90" name="Rounded Rectangle 89"/>
          <p:cNvSpPr/>
          <p:nvPr/>
        </p:nvSpPr>
        <p:spPr>
          <a:xfrm>
            <a:off x="5440680" y="3328416"/>
            <a:ext cx="3392424" cy="493776"/>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00" b="1" i="0">
                <a:solidFill>
                  <a:srgbClr val="212121"/>
                </a:solidFill>
                <a:latin typeface="Arial"/>
              </a:rPr>
              <a:t>Done   Evaluation + rapidgzip comparison</a:t>
            </a:r>
          </a:p>
        </p:txBody>
      </p:sp>
      <p:sp>
        <p:nvSpPr>
          <p:cNvPr id="91" name="Rounded Rectangle 90"/>
          <p:cNvSpPr/>
          <p:nvPr/>
        </p:nvSpPr>
        <p:spPr>
          <a:xfrm>
            <a:off x="5440680" y="3950208"/>
            <a:ext cx="3392424" cy="493776"/>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00" b="1" i="0">
                <a:solidFill>
                  <a:srgbClr val="595959"/>
                </a:solidFill>
                <a:latin typeface="Arial"/>
              </a:rPr>
              <a:t>Next   Streaming output; M3 inside rapidgzip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t>Results and Analysis (2/3): Parallel Window Resolution (M3)</a:t>
            </a:r>
          </a:p>
        </p:txBody>
      </p:sp>
      <p:graphicFrame>
        <p:nvGraphicFramePr>
          <p:cNvPr id="3" name="Chart 2"/>
          <p:cNvGraphicFramePr>
            <a:graphicFrameLocks noGrp="1"/>
          </p:cNvGraphicFramePr>
          <p:nvPr/>
        </p:nvGraphicFramePr>
        <p:xfrm>
          <a:off x="310896" y="1024128"/>
          <a:ext cx="4892040" cy="3246120"/>
        </p:xfrm>
        <a:graphic>
          <a:graphicData uri="http://schemas.openxmlformats.org/drawingml/2006/chart">
            <c:chart xmlns:c="http://schemas.openxmlformats.org/drawingml/2006/chart" r:id="rId2"/>
          </a:graphicData>
        </a:graphic>
      </p:graphicFrame>
      <p:sp>
        <p:nvSpPr>
          <p:cNvPr id="4" name="TextBox 3"/>
          <p:cNvSpPr txBox="1"/>
          <p:nvPr/>
        </p:nvSpPr>
        <p:spPr>
          <a:xfrm>
            <a:off x="310896" y="4297680"/>
            <a:ext cx="4892040" cy="457200"/>
          </a:xfrm>
          <a:prstGeom prst="rect">
            <a:avLst/>
          </a:prstGeom>
          <a:noFill/>
        </p:spPr>
        <p:txBody>
          <a:bodyPr wrap="square" lIns="0" rIns="0" tIns="0" bIns="0" anchor="t">
            <a:spAutoFit/>
          </a:bodyPr>
          <a:lstStyle/>
          <a:p>
            <a:pPr algn="l"/>
            <a:r>
              <a:rPr sz="800" b="0" i="1">
                <a:solidFill>
                  <a:srgbClr val="78909C"/>
                </a:solidFill>
                <a:latin typeface="Arial"/>
              </a:rPr>
              <a:t>Chunk size (number of chunks). Hillis–Steele and Blelloch scans fall between the two; full table in the report.</a:t>
            </a:r>
          </a:p>
        </p:txBody>
      </p:sp>
      <p:sp>
        <p:nvSpPr>
          <p:cNvPr id="5" name="TextBox 4"/>
          <p:cNvSpPr txBox="1"/>
          <p:nvPr/>
        </p:nvSpPr>
        <p:spPr>
          <a:xfrm>
            <a:off x="5394960" y="1097280"/>
            <a:ext cx="3438144" cy="3749039"/>
          </a:xfrm>
          <a:prstGeom prst="rect">
            <a:avLst/>
          </a:prstGeom>
          <a:noFill/>
        </p:spPr>
        <p:txBody>
          <a:bodyPr wrap="square" lIns="0" rIns="0" tIns="0" bIns="0">
            <a:spAutoFit/>
          </a:bodyPr>
          <a:lstStyle/>
          <a:p>
            <a:pPr marL="164592" indent="-164592">
              <a:lnSpc>
                <a:spcPct val="108000"/>
              </a:lnSpc>
              <a:spcAft>
                <a:spcPts val="500"/>
              </a:spcAft>
              <a:buClr>
                <a:srgbClr val="4285F4"/>
              </a:buClr>
              <a:buFont typeface="Arial"/>
              <a:buChar char="•"/>
            </a:pPr>
            <a:r>
              <a:rPr sz="950" b="1" i="0">
                <a:solidFill>
                  <a:srgbClr val="212121"/>
                </a:solidFill>
                <a:latin typeface="Arial"/>
              </a:rPr>
              <a:t>2.9–3.9× faster </a:t>
            </a:r>
            <a:r>
              <a:rPr sz="950" b="0" i="0">
                <a:solidFill>
                  <a:srgbClr val="595959"/>
                </a:solidFill>
                <a:latin typeface="Arial"/>
              </a:rPr>
              <a:t>window step at every chunk size, p &lt; 0.001 (Mann–Whitney, Holm).</a:t>
            </a:r>
          </a:p>
          <a:p>
            <a:pPr marL="164592" indent="-164592">
              <a:lnSpc>
                <a:spcPct val="108000"/>
              </a:lnSpc>
              <a:spcAft>
                <a:spcPts val="500"/>
              </a:spcAft>
              <a:buClr>
                <a:srgbClr val="4285F4"/>
              </a:buClr>
              <a:buFont typeface="Arial"/>
              <a:buChar char="•"/>
            </a:pPr>
            <a:r>
              <a:rPr sz="950" b="1" i="0">
                <a:solidFill>
                  <a:srgbClr val="212121"/>
                </a:solidFill>
                <a:latin typeface="Arial"/>
              </a:rPr>
              <a:t>Whole run, 64 KiB chunks: </a:t>
            </a:r>
            <a:r>
              <a:rPr sz="950" b="0" i="0">
                <a:solidFill>
                  <a:srgbClr val="595959"/>
                </a:solidFill>
                <a:latin typeface="Arial"/>
              </a:rPr>
              <a:t>1.14× on Silesia ×5, 1.21× on Silesia; the chain was a fifth of the run.</a:t>
            </a:r>
          </a:p>
          <a:p>
            <a:pPr marL="164592" indent="-164592">
              <a:lnSpc>
                <a:spcPct val="108000"/>
              </a:lnSpc>
              <a:spcAft>
                <a:spcPts val="500"/>
              </a:spcAft>
              <a:buClr>
                <a:srgbClr val="4285F4"/>
              </a:buClr>
              <a:buFont typeface="Arial"/>
              <a:buChar char="•"/>
            </a:pPr>
            <a:r>
              <a:rPr sz="950" b="1" i="0">
                <a:solidFill>
                  <a:srgbClr val="212121"/>
                </a:solidFill>
                <a:latin typeface="Arial"/>
              </a:rPr>
              <a:t>Scales with cores: </a:t>
            </a:r>
            <a:r>
              <a:rPr sz="950" b="0" i="0">
                <a:solidFill>
                  <a:srgbClr val="595959"/>
                </a:solidFill>
                <a:latin typeface="Arial"/>
              </a:rPr>
              <a:t>serial chain stays at 183–261 ms; the scan falls from 221 ms (2 threads) to 74 ms (10).</a:t>
            </a:r>
          </a:p>
          <a:p>
            <a:pPr marL="164592" indent="-164592">
              <a:lnSpc>
                <a:spcPct val="108000"/>
              </a:lnSpc>
              <a:spcAft>
                <a:spcPts val="500"/>
              </a:spcAft>
              <a:buClr>
                <a:srgbClr val="4285F4"/>
              </a:buClr>
              <a:buFont typeface="Arial"/>
              <a:buChar char="•"/>
            </a:pPr>
            <a:r>
              <a:rPr sz="950" b="1" i="0">
                <a:solidFill>
                  <a:srgbClr val="212121"/>
                </a:solidFill>
                <a:latin typeface="Arial"/>
              </a:rPr>
              <a:t>Why small chunks: </a:t>
            </a:r>
            <a:r>
              <a:rPr sz="950" b="0" i="0">
                <a:solidFill>
                  <a:srgbClr val="595959"/>
                </a:solidFill>
                <a:latin typeface="Arial"/>
              </a:rPr>
              <a:t>512 KiB chunks need 19–35% less memory than 4 MiB; M3 removes their window-chain cost.</a:t>
            </a:r>
          </a:p>
          <a:p>
            <a:pPr marL="164592" indent="-164592">
              <a:lnSpc>
                <a:spcPct val="108000"/>
              </a:lnSpc>
              <a:spcAft>
                <a:spcPts val="500"/>
              </a:spcAft>
              <a:buClr>
                <a:srgbClr val="4285F4"/>
              </a:buClr>
              <a:buFont typeface="Arial"/>
              <a:buChar char="•"/>
            </a:pPr>
            <a:r>
              <a:rPr sz="950" b="1" i="0">
                <a:solidFill>
                  <a:srgbClr val="212121"/>
                </a:solidFill>
                <a:latin typeface="Arial"/>
              </a:rPr>
              <a:t>Limits: </a:t>
            </a:r>
            <a:r>
              <a:rPr sz="950" b="0" i="0">
                <a:solidFill>
                  <a:srgbClr val="595959"/>
                </a:solidFill>
                <a:latin typeface="Arial"/>
              </a:rPr>
              <a:t>from 1 MiB up the chain is under 2% of the run; at 64 KiB rapidgzip is still 1.3× faster than us (our other per-chunk costs are higher).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t>Results and Analysis (3/3): Load Balance (M1) and State of the Art</a:t>
            </a:r>
          </a:p>
        </p:txBody>
      </p:sp>
      <p:sp>
        <p:nvSpPr>
          <p:cNvPr id="3" name="TextBox 2"/>
          <p:cNvSpPr txBox="1"/>
          <p:nvPr/>
        </p:nvSpPr>
        <p:spPr>
          <a:xfrm>
            <a:off x="310896" y="1051560"/>
            <a:ext cx="4114800" cy="219456"/>
          </a:xfrm>
          <a:prstGeom prst="rect">
            <a:avLst/>
          </a:prstGeom>
          <a:noFill/>
        </p:spPr>
        <p:txBody>
          <a:bodyPr wrap="square" lIns="0" rIns="0" tIns="0" bIns="0" anchor="t">
            <a:spAutoFit/>
          </a:bodyPr>
          <a:lstStyle/>
          <a:p>
            <a:pPr algn="l"/>
            <a:r>
              <a:rPr sz="1000" b="1" i="0">
                <a:solidFill>
                  <a:srgbClr val="4285F4"/>
                </a:solidFill>
                <a:latin typeface="Arial"/>
              </a:rPr>
              <a:t>Split-on-overflow, logs, 16 MiB chunks, 4× budget</a:t>
            </a:r>
          </a:p>
        </p:txBody>
      </p:sp>
      <p:graphicFrame>
        <p:nvGraphicFramePr>
          <p:cNvPr id="4" name="Table 3"/>
          <p:cNvGraphicFramePr>
            <a:graphicFrameLocks noGrp="1"/>
          </p:cNvGraphicFramePr>
          <p:nvPr/>
        </p:nvGraphicFramePr>
        <p:xfrm>
          <a:off x="310896" y="1307592"/>
          <a:ext cx="4114800" cy="877824"/>
        </p:xfrm>
        <a:graphic>
          <a:graphicData uri="http://schemas.openxmlformats.org/drawingml/2006/table">
            <a:tbl>
              <a:tblPr firstRow="1"/>
              <a:tblGrid>
                <a:gridCol w="1280160"/>
                <a:gridCol w="914400"/>
                <a:gridCol w="914400"/>
                <a:gridCol w="1005840"/>
              </a:tblGrid>
              <a:tr h="292608">
                <a:tc>
                  <a:txBody>
                    <a:bodyPr wrap="square"/>
                    <a:lstStyle/>
                    <a:p>
                      <a:pPr algn="l"/>
                      <a:r>
                        <a:rPr sz="900" b="1" i="0">
                          <a:solidFill>
                            <a:srgbClr val="FFFFFF"/>
                          </a:solidFill>
                          <a:latin typeface="Arial"/>
                        </a:rPr>
                        <a:t>Overflow policy</a:t>
                      </a:r>
                    </a:p>
                  </a:txBody>
                  <a:tcPr marL="54864" marR="54864" marT="18288" marB="18288" anchor="ctr">
                    <a:solidFill>
                      <a:srgbClr val="4285F4"/>
                    </a:solidFill>
                  </a:tcPr>
                </a:tc>
                <a:tc>
                  <a:txBody>
                    <a:bodyPr wrap="square"/>
                    <a:lstStyle/>
                    <a:p>
                      <a:pPr algn="r"/>
                      <a:r>
                        <a:rPr sz="900" b="1" i="0">
                          <a:solidFill>
                            <a:srgbClr val="FFFFFF"/>
                          </a:solidFill>
                          <a:latin typeface="Arial"/>
                        </a:rPr>
                        <a:t>Time (ms)</a:t>
                      </a:r>
                    </a:p>
                  </a:txBody>
                  <a:tcPr marL="54864" marR="54864" marT="18288" marB="18288" anchor="ctr">
                    <a:solidFill>
                      <a:srgbClr val="4285F4"/>
                    </a:solidFill>
                  </a:tcPr>
                </a:tc>
                <a:tc>
                  <a:txBody>
                    <a:bodyPr wrap="square"/>
                    <a:lstStyle/>
                    <a:p>
                      <a:pPr algn="r"/>
                      <a:r>
                        <a:rPr sz="900" b="1" i="0">
                          <a:solidFill>
                            <a:srgbClr val="FFFFFF"/>
                          </a:solidFill>
                          <a:latin typeface="Arial"/>
                        </a:rPr>
                        <a:t>λ</a:t>
                      </a:r>
                    </a:p>
                  </a:txBody>
                  <a:tcPr marL="54864" marR="54864" marT="18288" marB="18288" anchor="ctr">
                    <a:solidFill>
                      <a:srgbClr val="4285F4"/>
                    </a:solidFill>
                  </a:tcPr>
                </a:tc>
                <a:tc>
                  <a:txBody>
                    <a:bodyPr wrap="square"/>
                    <a:lstStyle/>
                    <a:p>
                      <a:pPr algn="r"/>
                      <a:r>
                        <a:rPr sz="900" b="1" i="0">
                          <a:solidFill>
                            <a:srgbClr val="FFFFFF"/>
                          </a:solidFill>
                          <a:latin typeface="Arial"/>
                        </a:rPr>
                        <a:t>Speedup</a:t>
                      </a:r>
                    </a:p>
                  </a:txBody>
                  <a:tcPr marL="54864" marR="54864" marT="18288" marB="18288" anchor="ctr">
                    <a:solidFill>
                      <a:srgbClr val="4285F4"/>
                    </a:solidFill>
                  </a:tcPr>
                </a:tc>
              </a:tr>
              <a:tr h="292608">
                <a:tc>
                  <a:txBody>
                    <a:bodyPr wrap="square"/>
                    <a:lstStyle/>
                    <a:p>
                      <a:pPr algn="l"/>
                      <a:r>
                        <a:rPr sz="900" b="0" i="0">
                          <a:solidFill>
                            <a:srgbClr val="595959"/>
                          </a:solidFill>
                          <a:latin typeface="Arial"/>
                        </a:rPr>
                        <a:t>Serial (base paper)</a:t>
                      </a:r>
                    </a:p>
                  </a:txBody>
                  <a:tcPr marL="54864" marR="54864" marT="18288" marB="18288" anchor="ctr">
                    <a:solidFill>
                      <a:srgbClr val="FFFFFF"/>
                    </a:solidFill>
                  </a:tcPr>
                </a:tc>
                <a:tc>
                  <a:txBody>
                    <a:bodyPr wrap="square"/>
                    <a:lstStyle/>
                    <a:p>
                      <a:pPr algn="r"/>
                      <a:r>
                        <a:rPr sz="900" b="0" i="0">
                          <a:solidFill>
                            <a:srgbClr val="595959"/>
                          </a:solidFill>
                          <a:latin typeface="Arial"/>
                        </a:rPr>
                        <a:t>407</a:t>
                      </a:r>
                    </a:p>
                  </a:txBody>
                  <a:tcPr marL="54864" marR="54864" marT="18288" marB="18288" anchor="ctr">
                    <a:solidFill>
                      <a:srgbClr val="FFFFFF"/>
                    </a:solidFill>
                  </a:tcPr>
                </a:tc>
                <a:tc>
                  <a:txBody>
                    <a:bodyPr wrap="square"/>
                    <a:lstStyle/>
                    <a:p>
                      <a:pPr algn="r"/>
                      <a:r>
                        <a:rPr sz="900" b="0" i="0">
                          <a:solidFill>
                            <a:srgbClr val="595959"/>
                          </a:solidFill>
                          <a:latin typeface="Arial"/>
                        </a:rPr>
                        <a:t>5.58</a:t>
                      </a:r>
                    </a:p>
                  </a:txBody>
                  <a:tcPr marL="54864" marR="54864" marT="18288" marB="18288" anchor="ctr">
                    <a:solidFill>
                      <a:srgbClr val="FFFFFF"/>
                    </a:solidFill>
                  </a:tcPr>
                </a:tc>
                <a:tc>
                  <a:txBody>
                    <a:bodyPr wrap="square"/>
                    <a:lstStyle/>
                    <a:p>
                      <a:pPr algn="r"/>
                      <a:r>
                        <a:rPr sz="900" b="0" i="0">
                          <a:solidFill>
                            <a:srgbClr val="595959"/>
                          </a:solidFill>
                          <a:latin typeface="Arial"/>
                        </a:rPr>
                        <a:t>1.00</a:t>
                      </a:r>
                    </a:p>
                  </a:txBody>
                  <a:tcPr marL="54864" marR="54864" marT="18288" marB="18288" anchor="ctr">
                    <a:solidFill>
                      <a:srgbClr val="FFFFFF"/>
                    </a:solidFill>
                  </a:tcPr>
                </a:tc>
              </a:tr>
              <a:tr h="292608">
                <a:tc>
                  <a:txBody>
                    <a:bodyPr wrap="square"/>
                    <a:lstStyle/>
                    <a:p>
                      <a:pPr algn="l"/>
                      <a:r>
                        <a:rPr sz="900" b="1" i="0">
                          <a:solidFill>
                            <a:srgbClr val="B06000"/>
                          </a:solidFill>
                          <a:latin typeface="Arial"/>
                        </a:rPr>
                        <a:t>Split (ours)</a:t>
                      </a:r>
                    </a:p>
                  </a:txBody>
                  <a:tcPr marL="54864" marR="54864" marT="18288" marB="18288" anchor="ctr">
                    <a:solidFill>
                      <a:srgbClr val="FFF4E5"/>
                    </a:solidFill>
                  </a:tcPr>
                </a:tc>
                <a:tc>
                  <a:txBody>
                    <a:bodyPr wrap="square"/>
                    <a:lstStyle/>
                    <a:p>
                      <a:pPr algn="r"/>
                      <a:r>
                        <a:rPr sz="900" b="1" i="0">
                          <a:solidFill>
                            <a:srgbClr val="B06000"/>
                          </a:solidFill>
                          <a:latin typeface="Arial"/>
                        </a:rPr>
                        <a:t>256</a:t>
                      </a:r>
                    </a:p>
                  </a:txBody>
                  <a:tcPr marL="54864" marR="54864" marT="18288" marB="18288" anchor="ctr">
                    <a:solidFill>
                      <a:srgbClr val="FFF4E5"/>
                    </a:solidFill>
                  </a:tcPr>
                </a:tc>
                <a:tc>
                  <a:txBody>
                    <a:bodyPr wrap="square"/>
                    <a:lstStyle/>
                    <a:p>
                      <a:pPr algn="r"/>
                      <a:r>
                        <a:rPr sz="900" b="1" i="0">
                          <a:solidFill>
                            <a:srgbClr val="B06000"/>
                          </a:solidFill>
                          <a:latin typeface="Arial"/>
                        </a:rPr>
                        <a:t>1.29</a:t>
                      </a:r>
                    </a:p>
                  </a:txBody>
                  <a:tcPr marL="54864" marR="54864" marT="18288" marB="18288" anchor="ctr">
                    <a:solidFill>
                      <a:srgbClr val="FFF4E5"/>
                    </a:solidFill>
                  </a:tcPr>
                </a:tc>
                <a:tc>
                  <a:txBody>
                    <a:bodyPr wrap="square"/>
                    <a:lstStyle/>
                    <a:p>
                      <a:pPr algn="r"/>
                      <a:r>
                        <a:rPr sz="900" b="1" i="0">
                          <a:solidFill>
                            <a:srgbClr val="B06000"/>
                          </a:solidFill>
                          <a:latin typeface="Arial"/>
                        </a:rPr>
                        <a:t>1.59×</a:t>
                      </a:r>
                    </a:p>
                  </a:txBody>
                  <a:tcPr marL="54864" marR="54864" marT="18288" marB="18288" anchor="ctr">
                    <a:solidFill>
                      <a:srgbClr val="FFF4E5"/>
                    </a:solidFill>
                  </a:tcPr>
                </a:tc>
              </a:tr>
            </a:tbl>
          </a:graphicData>
        </a:graphic>
      </p:graphicFrame>
      <p:sp>
        <p:nvSpPr>
          <p:cNvPr id="5" name="TextBox 4"/>
          <p:cNvSpPr txBox="1"/>
          <p:nvPr/>
        </p:nvSpPr>
        <p:spPr>
          <a:xfrm>
            <a:off x="310896" y="2286000"/>
            <a:ext cx="4114800" cy="1005840"/>
          </a:xfrm>
          <a:prstGeom prst="rect">
            <a:avLst/>
          </a:prstGeom>
          <a:noFill/>
        </p:spPr>
        <p:txBody>
          <a:bodyPr wrap="square" lIns="0" rIns="0" tIns="0" bIns="0">
            <a:spAutoFit/>
          </a:bodyPr>
          <a:lstStyle/>
          <a:p>
            <a:pPr marL="164592" indent="-164592">
              <a:lnSpc>
                <a:spcPct val="108000"/>
              </a:lnSpc>
              <a:spcAft>
                <a:spcPts val="300"/>
              </a:spcAft>
              <a:buClr>
                <a:srgbClr val="4285F4"/>
              </a:buClr>
              <a:buFont typeface="Arial"/>
              <a:buChar char="•"/>
            </a:pPr>
            <a:r>
              <a:rPr sz="900" b="1" i="0">
                <a:solidFill>
                  <a:srgbClr val="212121"/>
                </a:solidFill>
                <a:latin typeface="Arial"/>
              </a:rPr>
              <a:t>Matters when chunks are few: </a:t>
            </a:r>
            <a:r>
              <a:rPr sz="900" b="0" i="0">
                <a:solidFill>
                  <a:srgbClr val="595959"/>
                </a:solidFill>
                <a:latin typeface="Arial"/>
              </a:rPr>
              <a:t>with 4 MiB chunks the difference is not significant.</a:t>
            </a:r>
          </a:p>
          <a:p>
            <a:pPr marL="164592" indent="-164592">
              <a:lnSpc>
                <a:spcPct val="108000"/>
              </a:lnSpc>
              <a:spcAft>
                <a:spcPts val="300"/>
              </a:spcAft>
              <a:buClr>
                <a:srgbClr val="4285F4"/>
              </a:buClr>
              <a:buFont typeface="Arial"/>
              <a:buChar char="•"/>
            </a:pPr>
            <a:r>
              <a:rPr sz="900" b="1" i="0">
                <a:solidFill>
                  <a:srgbClr val="212121"/>
                </a:solidFill>
                <a:latin typeface="Arial"/>
              </a:rPr>
              <a:t>Negative result: </a:t>
            </a:r>
            <a:r>
              <a:rPr sz="900" b="0" i="0">
                <a:solidFill>
                  <a:srgbClr val="595959"/>
                </a:solidFill>
                <a:latin typeface="Arial"/>
              </a:rPr>
              <a:t>work-balanced chunking costs 10–74 ms of sampling and does not speed up decoding.</a:t>
            </a:r>
          </a:p>
        </p:txBody>
      </p:sp>
      <p:sp>
        <p:nvSpPr>
          <p:cNvPr id="6" name="TextBox 5"/>
          <p:cNvSpPr txBox="1"/>
          <p:nvPr/>
        </p:nvSpPr>
        <p:spPr>
          <a:xfrm>
            <a:off x="4572000" y="1051560"/>
            <a:ext cx="4261104" cy="219456"/>
          </a:xfrm>
          <a:prstGeom prst="rect">
            <a:avLst/>
          </a:prstGeom>
          <a:noFill/>
        </p:spPr>
        <p:txBody>
          <a:bodyPr wrap="square" lIns="0" rIns="0" tIns="0" bIns="0" anchor="t">
            <a:spAutoFit/>
          </a:bodyPr>
          <a:lstStyle/>
          <a:p>
            <a:pPr algn="l"/>
            <a:r>
              <a:rPr sz="1000" b="1" i="0">
                <a:solidFill>
                  <a:srgbClr val="4285F4"/>
                </a:solidFill>
                <a:latin typeface="Arial"/>
              </a:rPr>
              <a:t>Against rapidgzip 0.16.0, same machine (GB/s)</a:t>
            </a:r>
          </a:p>
        </p:txBody>
      </p:sp>
      <p:graphicFrame>
        <p:nvGraphicFramePr>
          <p:cNvPr id="7" name="Table 6"/>
          <p:cNvGraphicFramePr>
            <a:graphicFrameLocks noGrp="1"/>
          </p:cNvGraphicFramePr>
          <p:nvPr/>
        </p:nvGraphicFramePr>
        <p:xfrm>
          <a:off x="4572000" y="1307592"/>
          <a:ext cx="4261104" cy="1325880"/>
        </p:xfrm>
        <a:graphic>
          <a:graphicData uri="http://schemas.openxmlformats.org/drawingml/2006/table">
            <a:tbl>
              <a:tblPr firstRow="1"/>
              <a:tblGrid>
                <a:gridCol w="969264"/>
                <a:gridCol w="822960"/>
                <a:gridCol w="914400"/>
                <a:gridCol w="749808"/>
                <a:gridCol w="804672"/>
              </a:tblGrid>
              <a:tr h="265176">
                <a:tc>
                  <a:txBody>
                    <a:bodyPr wrap="square"/>
                    <a:lstStyle/>
                    <a:p>
                      <a:pPr algn="l"/>
                      <a:r>
                        <a:rPr sz="850" b="1" i="0">
                          <a:solidFill>
                            <a:srgbClr val="FFFFFF"/>
                          </a:solidFill>
                          <a:latin typeface="Arial"/>
                        </a:rPr>
                        <a:t>File</a:t>
                      </a:r>
                    </a:p>
                  </a:txBody>
                  <a:tcPr marL="54864" marR="54864" marT="18288" marB="18288" anchor="ctr">
                    <a:solidFill>
                      <a:srgbClr val="4285F4"/>
                    </a:solidFill>
                  </a:tcPr>
                </a:tc>
                <a:tc>
                  <a:txBody>
                    <a:bodyPr wrap="square"/>
                    <a:lstStyle/>
                    <a:p>
                      <a:pPr algn="r"/>
                      <a:r>
                        <a:rPr sz="850" b="1" i="0">
                          <a:solidFill>
                            <a:srgbClr val="FFFFFF"/>
                          </a:solidFill>
                          <a:latin typeface="Arial"/>
                        </a:rPr>
                        <a:t>Riptide 10t</a:t>
                      </a:r>
                    </a:p>
                  </a:txBody>
                  <a:tcPr marL="54864" marR="54864" marT="18288" marB="18288" anchor="ctr">
                    <a:solidFill>
                      <a:srgbClr val="4285F4"/>
                    </a:solidFill>
                  </a:tcPr>
                </a:tc>
                <a:tc>
                  <a:txBody>
                    <a:bodyPr wrap="square"/>
                    <a:lstStyle/>
                    <a:p>
                      <a:pPr algn="r"/>
                      <a:r>
                        <a:rPr sz="850" b="1" i="0">
                          <a:solidFill>
                            <a:srgbClr val="FFFFFF"/>
                          </a:solidFill>
                          <a:latin typeface="Arial"/>
                        </a:rPr>
                        <a:t>rapidgzip 10t</a:t>
                      </a:r>
                    </a:p>
                  </a:txBody>
                  <a:tcPr marL="54864" marR="54864" marT="18288" marB="18288" anchor="ctr">
                    <a:solidFill>
                      <a:srgbClr val="4285F4"/>
                    </a:solidFill>
                  </a:tcPr>
                </a:tc>
                <a:tc>
                  <a:txBody>
                    <a:bodyPr wrap="square"/>
                    <a:lstStyle/>
                    <a:p>
                      <a:pPr algn="r"/>
                      <a:r>
                        <a:rPr sz="850" b="1" i="0">
                          <a:solidFill>
                            <a:srgbClr val="FFFFFF"/>
                          </a:solidFill>
                          <a:latin typeface="Arial"/>
                        </a:rPr>
                        <a:t>Riptide 1t</a:t>
                      </a:r>
                    </a:p>
                  </a:txBody>
                  <a:tcPr marL="54864" marR="54864" marT="18288" marB="18288" anchor="ctr">
                    <a:solidFill>
                      <a:srgbClr val="4285F4"/>
                    </a:solidFill>
                  </a:tcPr>
                </a:tc>
                <a:tc>
                  <a:txBody>
                    <a:bodyPr wrap="square"/>
                    <a:lstStyle/>
                    <a:p>
                      <a:pPr algn="r"/>
                      <a:r>
                        <a:rPr sz="850" b="1" i="0">
                          <a:solidFill>
                            <a:srgbClr val="FFFFFF"/>
                          </a:solidFill>
                          <a:latin typeface="Arial"/>
                        </a:rPr>
                        <a:t>rapidgzip 1t</a:t>
                      </a:r>
                    </a:p>
                  </a:txBody>
                  <a:tcPr marL="54864" marR="54864" marT="18288" marB="18288" anchor="ctr">
                    <a:solidFill>
                      <a:srgbClr val="4285F4"/>
                    </a:solidFill>
                  </a:tcPr>
                </a:tc>
              </a:tr>
              <a:tr h="265176">
                <a:tc>
                  <a:txBody>
                    <a:bodyPr wrap="square"/>
                    <a:lstStyle/>
                    <a:p>
                      <a:pPr algn="l"/>
                      <a:r>
                        <a:rPr sz="850" b="0" i="0">
                          <a:solidFill>
                            <a:srgbClr val="595959"/>
                          </a:solidFill>
                          <a:latin typeface="Arial"/>
                        </a:rPr>
                        <a:t>Silesia</a:t>
                      </a:r>
                    </a:p>
                  </a:txBody>
                  <a:tcPr marL="54864" marR="54864" marT="18288" marB="18288" anchor="ctr">
                    <a:solidFill>
                      <a:srgbClr val="FFFFFF"/>
                    </a:solidFill>
                  </a:tcPr>
                </a:tc>
                <a:tc>
                  <a:txBody>
                    <a:bodyPr wrap="square"/>
                    <a:lstStyle/>
                    <a:p>
                      <a:pPr algn="r"/>
                      <a:r>
                        <a:rPr sz="850" b="0" i="0">
                          <a:solidFill>
                            <a:srgbClr val="595959"/>
                          </a:solidFill>
                          <a:latin typeface="Arial"/>
                        </a:rPr>
                        <a:t>2.33</a:t>
                      </a:r>
                    </a:p>
                  </a:txBody>
                  <a:tcPr marL="54864" marR="54864" marT="18288" marB="18288" anchor="ctr">
                    <a:solidFill>
                      <a:srgbClr val="FFFFFF"/>
                    </a:solidFill>
                  </a:tcPr>
                </a:tc>
                <a:tc>
                  <a:txBody>
                    <a:bodyPr wrap="square"/>
                    <a:lstStyle/>
                    <a:p>
                      <a:pPr algn="r"/>
                      <a:r>
                        <a:rPr sz="850" b="0" i="0">
                          <a:solidFill>
                            <a:srgbClr val="595959"/>
                          </a:solidFill>
                          <a:latin typeface="Arial"/>
                        </a:rPr>
                        <a:t>2.14</a:t>
                      </a:r>
                    </a:p>
                  </a:txBody>
                  <a:tcPr marL="54864" marR="54864" marT="18288" marB="18288" anchor="ctr">
                    <a:solidFill>
                      <a:srgbClr val="FFFFFF"/>
                    </a:solidFill>
                  </a:tcPr>
                </a:tc>
                <a:tc>
                  <a:txBody>
                    <a:bodyPr wrap="square"/>
                    <a:lstStyle/>
                    <a:p>
                      <a:pPr algn="r"/>
                      <a:r>
                        <a:rPr sz="850" b="0" i="0">
                          <a:solidFill>
                            <a:srgbClr val="595959"/>
                          </a:solidFill>
                          <a:latin typeface="Arial"/>
                        </a:rPr>
                        <a:t>0.87</a:t>
                      </a:r>
                    </a:p>
                  </a:txBody>
                  <a:tcPr marL="54864" marR="54864" marT="18288" marB="18288" anchor="ctr">
                    <a:solidFill>
                      <a:srgbClr val="FFFFFF"/>
                    </a:solidFill>
                  </a:tcPr>
                </a:tc>
                <a:tc>
                  <a:txBody>
                    <a:bodyPr wrap="square"/>
                    <a:lstStyle/>
                    <a:p>
                      <a:pPr algn="r"/>
                      <a:r>
                        <a:rPr sz="850" b="0" i="0">
                          <a:solidFill>
                            <a:srgbClr val="595959"/>
                          </a:solidFill>
                          <a:latin typeface="Arial"/>
                        </a:rPr>
                        <a:t>0.47</a:t>
                      </a:r>
                    </a:p>
                  </a:txBody>
                  <a:tcPr marL="54864" marR="54864" marT="18288" marB="18288" anchor="ctr">
                    <a:solidFill>
                      <a:srgbClr val="FFFFFF"/>
                    </a:solidFill>
                  </a:tcPr>
                </a:tc>
              </a:tr>
              <a:tr h="265176">
                <a:tc>
                  <a:txBody>
                    <a:bodyPr wrap="square"/>
                    <a:lstStyle/>
                    <a:p>
                      <a:pPr algn="l"/>
                      <a:r>
                        <a:rPr sz="850" b="0" i="0">
                          <a:solidFill>
                            <a:srgbClr val="595959"/>
                          </a:solidFill>
                          <a:latin typeface="Arial"/>
                        </a:rPr>
                        <a:t>Silesia ×5</a:t>
                      </a:r>
                    </a:p>
                  </a:txBody>
                  <a:tcPr marL="54864" marR="54864" marT="18288" marB="18288" anchor="ctr">
                    <a:solidFill>
                      <a:srgbClr val="F1F3F4"/>
                    </a:solidFill>
                  </a:tcPr>
                </a:tc>
                <a:tc>
                  <a:txBody>
                    <a:bodyPr wrap="square"/>
                    <a:lstStyle/>
                    <a:p>
                      <a:pPr algn="r"/>
                      <a:r>
                        <a:rPr sz="850" b="0" i="0">
                          <a:solidFill>
                            <a:srgbClr val="595959"/>
                          </a:solidFill>
                          <a:latin typeface="Arial"/>
                        </a:rPr>
                        <a:t>2.50</a:t>
                      </a:r>
                    </a:p>
                  </a:txBody>
                  <a:tcPr marL="54864" marR="54864" marT="18288" marB="18288" anchor="ctr">
                    <a:solidFill>
                      <a:srgbClr val="F1F3F4"/>
                    </a:solidFill>
                  </a:tcPr>
                </a:tc>
                <a:tc>
                  <a:txBody>
                    <a:bodyPr wrap="square"/>
                    <a:lstStyle/>
                    <a:p>
                      <a:pPr algn="r"/>
                      <a:r>
                        <a:rPr sz="850" b="0" i="0">
                          <a:solidFill>
                            <a:srgbClr val="595959"/>
                          </a:solidFill>
                          <a:latin typeface="Arial"/>
                        </a:rPr>
                        <a:t>2.16</a:t>
                      </a:r>
                    </a:p>
                  </a:txBody>
                  <a:tcPr marL="54864" marR="54864" marT="18288" marB="18288" anchor="ctr">
                    <a:solidFill>
                      <a:srgbClr val="F1F3F4"/>
                    </a:solidFill>
                  </a:tcPr>
                </a:tc>
                <a:tc>
                  <a:txBody>
                    <a:bodyPr wrap="square"/>
                    <a:lstStyle/>
                    <a:p>
                      <a:pPr algn="r"/>
                      <a:r>
                        <a:rPr sz="850" b="0" i="0">
                          <a:solidFill>
                            <a:srgbClr val="595959"/>
                          </a:solidFill>
                          <a:latin typeface="Arial"/>
                        </a:rPr>
                        <a:t>0.86</a:t>
                      </a:r>
                    </a:p>
                  </a:txBody>
                  <a:tcPr marL="54864" marR="54864" marT="18288" marB="18288" anchor="ctr">
                    <a:solidFill>
                      <a:srgbClr val="F1F3F4"/>
                    </a:solidFill>
                  </a:tcPr>
                </a:tc>
                <a:tc>
                  <a:txBody>
                    <a:bodyPr wrap="square"/>
                    <a:lstStyle/>
                    <a:p>
                      <a:pPr algn="r"/>
                      <a:r>
                        <a:rPr sz="850" b="0" i="0">
                          <a:solidFill>
                            <a:srgbClr val="595959"/>
                          </a:solidFill>
                          <a:latin typeface="Arial"/>
                        </a:rPr>
                        <a:t>0.46</a:t>
                      </a:r>
                    </a:p>
                  </a:txBody>
                  <a:tcPr marL="54864" marR="54864" marT="18288" marB="18288" anchor="ctr">
                    <a:solidFill>
                      <a:srgbClr val="F1F3F4"/>
                    </a:solidFill>
                  </a:tcPr>
                </a:tc>
              </a:tr>
              <a:tr h="265176">
                <a:tc>
                  <a:txBody>
                    <a:bodyPr wrap="square"/>
                    <a:lstStyle/>
                    <a:p>
                      <a:pPr algn="l"/>
                      <a:r>
                        <a:rPr sz="850" b="0" i="0">
                          <a:solidFill>
                            <a:srgbClr val="595959"/>
                          </a:solidFill>
                          <a:latin typeface="Arial"/>
                        </a:rPr>
                        <a:t>FASTQ</a:t>
                      </a:r>
                    </a:p>
                  </a:txBody>
                  <a:tcPr marL="54864" marR="54864" marT="18288" marB="18288" anchor="ctr">
                    <a:solidFill>
                      <a:srgbClr val="FFFFFF"/>
                    </a:solidFill>
                  </a:tcPr>
                </a:tc>
                <a:tc>
                  <a:txBody>
                    <a:bodyPr wrap="square"/>
                    <a:lstStyle/>
                    <a:p>
                      <a:pPr algn="r"/>
                      <a:r>
                        <a:rPr sz="850" b="0" i="0">
                          <a:solidFill>
                            <a:srgbClr val="595959"/>
                          </a:solidFill>
                          <a:latin typeface="Arial"/>
                        </a:rPr>
                        <a:t>1.99</a:t>
                      </a:r>
                    </a:p>
                  </a:txBody>
                  <a:tcPr marL="54864" marR="54864" marT="18288" marB="18288" anchor="ctr">
                    <a:solidFill>
                      <a:srgbClr val="FFFFFF"/>
                    </a:solidFill>
                  </a:tcPr>
                </a:tc>
                <a:tc>
                  <a:txBody>
                    <a:bodyPr wrap="square"/>
                    <a:lstStyle/>
                    <a:p>
                      <a:pPr algn="r"/>
                      <a:r>
                        <a:rPr sz="850" b="0" i="0">
                          <a:solidFill>
                            <a:srgbClr val="595959"/>
                          </a:solidFill>
                          <a:latin typeface="Arial"/>
                        </a:rPr>
                        <a:t>2.03</a:t>
                      </a:r>
                    </a:p>
                  </a:txBody>
                  <a:tcPr marL="54864" marR="54864" marT="18288" marB="18288" anchor="ctr">
                    <a:solidFill>
                      <a:srgbClr val="FFFFFF"/>
                    </a:solidFill>
                  </a:tcPr>
                </a:tc>
                <a:tc>
                  <a:txBody>
                    <a:bodyPr wrap="square"/>
                    <a:lstStyle/>
                    <a:p>
                      <a:pPr algn="r"/>
                      <a:r>
                        <a:rPr sz="850" b="0" i="0">
                          <a:solidFill>
                            <a:srgbClr val="595959"/>
                          </a:solidFill>
                          <a:latin typeface="Arial"/>
                        </a:rPr>
                        <a:t>0.66</a:t>
                      </a:r>
                    </a:p>
                  </a:txBody>
                  <a:tcPr marL="54864" marR="54864" marT="18288" marB="18288" anchor="ctr">
                    <a:solidFill>
                      <a:srgbClr val="FFFFFF"/>
                    </a:solidFill>
                  </a:tcPr>
                </a:tc>
                <a:tc>
                  <a:txBody>
                    <a:bodyPr wrap="square"/>
                    <a:lstStyle/>
                    <a:p>
                      <a:pPr algn="r"/>
                      <a:r>
                        <a:rPr sz="850" b="0" i="0">
                          <a:solidFill>
                            <a:srgbClr val="595959"/>
                          </a:solidFill>
                          <a:latin typeface="Arial"/>
                        </a:rPr>
                        <a:t>0.54</a:t>
                      </a:r>
                    </a:p>
                  </a:txBody>
                  <a:tcPr marL="54864" marR="54864" marT="18288" marB="18288" anchor="ctr">
                    <a:solidFill>
                      <a:srgbClr val="FFFFFF"/>
                    </a:solidFill>
                  </a:tcPr>
                </a:tc>
              </a:tr>
              <a:tr h="265176">
                <a:tc>
                  <a:txBody>
                    <a:bodyPr wrap="square"/>
                    <a:lstStyle/>
                    <a:p>
                      <a:pPr algn="l"/>
                      <a:r>
                        <a:rPr sz="850" b="0" i="0">
                          <a:solidFill>
                            <a:srgbClr val="595959"/>
                          </a:solidFill>
                          <a:latin typeface="Arial"/>
                        </a:rPr>
                        <a:t>Logs</a:t>
                      </a:r>
                    </a:p>
                  </a:txBody>
                  <a:tcPr marL="54864" marR="54864" marT="18288" marB="18288" anchor="ctr">
                    <a:solidFill>
                      <a:srgbClr val="F1F3F4"/>
                    </a:solidFill>
                  </a:tcPr>
                </a:tc>
                <a:tc>
                  <a:txBody>
                    <a:bodyPr wrap="square"/>
                    <a:lstStyle/>
                    <a:p>
                      <a:pPr algn="r"/>
                      <a:r>
                        <a:rPr sz="850" b="0" i="0">
                          <a:solidFill>
                            <a:srgbClr val="595959"/>
                          </a:solidFill>
                          <a:latin typeface="Arial"/>
                        </a:rPr>
                        <a:t>4.21</a:t>
                      </a:r>
                    </a:p>
                  </a:txBody>
                  <a:tcPr marL="54864" marR="54864" marT="18288" marB="18288" anchor="ctr">
                    <a:solidFill>
                      <a:srgbClr val="F1F3F4"/>
                    </a:solidFill>
                  </a:tcPr>
                </a:tc>
                <a:tc>
                  <a:txBody>
                    <a:bodyPr wrap="square"/>
                    <a:lstStyle/>
                    <a:p>
                      <a:pPr algn="r"/>
                      <a:r>
                        <a:rPr sz="850" b="0" i="0">
                          <a:solidFill>
                            <a:srgbClr val="595959"/>
                          </a:solidFill>
                          <a:latin typeface="Arial"/>
                        </a:rPr>
                        <a:t>4.61</a:t>
                      </a:r>
                    </a:p>
                  </a:txBody>
                  <a:tcPr marL="54864" marR="54864" marT="18288" marB="18288" anchor="ctr">
                    <a:solidFill>
                      <a:srgbClr val="F1F3F4"/>
                    </a:solidFill>
                  </a:tcPr>
                </a:tc>
                <a:tc>
                  <a:txBody>
                    <a:bodyPr wrap="square"/>
                    <a:lstStyle/>
                    <a:p>
                      <a:pPr algn="r"/>
                      <a:r>
                        <a:rPr sz="850" b="0" i="0">
                          <a:solidFill>
                            <a:srgbClr val="595959"/>
                          </a:solidFill>
                          <a:latin typeface="Arial"/>
                        </a:rPr>
                        <a:t>1.75</a:t>
                      </a:r>
                    </a:p>
                  </a:txBody>
                  <a:tcPr marL="54864" marR="54864" marT="18288" marB="18288" anchor="ctr">
                    <a:solidFill>
                      <a:srgbClr val="F1F3F4"/>
                    </a:solidFill>
                  </a:tcPr>
                </a:tc>
                <a:tc>
                  <a:txBody>
                    <a:bodyPr wrap="square"/>
                    <a:lstStyle/>
                    <a:p>
                      <a:pPr algn="r"/>
                      <a:r>
                        <a:rPr sz="850" b="0" i="0">
                          <a:solidFill>
                            <a:srgbClr val="595959"/>
                          </a:solidFill>
                          <a:latin typeface="Arial"/>
                        </a:rPr>
                        <a:t>1.78</a:t>
                      </a:r>
                    </a:p>
                  </a:txBody>
                  <a:tcPr marL="54864" marR="54864" marT="18288" marB="18288" anchor="ctr">
                    <a:solidFill>
                      <a:srgbClr val="F1F3F4"/>
                    </a:solidFill>
                  </a:tcPr>
                </a:tc>
              </a:tr>
            </a:tbl>
          </a:graphicData>
        </a:graphic>
      </p:graphicFrame>
      <p:sp>
        <p:nvSpPr>
          <p:cNvPr id="8" name="TextBox 7"/>
          <p:cNvSpPr txBox="1"/>
          <p:nvPr/>
        </p:nvSpPr>
        <p:spPr>
          <a:xfrm>
            <a:off x="4572000" y="2679192"/>
            <a:ext cx="4261104" cy="685800"/>
          </a:xfrm>
          <a:prstGeom prst="rect">
            <a:avLst/>
          </a:prstGeom>
          <a:noFill/>
        </p:spPr>
        <p:txBody>
          <a:bodyPr wrap="square" lIns="0" rIns="0" tIns="0" bIns="0" anchor="t">
            <a:spAutoFit/>
          </a:bodyPr>
          <a:lstStyle/>
          <a:p>
            <a:pPr algn="l"/>
            <a:r>
              <a:rPr sz="800" b="0" i="1">
                <a:solidFill>
                  <a:srgbClr val="78909C"/>
                </a:solidFill>
                <a:latin typeface="Arial"/>
              </a:rPr>
              <a:t>10 threads: no significant difference (0.91–1.16×). 1–2 threads: Riptide 1.2–1.9× faster (rapidgzip has no ISA-L on ARM). rapidgzip needs 2–5× less memory and is 1.3× faster with 64 KiB chunks.</a:t>
            </a:r>
          </a:p>
        </p:txBody>
      </p:sp>
      <p:sp>
        <p:nvSpPr>
          <p:cNvPr id="9" name="Rounded Rectangle 8"/>
          <p:cNvSpPr/>
          <p:nvPr/>
        </p:nvSpPr>
        <p:spPr>
          <a:xfrm>
            <a:off x="310896" y="3429000"/>
            <a:ext cx="8522208" cy="1325880"/>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27432" bIns="27432"/>
          <a:lstStyle/>
          <a:p>
            <a:pPr algn="l"/>
            <a:r>
              <a:rPr sz="1000" b="1" i="0">
                <a:solidFill>
                  <a:srgbClr val="212121"/>
                </a:solidFill>
                <a:latin typeface="Arial"/>
              </a:rPr>
              <a:t>Are the chosen metrics enough to assess the project?</a:t>
            </a:r>
          </a:p>
          <a:p>
            <a:pPr algn="l"/>
            <a:r>
              <a:rPr sz="900" b="0" i="0">
                <a:solidFill>
                  <a:srgbClr val="595959"/>
                </a:solidFill>
                <a:latin typeface="Arial"/>
              </a:rPr>
              <a:t>Correctness gates every result: 1 200 of 1 200 runs byte-identical to zlib.</a:t>
            </a:r>
          </a:p>
          <a:p>
            <a:pPr algn="l"/>
            <a:r>
              <a:rPr sz="900" b="0" i="0">
                <a:solidFill>
                  <a:srgbClr val="595959"/>
                </a:solidFill>
                <a:latin typeface="Arial"/>
              </a:rPr>
              <a:t>Each contribution has its own metric: window-resolution time for M3, load imbalance λ for M1, peak memory per output byte.</a:t>
            </a:r>
          </a:p>
          <a:p>
            <a:pPr algn="l"/>
            <a:r>
              <a:rPr sz="900" b="0" i="0">
                <a:solidFill>
                  <a:srgbClr val="595959"/>
                </a:solidFill>
                <a:latin typeface="Arial"/>
              </a:rPr>
              <a:t>Medians of 10 interleaved runs, Mann–Whitney U with Holm correction; one machine and three synthetic datasets are stated limits.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