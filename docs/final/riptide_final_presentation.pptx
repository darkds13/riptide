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2" r:id="rId13"/>
    <p:sldId id="263" r:id="rId14"/>
    <p:sldId id="260" r:id="rId10"/>
    <p:sldId id="261" r:id="rId1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2" roundtripDataSignature="AMtx7mgI24oTcC8pyATHdhJlvgNiU4JP4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customschemas.google.com/relationships/presentationmetadata" Target="metadata"/><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212121"/>
                </a:solidFill>
                <a:latin typeface="Arial"/>
              </a:rPr>
              <a:t>Dependent steps to resolve windows, Silesia tarball</a:t>
            </a:r>
          </a:p>
        </c:rich>
      </c:tx>
      <c:layout/>
      <c:overlay val="0"/>
    </c:title>
    <c:autoTitleDeleted val="0"/>
    <c:plotArea>
      <c:barChart>
        <c:barDir val="col"/>
        <c:grouping val="clustered"/>
        <c:ser>
          <c:idx val="0"/>
          <c:order val="0"/>
          <c:tx>
            <c:strRef>
              <c:f>Sheet1!$B$1</c:f>
              <c:strCache>
                <c:ptCount val="1"/>
                <c:pt idx="0">
                  <c:v>Sequential chain (base paper)</c:v>
                </c:pt>
              </c:strCache>
            </c:strRef>
          </c:tx>
          <c:spPr>
            <a:solidFill>
              <a:srgbClr val="FFAB40"/>
            </a:solidFill>
          </c:spPr>
          <c:cat>
            <c:strRef>
              <c:f>Sheet1!$A$2:$A$3</c:f>
              <c:strCache>
                <c:ptCount val="2"/>
                <c:pt idx="0">
                  <c:v>4 MiB chunks (17)</c:v>
                </c:pt>
                <c:pt idx="1">
                  <c:v>512 KiB chunks (131)</c:v>
                </c:pt>
              </c:strCache>
            </c:strRef>
          </c:cat>
          <c:val>
            <c:numRef>
              <c:f>Sheet1!$B$2:$B$3</c:f>
              <c:numCache>
                <c:formatCode>General</c:formatCode>
                <c:ptCount val="2"/>
                <c:pt idx="0">
                  <c:v>16</c:v>
                </c:pt>
                <c:pt idx="1">
                  <c:v>130</c:v>
                </c:pt>
              </c:numCache>
            </c:numRef>
          </c:val>
        </c:ser>
        <c:ser>
          <c:idx val="1"/>
          <c:order val="1"/>
          <c:tx>
            <c:strRef>
              <c:f>Sheet1!$C$1</c:f>
              <c:strCache>
                <c:ptCount val="1"/>
                <c:pt idx="0">
                  <c:v>Prefix scan (ours)</c:v>
                </c:pt>
              </c:strCache>
            </c:strRef>
          </c:tx>
          <c:spPr>
            <a:solidFill>
              <a:srgbClr val="4285F4"/>
            </a:solidFill>
          </c:spPr>
          <c:cat>
            <c:strRef>
              <c:f>Sheet1!$A$2:$A$3</c:f>
              <c:strCache>
                <c:ptCount val="2"/>
                <c:pt idx="0">
                  <c:v>4 MiB chunks (17)</c:v>
                </c:pt>
                <c:pt idx="1">
                  <c:v>512 KiB chunks (131)</c:v>
                </c:pt>
              </c:strCache>
            </c:strRef>
          </c:cat>
          <c:val>
            <c:numRef>
              <c:f>Sheet1!$C$2:$C$3</c:f>
              <c:numCache>
                <c:formatCode>General</c:formatCode>
                <c:ptCount val="2"/>
                <c:pt idx="0">
                  <c:v>5</c:v>
                </c:pt>
                <c:pt idx="1">
                  <c:v>8</c:v>
                </c:pt>
              </c:numCache>
            </c:numRef>
          </c:val>
        </c:ser>
        <c:dLbls>
          <c:numFmt formatCode="0" sourceLinked="0"/>
          <c:txPr>
            <a:bodyPr/>
            <a:lstStyle/>
            <a:p>
              <a:pPr>
                <a:defRPr sz="850">
                  <a:latin typeface="Arial"/>
                </a:defRPr>
              </a:pPr>
            </a:p>
          </c:txPr>
          <c:dLblPos val="outEnd"/>
          <c:showLegendKey val="0"/>
          <c:showVal val="1"/>
          <c:showCatName val="0"/>
          <c:showSerName val="0"/>
          <c:showPercent val="0"/>
          <c:showBubbleSize val="0"/>
          <c:showLeaderLines val="1"/>
        </c:dLbls>
        <c:gapWidth val="70"/>
        <c:overlap val="-10"/>
        <c:axId val="2226939960"/>
        <c:axId val="2180972856"/>
      </c:barChart>
      <c:catAx>
        <c:axId val="2226939960"/>
        <c:scaling>
          <c:orientation val="minMax"/>
        </c:scaling>
        <c:delete val="0"/>
        <c:axPos val="b"/>
        <c:majorTickMark val="out"/>
        <c:minorTickMark val="none"/>
        <c:tickLblPos val="nextTo"/>
        <c:txPr>
          <a:bodyPr/>
          <a:lstStyle/>
          <a:p>
            <a:pPr>
              <a:defRPr sz="850">
                <a:latin typeface="Arial"/>
              </a:defRPr>
            </a:pPr>
          </a:p>
        </c:txPr>
        <c:crossAx val="2180972856"/>
        <c:crosses val="autoZero"/>
        <c:auto val="1"/>
        <c:lblAlgn val="ctr"/>
        <c:lblOffset val="100"/>
        <c:noMultiLvlLbl val="0"/>
      </c:catAx>
      <c:valAx>
        <c:axId val="2180972856"/>
        <c:scaling>
          <c:max val="140.0"/>
          <c:min val="0.0"/>
        </c:scaling>
        <c:delete val="0"/>
        <c:axPos val="l"/>
        <c:majorGridlines>
          <c:spPr>
            <a:ln>
              <a:solidFill>
                <a:srgbClr val="E0E0E0"/>
              </a:solidFill>
            </a:ln>
          </c:spPr>
        </c:majorGridlines>
        <c:majorTickMark val="out"/>
        <c:minorTickMark val="none"/>
        <c:tickLblPos val="nextTo"/>
        <c:spPr>
          <a:ln>
            <a:noFill/>
          </a:ln>
        </c:spPr>
        <c:txPr>
          <a:bodyPr/>
          <a:lstStyle/>
          <a:p>
            <a:pPr>
              <a:defRPr sz="850">
                <a:latin typeface="Arial"/>
              </a:defRPr>
            </a:pPr>
          </a:p>
        </c:txPr>
        <c:crossAx val="2226939960"/>
        <c:crosses val="autoZero"/>
        <c:majorUnit val="35.0"/>
      </c:valAx>
    </c:plotArea>
    <c:legend>
      <c:legendPos val="b"/>
      <c:overlay val="0"/>
      <c:txPr>
        <a:bodyPr/>
        <a:lstStyle/>
        <a:p>
          <a:pPr>
            <a:defRPr sz="85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4201240a44ad152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h4201240a44ad152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Lead with the Spark fact: one task for a 10 GB .gz, regardless of cluster size. Then the base paper: rapidgzip already decodes in parallel, but it resolves the 32 KB windows between chunks one after another, says that step cannot be parallelised, and attributes its 48-64-core scaling limit to it. That serial step is what we remove.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4" name="Google Shape;64;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Amber stages are ours; M3 is the main contribution. Each chunk's final window is a map from the previous window, and composing those maps is associative, so the serial chain becomes a prefix scan: log2 N rounds instead of N steps. Stage 0 is a cheap cost estimate from sampled headers, not a sequential pass. Grey stages, including CRC32 verification, come from the base paper and are not claimed.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Our dataset is the Silesia corpus, the same benchmark the base paper uses, downloaded from its maintainer and gzipped at the default level. Our from-scratch decoder reproduces zlib exactly on all twelve files and on the tarball, and the tarball's 3.11 ratio matches the base paper's 3.1, so our setup matches theirs.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h4201240a44ad152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h4201240a44ad152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h4201240a44ad152a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h4201240a44ad152a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main result. At the base paper's own chunk size, the scan resolves Silesia's windows exactly, in 5 rounds instead of 16 steps; at 512 KiB, 8 instead of 130. Be honest about the size of the effect: the chain is a small share of the work, about 0.2% of the total even at 512 KiB. The base paper attributes its 64-core plateau to this step, but by pure arithmetic it should be cheap, so the first implementation task is to time the step inside rapidgzip. The size of M3's speedup is claimed only after that measurement.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base paper's own numbers are quoted for reference, but every amber cell will be measured on our hardware, with rapidgzip built from the same commit as our fork. The window-depth column is the contribution: serial in the base paper, logarithmic in ours.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 name="Shape 13"/>
        <p:cNvGrpSpPr/>
        <p:nvPr/>
      </p:nvGrpSpPr>
      <p:grpSpPr>
        <a:xfrm>
          <a:off x="0" y="0"/>
          <a:ext cx="0" cy="0"/>
          <a:chOff x="0" y="0"/>
          <a:chExt cx="0" cy="0"/>
        </a:xfrm>
      </p:grpSpPr>
      <p:sp>
        <p:nvSpPr>
          <p:cNvPr id="14" name="Google Shape;14;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5" name="Google Shape;15;p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6" name="Google Shape;16;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8"/>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9"/>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9"/>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1"/>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1"/>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2"/>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3"/>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3"/>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3"/>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4"/>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5"/>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5"/>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
          <p:cNvSpPr txBox="1"/>
          <p:nvPr>
            <p:ph type="ctrTitle"/>
          </p:nvPr>
        </p:nvSpPr>
        <p:spPr>
          <a:xfrm>
            <a:off x="310896" y="1554480"/>
            <a:ext cx="8522208" cy="118872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5200"/>
              <a:buNone/>
            </a:pPr>
            <a:r>
              <a:rPr sz="4000" b="1" i="0">
                <a:solidFill>
                  <a:srgbClr val="212121"/>
                </a:solidFill>
                <a:latin typeface="Arial"/>
              </a:rPr>
              <a:t>Riptide</a:t>
            </a:r>
            <a:endParaRPr/>
          </a:p>
          <a:p>
            <a:pPr algn="ctr"/>
            <a:r>
              <a:rPr sz="1700" b="0" i="0">
                <a:solidFill>
                  <a:srgbClr val="595959"/>
                </a:solidFill>
                <a:latin typeface="Arial"/>
              </a:rPr>
              <a:t>Breaking the Serial Window Chain in Parallel Gzip Decompression</a:t>
            </a:r>
          </a:p>
        </p:txBody>
      </p:sp>
      <p:sp>
        <p:nvSpPr>
          <p:cNvPr id="55" name="Google Shape;55;p1"/>
          <p:cNvSpPr txBox="1"/>
          <p:nvPr>
            <p:ph idx="1" type="subTitle"/>
          </p:nvPr>
        </p:nvSpPr>
        <p:spPr>
          <a:xfrm>
            <a:off x="310896" y="1216152"/>
            <a:ext cx="8522208" cy="292608"/>
          </a:xfrm>
          <a:prstGeom prst="rect">
            <a:avLst/>
          </a:prstGeom>
          <a:noFill/>
          <a:ln>
            <a:noFill/>
          </a:ln>
        </p:spPr>
        <p:txBody>
          <a:bodyPr anchorCtr="0" anchor="ctr" bIns="0" lIns="0" spcFirstLastPara="1" rIns="0" wrap="square" tIns="0">
            <a:normAutofit/>
          </a:bodyPr>
          <a:lstStyle/>
          <a:p>
            <a:pPr indent="0" lvl="0" marL="0" rtl="0" algn="ctr">
              <a:lnSpc>
                <a:spcPct val="100000"/>
              </a:lnSpc>
              <a:spcBef>
                <a:spcPts val="0"/>
              </a:spcBef>
              <a:spcAft>
                <a:spcPts val="0"/>
              </a:spcAft>
              <a:buSzPts val="2800"/>
              <a:buNone/>
            </a:pPr>
            <a:r>
              <a:rPr sz="1100" b="1" i="0" spc="300">
                <a:solidFill>
                  <a:srgbClr val="4285F4"/>
                </a:solidFill>
                <a:latin typeface="Arial"/>
              </a:rPr>
              <a:t>FINAL PRESENTATION</a:t>
            </a:r>
            <a:endParaRPr/>
          </a:p>
        </p:txBody>
      </p:sp>
      <p:pic>
        <p:nvPicPr>
          <p:cNvPr id="56" name="Picture 55" descr="nitk_logo.png"/>
          <p:cNvPicPr>
            <a:picLocks noChangeAspect="1"/>
          </p:cNvPicPr>
          <p:nvPr/>
        </p:nvPicPr>
        <p:blipFill>
          <a:blip r:embed="rId3"/>
          <a:stretch>
            <a:fillRect/>
          </a:stretch>
        </p:blipFill>
        <p:spPr>
          <a:xfrm>
            <a:off x="4151376" y="347472"/>
            <a:ext cx="840065" cy="777240"/>
          </a:xfrm>
          <a:prstGeom prst="rect">
            <a:avLst/>
          </a:prstGeom>
        </p:spPr>
      </p:pic>
      <p:sp>
        <p:nvSpPr>
          <p:cNvPr id="57" name="Rounded Rectangle 56"/>
          <p:cNvSpPr/>
          <p:nvPr/>
        </p:nvSpPr>
        <p:spPr>
          <a:xfrm>
            <a:off x="1325880" y="3017520"/>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Devansh Hiren Shah</a:t>
            </a:r>
          </a:p>
          <a:p>
            <a:pPr algn="ctr"/>
            <a:r>
              <a:rPr sz="1000" b="0" i="0">
                <a:solidFill>
                  <a:srgbClr val="78909C"/>
                </a:solidFill>
                <a:latin typeface="Arial"/>
              </a:rPr>
              <a:t>241IT024</a:t>
            </a:r>
          </a:p>
        </p:txBody>
      </p:sp>
      <p:sp>
        <p:nvSpPr>
          <p:cNvPr id="58" name="Rounded Rectangle 57"/>
          <p:cNvSpPr/>
          <p:nvPr/>
        </p:nvSpPr>
        <p:spPr>
          <a:xfrm>
            <a:off x="4709160" y="3017520"/>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Mantri Samarth Prakash</a:t>
            </a:r>
          </a:p>
          <a:p>
            <a:pPr algn="ctr"/>
            <a:r>
              <a:rPr sz="1000" b="0" i="0">
                <a:solidFill>
                  <a:srgbClr val="78909C"/>
                </a:solidFill>
                <a:latin typeface="Arial"/>
              </a:rPr>
              <a:t>241IT043</a:t>
            </a:r>
          </a:p>
        </p:txBody>
      </p:sp>
      <p:sp>
        <p:nvSpPr>
          <p:cNvPr id="59" name="Rounded Rectangle 58"/>
          <p:cNvSpPr/>
          <p:nvPr/>
        </p:nvSpPr>
        <p:spPr>
          <a:xfrm>
            <a:off x="1325880" y="3529584"/>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Shubh Minesh Thakkar</a:t>
            </a:r>
          </a:p>
          <a:p>
            <a:pPr algn="ctr"/>
            <a:r>
              <a:rPr sz="1000" b="0" i="0">
                <a:solidFill>
                  <a:srgbClr val="78909C"/>
                </a:solidFill>
                <a:latin typeface="Arial"/>
              </a:rPr>
              <a:t>241IT076</a:t>
            </a:r>
          </a:p>
        </p:txBody>
      </p:sp>
      <p:sp>
        <p:nvSpPr>
          <p:cNvPr id="60" name="Rounded Rectangle 59"/>
          <p:cNvSpPr/>
          <p:nvPr/>
        </p:nvSpPr>
        <p:spPr>
          <a:xfrm>
            <a:off x="4709160" y="3529584"/>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Ritesh Bhagat</a:t>
            </a:r>
          </a:p>
          <a:p>
            <a:pPr algn="ctr"/>
            <a:r>
              <a:rPr sz="1000" b="0" i="0">
                <a:solidFill>
                  <a:srgbClr val="78909C"/>
                </a:solidFill>
                <a:latin typeface="Arial"/>
              </a:rPr>
              <a:t>241IT063</a:t>
            </a:r>
          </a:p>
        </p:txBody>
      </p:sp>
      <p:sp>
        <p:nvSpPr>
          <p:cNvPr id="61" name="Rounded Rectangle 60"/>
          <p:cNvSpPr/>
          <p:nvPr/>
        </p:nvSpPr>
        <p:spPr>
          <a:xfrm>
            <a:off x="310896" y="4261104"/>
            <a:ext cx="8522208"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100" b="1" i="0">
                <a:solidFill>
                  <a:srgbClr val="212121"/>
                </a:solidFill>
                <a:latin typeface="Arial"/>
              </a:rPr>
              <a:t>IT 301 Parallel Computing</a:t>
            </a:r>
          </a:p>
          <a:p>
            <a:pPr algn="ctr"/>
            <a:r>
              <a:rPr sz="1000" b="0" i="0">
                <a:solidFill>
                  <a:srgbClr val="78909C"/>
                </a:solidFill>
                <a:latin typeface="Arial"/>
              </a:rPr>
              <a:t>Department of Information Technology  ·  NIT Karnataka, Surathkal</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h4201240a44ad152a_0_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800"/>
              <a:t>Problem Statement</a:t>
            </a:r>
            <a:endParaRPr/>
          </a:p>
        </p:txBody>
      </p:sp>
      <p:sp>
        <p:nvSpPr>
          <p:cNvPr id="61" name="TextBox 60"/>
          <p:cNvSpPr txBox="1"/>
          <p:nvPr/>
        </p:nvSpPr>
        <p:spPr>
          <a:xfrm>
            <a:off x="310896" y="1115568"/>
            <a:ext cx="3977639" cy="219456"/>
          </a:xfrm>
          <a:prstGeom prst="rect">
            <a:avLst/>
          </a:prstGeom>
          <a:noFill/>
        </p:spPr>
        <p:txBody>
          <a:bodyPr wrap="square" lIns="0" rIns="0" tIns="0" bIns="0" anchor="t">
            <a:spAutoFit/>
          </a:bodyPr>
          <a:lstStyle/>
          <a:p>
            <a:pPr algn="l"/>
            <a:r>
              <a:rPr sz="1050" b="1" i="0">
                <a:solidFill>
                  <a:srgbClr val="4285F4"/>
                </a:solidFill>
                <a:latin typeface="Arial"/>
              </a:rPr>
              <a:t>The problem</a:t>
            </a:r>
          </a:p>
        </p:txBody>
      </p:sp>
      <p:sp>
        <p:nvSpPr>
          <p:cNvPr id="62" name="TextBox 61"/>
          <p:cNvSpPr txBox="1"/>
          <p:nvPr/>
        </p:nvSpPr>
        <p:spPr>
          <a:xfrm>
            <a:off x="310896" y="1389888"/>
            <a:ext cx="3977639" cy="3383280"/>
          </a:xfrm>
          <a:prstGeom prst="rect">
            <a:avLst/>
          </a:prstGeom>
          <a:noFill/>
        </p:spPr>
        <p:txBody>
          <a:bodyPr wrap="square" lIns="0" rIns="0" tIns="0" bIns="0">
            <a:spAutoFit/>
          </a:bodyPr>
          <a:lstStyle/>
          <a:p>
            <a:pPr marL="164592" indent="-164592">
              <a:lnSpc>
                <a:spcPct val="108000"/>
              </a:lnSpc>
              <a:spcAft>
                <a:spcPts val="700"/>
              </a:spcAft>
              <a:buClr>
                <a:srgbClr val="4285F4"/>
              </a:buClr>
              <a:buFont typeface="Arial"/>
              <a:buChar char="•"/>
            </a:pPr>
            <a:r>
              <a:rPr sz="1050" b="1" i="0">
                <a:solidFill>
                  <a:srgbClr val="212121"/>
                </a:solidFill>
                <a:latin typeface="Arial"/>
              </a:rPr>
              <a:t>One core per file. </a:t>
            </a:r>
            <a:r>
              <a:rPr sz="1050" b="0" i="0">
                <a:solidFill>
                  <a:srgbClr val="595959"/>
                </a:solidFill>
                <a:latin typeface="Arial"/>
              </a:rPr>
              <a:t>Decompressing a .gz uses one CPU core, however many the machine has.</a:t>
            </a:r>
          </a:p>
          <a:p>
            <a:pPr marL="164592" indent="-164592">
              <a:lnSpc>
                <a:spcPct val="108000"/>
              </a:lnSpc>
              <a:spcAft>
                <a:spcPts val="700"/>
              </a:spcAft>
              <a:buClr>
                <a:srgbClr val="4285F4"/>
              </a:buClr>
              <a:buFont typeface="Arial"/>
              <a:buChar char="•"/>
            </a:pPr>
            <a:r>
              <a:rPr sz="1050" b="1" i="0">
                <a:solidFill>
                  <a:srgbClr val="212121"/>
                </a:solidFill>
                <a:latin typeface="Arial"/>
              </a:rPr>
              <a:t>Big-data engines cannot split it. </a:t>
            </a:r>
            <a:r>
              <a:rPr sz="1050" b="0" i="0">
                <a:solidFill>
                  <a:srgbClr val="595959"/>
                </a:solidFill>
                <a:latin typeface="Arial"/>
              </a:rPr>
              <a:t>Spark, Hive and Trino give a 10 GB .gz file a single task.</a:t>
            </a:r>
          </a:p>
          <a:p>
            <a:pPr marL="164592" indent="-164592">
              <a:lnSpc>
                <a:spcPct val="108000"/>
              </a:lnSpc>
              <a:spcAft>
                <a:spcPts val="700"/>
              </a:spcAft>
              <a:buClr>
                <a:srgbClr val="4285F4"/>
              </a:buClr>
              <a:buFont typeface="Arial"/>
              <a:buChar char="•"/>
            </a:pPr>
            <a:r>
              <a:rPr sz="1050" b="1" i="0">
                <a:solidFill>
                  <a:srgbClr val="212121"/>
                </a:solidFill>
                <a:latin typeface="Arial"/>
              </a:rPr>
              <a:t>The state of the art leaves a serial step. </a:t>
            </a:r>
            <a:r>
              <a:rPr sz="1050" b="0" i="0">
                <a:solidFill>
                  <a:srgbClr val="595959"/>
                </a:solidFill>
                <a:latin typeface="Arial"/>
              </a:rPr>
              <a:t>rapidgzip (HPDC '23) resolves the windows between chunks one by one; without an index its scaling stops at 48–64 cores.</a:t>
            </a:r>
          </a:p>
          <a:p>
            <a:pPr marL="164592" indent="-164592">
              <a:lnSpc>
                <a:spcPct val="108000"/>
              </a:lnSpc>
              <a:spcAft>
                <a:spcPts val="700"/>
              </a:spcAft>
              <a:buClr>
                <a:srgbClr val="4285F4"/>
              </a:buClr>
              <a:buFont typeface="Arial"/>
              <a:buChar char="•"/>
            </a:pPr>
            <a:r>
              <a:rPr sz="1050" b="1" i="0">
                <a:solidFill>
                  <a:srgbClr val="212121"/>
                </a:solidFill>
                <a:latin typeface="Arial"/>
              </a:rPr>
              <a:t>Our aim: </a:t>
            </a:r>
            <a:r>
              <a:rPr sz="1050" b="0" i="0">
                <a:solidFill>
                  <a:srgbClr val="595959"/>
                </a:solidFill>
                <a:latin typeface="Arial"/>
              </a:rPr>
              <a:t>parallelise that step, so decoding of unmodified .gz files keeps scaling, bit-identical to zlib.</a:t>
            </a:r>
          </a:p>
        </p:txBody>
      </p:sp>
      <p:sp>
        <p:nvSpPr>
          <p:cNvPr id="63" name="TextBox 62"/>
          <p:cNvSpPr txBox="1"/>
          <p:nvPr/>
        </p:nvSpPr>
        <p:spPr>
          <a:xfrm>
            <a:off x="4526280" y="1115568"/>
            <a:ext cx="4306824" cy="219456"/>
          </a:xfrm>
          <a:prstGeom prst="rect">
            <a:avLst/>
          </a:prstGeom>
          <a:noFill/>
        </p:spPr>
        <p:txBody>
          <a:bodyPr wrap="square" lIns="0" rIns="0" tIns="0" bIns="0" anchor="t">
            <a:spAutoFit/>
          </a:bodyPr>
          <a:lstStyle/>
          <a:p>
            <a:pPr algn="l"/>
            <a:r>
              <a:rPr sz="1050" b="1" i="0">
                <a:solidFill>
                  <a:srgbClr val="4285F4"/>
                </a:solidFill>
                <a:latin typeface="Arial"/>
              </a:rPr>
              <a:t>Stakeholders and how they benefit</a:t>
            </a:r>
          </a:p>
        </p:txBody>
      </p:sp>
      <p:graphicFrame>
        <p:nvGraphicFramePr>
          <p:cNvPr id="64" name="Table 63"/>
          <p:cNvGraphicFramePr>
            <a:graphicFrameLocks noGrp="1"/>
          </p:cNvGraphicFramePr>
          <p:nvPr/>
        </p:nvGraphicFramePr>
        <p:xfrm>
          <a:off x="4526280" y="1389888"/>
          <a:ext cx="4306824" cy="2286000"/>
        </p:xfrm>
        <a:graphic>
          <a:graphicData uri="http://schemas.openxmlformats.org/drawingml/2006/table">
            <a:tbl>
              <a:tblPr firstRow="1"/>
              <a:tblGrid>
                <a:gridCol w="1371600"/>
                <a:gridCol w="2935224"/>
              </a:tblGrid>
              <a:tr h="457200">
                <a:tc>
                  <a:txBody>
                    <a:bodyPr wrap="square"/>
                    <a:lstStyle/>
                    <a:p>
                      <a:pPr algn="l"/>
                      <a:r>
                        <a:rPr sz="900" b="1" i="0">
                          <a:solidFill>
                            <a:srgbClr val="FFFFFF"/>
                          </a:solidFill>
                          <a:latin typeface="Arial"/>
                        </a:rPr>
                        <a:t>Stakeholder</a:t>
                      </a:r>
                    </a:p>
                  </a:txBody>
                  <a:tcPr marL="54864" marR="54864" marT="18288" marB="18288" anchor="ctr">
                    <a:solidFill>
                      <a:srgbClr val="4285F4"/>
                    </a:solidFill>
                  </a:tcPr>
                </a:tc>
                <a:tc>
                  <a:txBody>
                    <a:bodyPr wrap="square"/>
                    <a:lstStyle/>
                    <a:p>
                      <a:pPr algn="l"/>
                      <a:r>
                        <a:rPr sz="900" b="1" i="0">
                          <a:solidFill>
                            <a:srgbClr val="FFFFFF"/>
                          </a:solidFill>
                          <a:latin typeface="Arial"/>
                        </a:rPr>
                        <a:t>Benefit</a:t>
                      </a:r>
                    </a:p>
                  </a:txBody>
                  <a:tcPr marL="54864" marR="54864" marT="18288" marB="18288" anchor="ctr">
                    <a:solidFill>
                      <a:srgbClr val="4285F4"/>
                    </a:solidFill>
                  </a:tcPr>
                </a:tc>
              </a:tr>
              <a:tr h="457200">
                <a:tc>
                  <a:txBody>
                    <a:bodyPr wrap="square"/>
                    <a:lstStyle/>
                    <a:p>
                      <a:pPr algn="l"/>
                      <a:r>
                        <a:rPr sz="900" b="0" i="0">
                          <a:solidFill>
                            <a:srgbClr val="595959"/>
                          </a:solidFill>
                          <a:latin typeface="Arial"/>
                        </a:rPr>
                        <a:t>Data engineers</a:t>
                      </a:r>
                    </a:p>
                  </a:txBody>
                  <a:tcPr marL="54864" marR="54864" marT="18288" marB="18288" anchor="ctr">
                    <a:solidFill>
                      <a:srgbClr val="FFFFFF"/>
                    </a:solidFill>
                  </a:tcPr>
                </a:tc>
                <a:tc>
                  <a:txBody>
                    <a:bodyPr wrap="square"/>
                    <a:lstStyle/>
                    <a:p>
                      <a:pPr algn="l"/>
                      <a:r>
                        <a:rPr sz="900" b="0" i="0">
                          <a:solidFill>
                            <a:srgbClr val="595959"/>
                          </a:solidFill>
                          <a:latin typeface="Arial"/>
                        </a:rPr>
                        <a:t>Gzipped logs, CSV and JSON scan in parallel in Spark/Trino, no re-encoding</a:t>
                      </a:r>
                    </a:p>
                  </a:txBody>
                  <a:tcPr marL="54864" marR="54864" marT="18288" marB="18288" anchor="ctr">
                    <a:solidFill>
                      <a:srgbClr val="FFFFFF"/>
                    </a:solidFill>
                  </a:tcPr>
                </a:tc>
              </a:tr>
              <a:tr h="457200">
                <a:tc>
                  <a:txBody>
                    <a:bodyPr wrap="square"/>
                    <a:lstStyle/>
                    <a:p>
                      <a:pPr algn="l"/>
                      <a:r>
                        <a:rPr sz="900" b="0" i="0">
                          <a:solidFill>
                            <a:srgbClr val="595959"/>
                          </a:solidFill>
                          <a:latin typeface="Arial"/>
                        </a:rPr>
                        <a:t>Bioinformatics labs</a:t>
                      </a:r>
                    </a:p>
                  </a:txBody>
                  <a:tcPr marL="54864" marR="54864" marT="18288" marB="18288" anchor="ctr">
                    <a:solidFill>
                      <a:srgbClr val="F1F3F4"/>
                    </a:solidFill>
                  </a:tcPr>
                </a:tc>
                <a:tc>
                  <a:txBody>
                    <a:bodyPr wrap="square"/>
                    <a:lstStyle/>
                    <a:p>
                      <a:pPr algn="l"/>
                      <a:r>
                        <a:rPr sz="900" b="0" i="0">
                          <a:solidFill>
                            <a:srgbClr val="595959"/>
                          </a:solidFill>
                          <a:latin typeface="Arial"/>
                        </a:rPr>
                        <a:t>Re-analysis of archived .fastq.gz no longer limited to one thread</a:t>
                      </a:r>
                    </a:p>
                  </a:txBody>
                  <a:tcPr marL="54864" marR="54864" marT="18288" marB="18288" anchor="ctr">
                    <a:solidFill>
                      <a:srgbClr val="F1F3F4"/>
                    </a:solidFill>
                  </a:tcPr>
                </a:tc>
              </a:tr>
              <a:tr h="457200">
                <a:tc>
                  <a:txBody>
                    <a:bodyPr wrap="square"/>
                    <a:lstStyle/>
                    <a:p>
                      <a:pPr algn="l"/>
                      <a:r>
                        <a:rPr sz="900" b="0" i="0">
                          <a:solidFill>
                            <a:srgbClr val="595959"/>
                          </a:solidFill>
                          <a:latin typeface="Arial"/>
                        </a:rPr>
                        <a:t>DevOps / CI teams</a:t>
                      </a:r>
                    </a:p>
                  </a:txBody>
                  <a:tcPr marL="54864" marR="54864" marT="18288" marB="18288" anchor="ctr">
                    <a:solidFill>
                      <a:srgbClr val="FFFFFF"/>
                    </a:solidFill>
                  </a:tcPr>
                </a:tc>
                <a:tc>
                  <a:txBody>
                    <a:bodyPr wrap="square"/>
                    <a:lstStyle/>
                    <a:p>
                      <a:pPr algn="l"/>
                      <a:r>
                        <a:rPr sz="900" b="0" i="0">
                          <a:solidFill>
                            <a:srgbClr val="595959"/>
                          </a:solidFill>
                          <a:latin typeface="Arial"/>
                        </a:rPr>
                        <a:t>Faster extraction of container layers and release tarballs</a:t>
                      </a:r>
                    </a:p>
                  </a:txBody>
                  <a:tcPr marL="54864" marR="54864" marT="18288" marB="18288" anchor="ctr">
                    <a:solidFill>
                      <a:srgbClr val="FFFFFF"/>
                    </a:solidFill>
                  </a:tcPr>
                </a:tc>
              </a:tr>
              <a:tr h="457200">
                <a:tc>
                  <a:txBody>
                    <a:bodyPr wrap="square"/>
                    <a:lstStyle/>
                    <a:p>
                      <a:pPr algn="l"/>
                      <a:r>
                        <a:rPr sz="900" b="0" i="0">
                          <a:solidFill>
                            <a:srgbClr val="595959"/>
                          </a:solidFill>
                          <a:latin typeface="Arial"/>
                        </a:rPr>
                        <a:t>Archive hosts</a:t>
                      </a:r>
                    </a:p>
                  </a:txBody>
                  <a:tcPr marL="54864" marR="54864" marT="18288" marB="18288" anchor="ctr">
                    <a:solidFill>
                      <a:srgbClr val="F1F3F4"/>
                    </a:solidFill>
                  </a:tcPr>
                </a:tc>
                <a:tc>
                  <a:txBody>
                    <a:bodyPr wrap="square"/>
                    <a:lstStyle/>
                    <a:p>
                      <a:pPr algn="l"/>
                      <a:r>
                        <a:rPr sz="900" b="0" i="0">
                          <a:solidFill>
                            <a:srgbClr val="595959"/>
                          </a:solidFill>
                          <a:latin typeface="Arial"/>
                        </a:rPr>
                        <a:t>Existing .gz data stays as-is; no costly migration</a:t>
                      </a:r>
                    </a:p>
                  </a:txBody>
                  <a:tcPr marL="54864" marR="54864" marT="18288" marB="18288" anchor="ctr">
                    <a:solidFill>
                      <a:srgbClr val="F1F3F4"/>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sz="2800"/>
              <a:t>Methodology Block Diagram</a:t>
            </a:r>
            <a:endParaRPr/>
          </a:p>
        </p:txBody>
      </p:sp>
      <p:sp>
        <p:nvSpPr>
          <p:cNvPr id="67" name="Rounded Rectangle 66"/>
          <p:cNvSpPr/>
          <p:nvPr/>
        </p:nvSpPr>
        <p:spPr>
          <a:xfrm>
            <a:off x="310896" y="1115568"/>
            <a:ext cx="1444752" cy="713232"/>
          </a:xfrm>
          <a:prstGeom prst="roundRect">
            <a:avLst>
              <a:gd name="adj" fmla="val 12000"/>
            </a:avLst>
          </a:prstGeom>
          <a:solidFill>
            <a:srgbClr val="FFFFFF"/>
          </a:solidFill>
          <a:ln w="12700">
            <a:solidFill>
              <a:srgbClr val="7890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Unmodified</a:t>
            </a:r>
          </a:p>
          <a:p>
            <a:pPr algn="ctr"/>
            <a:r>
              <a:rPr sz="900" b="1" i="0">
                <a:solidFill>
                  <a:srgbClr val="212121"/>
                </a:solidFill>
                <a:latin typeface="Arial"/>
              </a:rPr>
              <a:t>.gz stream</a:t>
            </a:r>
          </a:p>
        </p:txBody>
      </p:sp>
      <p:sp>
        <p:nvSpPr>
          <p:cNvPr id="68" name="Rounded Rectangle 67"/>
          <p:cNvSpPr/>
          <p:nvPr/>
        </p:nvSpPr>
        <p:spPr>
          <a:xfrm>
            <a:off x="2080260" y="1115568"/>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0. Cost estimate</a:t>
            </a:r>
          </a:p>
          <a:p>
            <a:pPr algn="ctr"/>
            <a:r>
              <a:rPr sz="900" b="1" i="0">
                <a:solidFill>
                  <a:srgbClr val="212121"/>
                </a:solidFill>
                <a:latin typeface="Arial"/>
              </a:rPr>
              <a:t>(sampled headers)</a:t>
            </a:r>
          </a:p>
        </p:txBody>
      </p:sp>
      <p:sp>
        <p:nvSpPr>
          <p:cNvPr id="69" name="Rounded Rectangle 68"/>
          <p:cNvSpPr/>
          <p:nvPr/>
        </p:nvSpPr>
        <p:spPr>
          <a:xfrm>
            <a:off x="3849624" y="1115568"/>
            <a:ext cx="1444752" cy="713232"/>
          </a:xfrm>
          <a:prstGeom prst="roundRect">
            <a:avLst>
              <a:gd name="adj" fmla="val 12000"/>
            </a:avLst>
          </a:prstGeom>
          <a:solidFill>
            <a:srgbClr val="FFF4E5"/>
          </a:solidFill>
          <a:ln w="28575">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1. Work-sized</a:t>
            </a:r>
          </a:p>
          <a:p>
            <a:pPr algn="ctr"/>
            <a:r>
              <a:rPr sz="900" b="1" i="0">
                <a:solidFill>
                  <a:srgbClr val="212121"/>
                </a:solidFill>
                <a:latin typeface="Arial"/>
              </a:rPr>
              <a:t>chunking</a:t>
            </a:r>
          </a:p>
          <a:p>
            <a:pPr algn="ctr"/>
            <a:r>
              <a:rPr sz="800" b="1" i="0">
                <a:solidFill>
                  <a:srgbClr val="B06000"/>
                </a:solidFill>
                <a:latin typeface="Arial"/>
              </a:rPr>
              <a:t>M1</a:t>
            </a:r>
          </a:p>
        </p:txBody>
      </p:sp>
      <p:sp>
        <p:nvSpPr>
          <p:cNvPr id="70" name="Rounded Rectangle 69"/>
          <p:cNvSpPr/>
          <p:nvPr/>
        </p:nvSpPr>
        <p:spPr>
          <a:xfrm>
            <a:off x="5618988" y="1115568"/>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2. Speculative</a:t>
            </a:r>
          </a:p>
          <a:p>
            <a:pPr algn="ctr"/>
            <a:r>
              <a:rPr sz="900" b="1" i="0">
                <a:solidFill>
                  <a:srgbClr val="212121"/>
                </a:solidFill>
                <a:latin typeface="Arial"/>
              </a:rPr>
              <a:t>boundary search</a:t>
            </a:r>
          </a:p>
        </p:txBody>
      </p:sp>
      <p:sp>
        <p:nvSpPr>
          <p:cNvPr id="71" name="Rounded Rectangle 70"/>
          <p:cNvSpPr/>
          <p:nvPr/>
        </p:nvSpPr>
        <p:spPr>
          <a:xfrm>
            <a:off x="7388352" y="1115568"/>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3. Entry-point</a:t>
            </a:r>
          </a:p>
          <a:p>
            <a:pPr algn="ctr"/>
            <a:r>
              <a:rPr sz="900" b="1" i="0">
                <a:solidFill>
                  <a:srgbClr val="212121"/>
                </a:solidFill>
                <a:latin typeface="Arial"/>
              </a:rPr>
              <a:t>certification</a:t>
            </a:r>
          </a:p>
        </p:txBody>
      </p:sp>
      <p:sp>
        <p:nvSpPr>
          <p:cNvPr id="72" name="Rounded Rectangle 71"/>
          <p:cNvSpPr/>
          <p:nvPr/>
        </p:nvSpPr>
        <p:spPr>
          <a:xfrm>
            <a:off x="7388352" y="2304288"/>
            <a:ext cx="1444752" cy="713232"/>
          </a:xfrm>
          <a:prstGeom prst="roundRect">
            <a:avLst>
              <a:gd name="adj" fmla="val 12000"/>
            </a:avLst>
          </a:prstGeom>
          <a:solidFill>
            <a:srgbClr val="FFF4E5"/>
          </a:solidFill>
          <a:ln w="28575">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4. Parallel parse,</a:t>
            </a:r>
          </a:p>
          <a:p>
            <a:pPr algn="ctr"/>
            <a:r>
              <a:rPr sz="900" b="1" i="0">
                <a:solidFill>
                  <a:srgbClr val="212121"/>
                </a:solidFill>
                <a:latin typeface="Arial"/>
              </a:rPr>
              <a:t>span placeholders</a:t>
            </a:r>
          </a:p>
          <a:p>
            <a:pPr algn="ctr"/>
            <a:r>
              <a:rPr sz="800" b="1" i="0">
                <a:solidFill>
                  <a:srgbClr val="B06000"/>
                </a:solidFill>
                <a:latin typeface="Arial"/>
              </a:rPr>
              <a:t>M2</a:t>
            </a:r>
          </a:p>
        </p:txBody>
      </p:sp>
      <p:sp>
        <p:nvSpPr>
          <p:cNvPr id="73" name="Rounded Rectangle 72"/>
          <p:cNvSpPr/>
          <p:nvPr/>
        </p:nvSpPr>
        <p:spPr>
          <a:xfrm>
            <a:off x="5618988" y="2304288"/>
            <a:ext cx="1444752" cy="713232"/>
          </a:xfrm>
          <a:prstGeom prst="roundRect">
            <a:avLst>
              <a:gd name="adj" fmla="val 12000"/>
            </a:avLst>
          </a:prstGeom>
          <a:solidFill>
            <a:srgbClr val="FFF4E5"/>
          </a:solidFill>
          <a:ln w="28575">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5. Log-depth window</a:t>
            </a:r>
          </a:p>
          <a:p>
            <a:pPr algn="ctr"/>
            <a:r>
              <a:rPr sz="900" b="1" i="0">
                <a:solidFill>
                  <a:srgbClr val="212121"/>
                </a:solidFill>
                <a:latin typeface="Arial"/>
              </a:rPr>
              <a:t>resolution</a:t>
            </a:r>
          </a:p>
          <a:p>
            <a:pPr algn="ctr"/>
            <a:r>
              <a:rPr sz="800" b="1" i="0">
                <a:solidFill>
                  <a:srgbClr val="B06000"/>
                </a:solidFill>
                <a:latin typeface="Arial"/>
              </a:rPr>
              <a:t>M3 · primary</a:t>
            </a:r>
          </a:p>
        </p:txBody>
      </p:sp>
      <p:sp>
        <p:nvSpPr>
          <p:cNvPr id="74" name="Rounded Rectangle 73"/>
          <p:cNvSpPr/>
          <p:nvPr/>
        </p:nvSpPr>
        <p:spPr>
          <a:xfrm>
            <a:off x="3849624" y="2304288"/>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6. Parallel</a:t>
            </a:r>
          </a:p>
          <a:p>
            <a:pPr algn="ctr"/>
            <a:r>
              <a:rPr sz="900" b="1" i="0">
                <a:solidFill>
                  <a:srgbClr val="212121"/>
                </a:solidFill>
                <a:latin typeface="Arial"/>
              </a:rPr>
              <a:t>materialisation</a:t>
            </a:r>
          </a:p>
        </p:txBody>
      </p:sp>
      <p:sp>
        <p:nvSpPr>
          <p:cNvPr id="75" name="Rounded Rectangle 74"/>
          <p:cNvSpPr/>
          <p:nvPr/>
        </p:nvSpPr>
        <p:spPr>
          <a:xfrm>
            <a:off x="2080260" y="2304288"/>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7. CRC32</a:t>
            </a:r>
          </a:p>
          <a:p>
            <a:pPr algn="ctr"/>
            <a:r>
              <a:rPr sz="900" b="1" i="0">
                <a:solidFill>
                  <a:srgbClr val="212121"/>
                </a:solidFill>
                <a:latin typeface="Arial"/>
              </a:rPr>
              <a:t>verification</a:t>
            </a:r>
          </a:p>
        </p:txBody>
      </p:sp>
      <p:sp>
        <p:nvSpPr>
          <p:cNvPr id="76" name="Rounded Rectangle 75"/>
          <p:cNvSpPr/>
          <p:nvPr/>
        </p:nvSpPr>
        <p:spPr>
          <a:xfrm>
            <a:off x="310896" y="2304288"/>
            <a:ext cx="1444752" cy="713232"/>
          </a:xfrm>
          <a:prstGeom prst="roundRect">
            <a:avLst>
              <a:gd name="adj" fmla="val 12000"/>
            </a:avLst>
          </a:prstGeom>
          <a:solidFill>
            <a:srgbClr val="FFFFFF"/>
          </a:solidFill>
          <a:ln w="12700">
            <a:solidFill>
              <a:srgbClr val="7890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Bit-identical</a:t>
            </a:r>
          </a:p>
          <a:p>
            <a:pPr algn="ctr"/>
            <a:r>
              <a:rPr sz="900" b="1" i="0">
                <a:solidFill>
                  <a:srgbClr val="212121"/>
                </a:solidFill>
                <a:latin typeface="Arial"/>
              </a:rPr>
              <a:t>output</a:t>
            </a:r>
          </a:p>
        </p:txBody>
      </p:sp>
      <p:cxnSp>
        <p:nvCxnSpPr>
          <p:cNvPr id="77" name="Connector 76"/>
          <p:cNvCxnSpPr/>
          <p:nvPr/>
        </p:nvCxnSpPr>
        <p:spPr>
          <a:xfrm>
            <a:off x="1755648" y="1472184"/>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3525012" y="1472184"/>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5294376" y="1472184"/>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063740" y="1472184"/>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8110728" y="1828800"/>
            <a:ext cx="0" cy="475488"/>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7063740" y="2660904"/>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H="1">
            <a:off x="5294376" y="2660904"/>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3525012" y="2660904"/>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a:off x="1755648" y="2660904"/>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flipV="1">
            <a:off x="4572000" y="1828800"/>
            <a:ext cx="2999231" cy="475488"/>
          </a:xfrm>
          <a:prstGeom prst="line">
            <a:avLst/>
          </a:prstGeom>
          <a:ln w="12700">
            <a:solidFill>
              <a:srgbClr val="B06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7" name="Rounded Rectangle 86"/>
          <p:cNvSpPr/>
          <p:nvPr/>
        </p:nvSpPr>
        <p:spPr>
          <a:xfrm>
            <a:off x="5020056" y="1975103"/>
            <a:ext cx="2103120" cy="18288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800" b="0" i="0">
                <a:solidFill>
                  <a:srgbClr val="B06000"/>
                </a:solidFill>
                <a:latin typeface="Arial"/>
              </a:rPr>
              <a:t>thread pool · split-on-overflow</a:t>
            </a:r>
          </a:p>
        </p:txBody>
      </p:sp>
      <p:sp>
        <p:nvSpPr>
          <p:cNvPr id="88" name="TextBox 87"/>
          <p:cNvSpPr txBox="1"/>
          <p:nvPr/>
        </p:nvSpPr>
        <p:spPr>
          <a:xfrm>
            <a:off x="310896" y="3145536"/>
            <a:ext cx="8522208" cy="219456"/>
          </a:xfrm>
          <a:prstGeom prst="rect">
            <a:avLst/>
          </a:prstGeom>
          <a:noFill/>
        </p:spPr>
        <p:txBody>
          <a:bodyPr wrap="square" lIns="0" rIns="0" tIns="0" bIns="0" anchor="t">
            <a:spAutoFit/>
          </a:bodyPr>
          <a:lstStyle/>
          <a:p>
            <a:pPr algn="l"/>
            <a:r>
              <a:rPr sz="1050" b="1" i="0">
                <a:solidFill>
                  <a:srgbClr val="212121"/>
                </a:solidFill>
                <a:latin typeface="Arial"/>
              </a:rPr>
              <a:t>How this differs from the state of the art — base paper: rapidgzip (Knespel &amp; Brunst, HPDC '23)</a:t>
            </a:r>
          </a:p>
        </p:txBody>
      </p:sp>
      <p:sp>
        <p:nvSpPr>
          <p:cNvPr id="89" name="Rounded Rectangle 88"/>
          <p:cNvSpPr/>
          <p:nvPr/>
        </p:nvSpPr>
        <p:spPr>
          <a:xfrm>
            <a:off x="310896" y="3438144"/>
            <a:ext cx="2731008" cy="1188720"/>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27432" bIns="27432"/>
          <a:lstStyle/>
          <a:p>
            <a:pPr algn="l"/>
            <a:r>
              <a:rPr sz="950" b="1" i="0">
                <a:solidFill>
                  <a:srgbClr val="212121"/>
                </a:solidFill>
                <a:latin typeface="Arial"/>
              </a:rPr>
              <a:t>L3 → M3  ·  Resolution depth (primary)</a:t>
            </a:r>
          </a:p>
          <a:p>
            <a:pPr algn="l"/>
            <a:r>
              <a:rPr sz="850" b="0" i="0">
                <a:solidFill>
                  <a:srgbClr val="595959"/>
                </a:solidFill>
                <a:latin typeface="Arial"/>
              </a:rPr>
              <a:t>Existing: windows resolved one chunk after another; the paper calls this step unparallelisable and attributes its 48–64-core scaling limit to it.</a:t>
            </a:r>
          </a:p>
          <a:p>
            <a:pPr algn="l"/>
            <a:r>
              <a:rPr sz="850" b="1" i="0">
                <a:solidFill>
                  <a:srgbClr val="4285F4"/>
                </a:solidFill>
                <a:latin typeface="Arial"/>
              </a:rPr>
              <a:t>Ours: parallel prefix scan over window maps, log2 N rounds; prototype bit-identical to zlib.</a:t>
            </a:r>
          </a:p>
        </p:txBody>
      </p:sp>
      <p:sp>
        <p:nvSpPr>
          <p:cNvPr id="90" name="Rounded Rectangle 89"/>
          <p:cNvSpPr/>
          <p:nvPr/>
        </p:nvSpPr>
        <p:spPr>
          <a:xfrm>
            <a:off x="3206496" y="3438144"/>
            <a:ext cx="2731008" cy="1188720"/>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27432" bIns="27432"/>
          <a:lstStyle/>
          <a:p>
            <a:pPr algn="l"/>
            <a:r>
              <a:rPr sz="950" b="1" i="0">
                <a:solidFill>
                  <a:srgbClr val="212121"/>
                </a:solidFill>
                <a:latin typeface="Arial"/>
              </a:rPr>
              <a:t>L1 → M1  ·  Load balance</a:t>
            </a:r>
          </a:p>
          <a:p>
            <a:pPr algn="l"/>
            <a:r>
              <a:rPr sz="850" b="0" i="0">
                <a:solidFill>
                  <a:srgbClr val="595959"/>
                </a:solidFill>
                <a:latin typeface="Arial"/>
              </a:rPr>
              <a:t>Existing: compressed-size chunks; balanced by output size only with a prebuilt index, and serialised above ~20× compression (v0.6.0).</a:t>
            </a:r>
          </a:p>
          <a:p>
            <a:pPr algn="l"/>
            <a:r>
              <a:rPr sz="850" b="1" i="0">
                <a:solidFill>
                  <a:srgbClr val="4285F4"/>
                </a:solidFill>
                <a:latin typeface="Arial"/>
              </a:rPr>
              <a:t>Ours: chunks sized by predicted cost; oversized chunks split across idle workers.</a:t>
            </a:r>
          </a:p>
        </p:txBody>
      </p:sp>
      <p:sp>
        <p:nvSpPr>
          <p:cNvPr id="91" name="Rounded Rectangle 90"/>
          <p:cNvSpPr/>
          <p:nvPr/>
        </p:nvSpPr>
        <p:spPr>
          <a:xfrm>
            <a:off x="6102096" y="3438144"/>
            <a:ext cx="2731008" cy="1188720"/>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27432" bIns="27432"/>
          <a:lstStyle/>
          <a:p>
            <a:pPr algn="l"/>
            <a:r>
              <a:rPr sz="950" b="1" i="0">
                <a:solidFill>
                  <a:srgbClr val="212121"/>
                </a:solidFill>
                <a:latin typeface="Arial"/>
              </a:rPr>
              <a:t>L2 → M2  ·  Memory (supporting)</a:t>
            </a:r>
          </a:p>
          <a:p>
            <a:pPr algn="l"/>
            <a:r>
              <a:rPr sz="850" b="0" i="0">
                <a:solidFill>
                  <a:srgbClr val="595959"/>
                </a:solidFill>
                <a:latin typeface="Arial"/>
              </a:rPr>
              <a:t>Existing: bytes widened to 16 bits until the window is marker-free; up to 2× output in flight.</a:t>
            </a:r>
          </a:p>
          <a:p>
            <a:pPr algn="l"/>
            <a:r>
              <a:rPr sz="850" b="1" i="0">
                <a:solidFill>
                  <a:srgbClr val="4285F4"/>
                </a:solidFill>
                <a:latin typeface="Arial"/>
              </a:rPr>
              <a:t>Ours: span records; ~1× output plus a small side table.</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sz="2200"/>
              <a:t>Results and Analysis (1/3): Silesia Corpus Profile</a:t>
            </a:r>
            <a:endParaRPr/>
          </a:p>
        </p:txBody>
      </p:sp>
      <p:sp>
        <p:nvSpPr>
          <p:cNvPr id="73" name="Rounded Rectangle 72"/>
          <p:cNvSpPr/>
          <p:nvPr/>
        </p:nvSpPr>
        <p:spPr>
          <a:xfrm>
            <a:off x="310896" y="1078992"/>
            <a:ext cx="2731008" cy="6583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000" b="1" i="0">
                <a:solidFill>
                  <a:srgbClr val="4285F4"/>
                </a:solidFill>
                <a:latin typeface="Arial"/>
              </a:rPr>
              <a:t>13 / 13</a:t>
            </a:r>
          </a:p>
          <a:p>
            <a:pPr algn="ctr"/>
            <a:r>
              <a:rPr sz="850" b="0" i="0">
                <a:solidFill>
                  <a:srgbClr val="595959"/>
                </a:solidFill>
                <a:latin typeface="Arial"/>
              </a:rPr>
              <a:t>streams decoded bit-identically to zlib (12 files + tarball)</a:t>
            </a:r>
          </a:p>
        </p:txBody>
      </p:sp>
      <p:sp>
        <p:nvSpPr>
          <p:cNvPr id="74" name="Rounded Rectangle 73"/>
          <p:cNvSpPr/>
          <p:nvPr/>
        </p:nvSpPr>
        <p:spPr>
          <a:xfrm>
            <a:off x="3206496" y="1078992"/>
            <a:ext cx="2731008" cy="6583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000" b="1" i="0">
                <a:solidFill>
                  <a:srgbClr val="4285F4"/>
                </a:solidFill>
                <a:latin typeface="Arial"/>
              </a:rPr>
              <a:t>2,811</a:t>
            </a:r>
          </a:p>
          <a:p>
            <a:pPr algn="ctr"/>
            <a:r>
              <a:rPr sz="850" b="0" i="0">
                <a:solidFill>
                  <a:srgbClr val="595959"/>
                </a:solidFill>
                <a:latin typeface="Arial"/>
              </a:rPr>
              <a:t>DEFLATE blocks in the Silesia tarball</a:t>
            </a:r>
          </a:p>
        </p:txBody>
      </p:sp>
      <p:sp>
        <p:nvSpPr>
          <p:cNvPr id="75" name="Rounded Rectangle 74"/>
          <p:cNvSpPr/>
          <p:nvPr/>
        </p:nvSpPr>
        <p:spPr>
          <a:xfrm>
            <a:off x="6102096" y="1078992"/>
            <a:ext cx="2731008" cy="6583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000" b="1" i="0">
                <a:solidFill>
                  <a:srgbClr val="4285F4"/>
                </a:solidFill>
                <a:latin typeface="Arial"/>
              </a:rPr>
              <a:t>3.11</a:t>
            </a:r>
          </a:p>
          <a:p>
            <a:pPr algn="ctr"/>
            <a:r>
              <a:rPr sz="850" b="0" i="0">
                <a:solidFill>
                  <a:srgbClr val="595959"/>
                </a:solidFill>
                <a:latin typeface="Arial"/>
              </a:rPr>
              <a:t>tarball ratio; the base paper reports 3.1</a:t>
            </a:r>
          </a:p>
        </p:txBody>
      </p:sp>
      <p:graphicFrame>
        <p:nvGraphicFramePr>
          <p:cNvPr id="76" name="Table 75"/>
          <p:cNvGraphicFramePr>
            <a:graphicFrameLocks noGrp="1"/>
          </p:cNvGraphicFramePr>
          <p:nvPr/>
        </p:nvGraphicFramePr>
        <p:xfrm>
          <a:off x="310896" y="1828800"/>
          <a:ext cx="8522208" cy="2436876"/>
        </p:xfrm>
        <a:graphic>
          <a:graphicData uri="http://schemas.openxmlformats.org/drawingml/2006/table">
            <a:tbl>
              <a:tblPr firstRow="1"/>
              <a:tblGrid>
                <a:gridCol w="868680"/>
                <a:gridCol w="1600200"/>
                <a:gridCol w="777240"/>
                <a:gridCol w="822960"/>
                <a:gridCol w="685800"/>
                <a:gridCol w="685800"/>
                <a:gridCol w="1280160"/>
                <a:gridCol w="914400"/>
                <a:gridCol w="886968"/>
              </a:tblGrid>
              <a:tr h="187452">
                <a:tc>
                  <a:txBody>
                    <a:bodyPr wrap="square"/>
                    <a:lstStyle/>
                    <a:p>
                      <a:pPr algn="l"/>
                      <a:r>
                        <a:rPr sz="800" b="1" i="0">
                          <a:solidFill>
                            <a:srgbClr val="FFFFFF"/>
                          </a:solidFill>
                          <a:latin typeface="Arial"/>
                        </a:rPr>
                        <a:t>File</a:t>
                      </a:r>
                    </a:p>
                  </a:txBody>
                  <a:tcPr marL="54864" marR="54864" marT="18288" marB="18288" anchor="ctr">
                    <a:solidFill>
                      <a:srgbClr val="4285F4"/>
                    </a:solidFill>
                  </a:tcPr>
                </a:tc>
                <a:tc>
                  <a:txBody>
                    <a:bodyPr wrap="square"/>
                    <a:lstStyle/>
                    <a:p>
                      <a:pPr algn="l"/>
                      <a:r>
                        <a:rPr sz="800" b="1" i="0">
                          <a:solidFill>
                            <a:srgbClr val="FFFFFF"/>
                          </a:solidFill>
                          <a:latin typeface="Arial"/>
                        </a:rPr>
                        <a:t>Content</a:t>
                      </a:r>
                    </a:p>
                  </a:txBody>
                  <a:tcPr marL="54864" marR="54864" marT="18288" marB="18288" anchor="ctr">
                    <a:solidFill>
                      <a:srgbClr val="4285F4"/>
                    </a:solidFill>
                  </a:tcPr>
                </a:tc>
                <a:tc>
                  <a:txBody>
                    <a:bodyPr wrap="square"/>
                    <a:lstStyle/>
                    <a:p>
                      <a:pPr algn="r"/>
                      <a:r>
                        <a:rPr sz="800" b="1" i="0">
                          <a:solidFill>
                            <a:srgbClr val="FFFFFF"/>
                          </a:solidFill>
                          <a:latin typeface="Arial"/>
                        </a:rPr>
                        <a:t>In MiB</a:t>
                      </a:r>
                    </a:p>
                  </a:txBody>
                  <a:tcPr marL="54864" marR="54864" marT="18288" marB="18288" anchor="ctr">
                    <a:solidFill>
                      <a:srgbClr val="4285F4"/>
                    </a:solidFill>
                  </a:tcPr>
                </a:tc>
                <a:tc>
                  <a:txBody>
                    <a:bodyPr wrap="square"/>
                    <a:lstStyle/>
                    <a:p>
                      <a:pPr algn="r"/>
                      <a:r>
                        <a:rPr sz="800" b="1" i="0">
                          <a:solidFill>
                            <a:srgbClr val="FFFFFF"/>
                          </a:solidFill>
                          <a:latin typeface="Arial"/>
                        </a:rPr>
                        <a:t>Out MiB</a:t>
                      </a:r>
                    </a:p>
                  </a:txBody>
                  <a:tcPr marL="54864" marR="54864" marT="18288" marB="18288" anchor="ctr">
                    <a:solidFill>
                      <a:srgbClr val="4285F4"/>
                    </a:solidFill>
                  </a:tcPr>
                </a:tc>
                <a:tc>
                  <a:txBody>
                    <a:bodyPr wrap="square"/>
                    <a:lstStyle/>
                    <a:p>
                      <a:pPr algn="r"/>
                      <a:r>
                        <a:rPr sz="800" b="1" i="0">
                          <a:solidFill>
                            <a:srgbClr val="FFFFFF"/>
                          </a:solidFill>
                          <a:latin typeface="Arial"/>
                        </a:rPr>
                        <a:t>Ratio</a:t>
                      </a:r>
                    </a:p>
                  </a:txBody>
                  <a:tcPr marL="54864" marR="54864" marT="18288" marB="18288" anchor="ctr">
                    <a:solidFill>
                      <a:srgbClr val="4285F4"/>
                    </a:solidFill>
                  </a:tcPr>
                </a:tc>
                <a:tc>
                  <a:txBody>
                    <a:bodyPr wrap="square"/>
                    <a:lstStyle/>
                    <a:p>
                      <a:pPr algn="r"/>
                      <a:r>
                        <a:rPr sz="800" b="1" i="0">
                          <a:solidFill>
                            <a:srgbClr val="FFFFFF"/>
                          </a:solidFill>
                          <a:latin typeface="Arial"/>
                        </a:rPr>
                        <a:t>Blocks</a:t>
                      </a:r>
                    </a:p>
                  </a:txBody>
                  <a:tcPr marL="54864" marR="54864" marT="18288" marB="18288" anchor="ctr">
                    <a:solidFill>
                      <a:srgbClr val="4285F4"/>
                    </a:solidFill>
                  </a:tcPr>
                </a:tc>
                <a:tc>
                  <a:txBody>
                    <a:bodyPr wrap="square"/>
                    <a:lstStyle/>
                    <a:p>
                      <a:pPr algn="r"/>
                      <a:r>
                        <a:rPr sz="800" b="1" i="0">
                          <a:solidFill>
                            <a:srgbClr val="FFFFFF"/>
                          </a:solidFill>
                          <a:latin typeface="Arial"/>
                        </a:rPr>
                        <a:t>ρ mean ± sd</a:t>
                      </a:r>
                    </a:p>
                  </a:txBody>
                  <a:tcPr marL="54864" marR="54864" marT="18288" marB="18288" anchor="ctr">
                    <a:solidFill>
                      <a:srgbClr val="4285F4"/>
                    </a:solidFill>
                  </a:tcPr>
                </a:tc>
                <a:tc>
                  <a:txBody>
                    <a:bodyPr wrap="square"/>
                    <a:lstStyle/>
                    <a:p>
                      <a:pPr algn="r"/>
                      <a:r>
                        <a:rPr sz="800" b="1" i="0">
                          <a:solidFill>
                            <a:srgbClr val="FFFFFF"/>
                          </a:solidFill>
                          <a:latin typeface="Arial"/>
                        </a:rPr>
                        <a:t>Dist &gt; 4 KB</a:t>
                      </a:r>
                    </a:p>
                  </a:txBody>
                  <a:tcPr marL="54864" marR="54864" marT="18288" marB="18288" anchor="ctr">
                    <a:solidFill>
                      <a:srgbClr val="4285F4"/>
                    </a:solidFill>
                  </a:tcPr>
                </a:tc>
                <a:tc>
                  <a:txBody>
                    <a:bodyPr wrap="square"/>
                    <a:lstStyle/>
                    <a:p>
                      <a:pPr algn="r"/>
                      <a:r>
                        <a:rPr sz="800" b="1" i="0">
                          <a:solidFill>
                            <a:srgbClr val="FFFFFF"/>
                          </a:solidFill>
                          <a:latin typeface="Arial"/>
                        </a:rPr>
                        <a:t>Literals</a:t>
                      </a:r>
                    </a:p>
                  </a:txBody>
                  <a:tcPr marL="54864" marR="54864" marT="18288" marB="18288" anchor="ctr">
                    <a:solidFill>
                      <a:srgbClr val="4285F4"/>
                    </a:solidFill>
                  </a:tcPr>
                </a:tc>
              </a:tr>
              <a:tr h="187452">
                <a:tc>
                  <a:txBody>
                    <a:bodyPr wrap="square"/>
                    <a:lstStyle/>
                    <a:p>
                      <a:pPr algn="l"/>
                      <a:r>
                        <a:rPr sz="800" b="0" i="0">
                          <a:solidFill>
                            <a:srgbClr val="595959"/>
                          </a:solidFill>
                          <a:latin typeface="Arial"/>
                        </a:rPr>
                        <a:t>dickens</a:t>
                      </a:r>
                    </a:p>
                  </a:txBody>
                  <a:tcPr marL="54864" marR="54864" marT="18288" marB="18288" anchor="ctr">
                    <a:solidFill>
                      <a:srgbClr val="FFFFFF"/>
                    </a:solidFill>
                  </a:tcPr>
                </a:tc>
                <a:tc>
                  <a:txBody>
                    <a:bodyPr wrap="square"/>
                    <a:lstStyle/>
                    <a:p>
                      <a:pPr algn="l"/>
                      <a:r>
                        <a:rPr sz="800" b="0" i="0">
                          <a:solidFill>
                            <a:srgbClr val="595959"/>
                          </a:solidFill>
                          <a:latin typeface="Arial"/>
                        </a:rPr>
                        <a:t>English text</a:t>
                      </a:r>
                    </a:p>
                  </a:txBody>
                  <a:tcPr marL="54864" marR="54864" marT="18288" marB="18288" anchor="ctr">
                    <a:solidFill>
                      <a:srgbClr val="FFFFFF"/>
                    </a:solidFill>
                  </a:tcPr>
                </a:tc>
                <a:tc>
                  <a:txBody>
                    <a:bodyPr wrap="square"/>
                    <a:lstStyle/>
                    <a:p>
                      <a:pPr algn="r"/>
                      <a:r>
                        <a:rPr sz="800" b="0" i="0">
                          <a:solidFill>
                            <a:srgbClr val="595959"/>
                          </a:solidFill>
                          <a:latin typeface="Arial"/>
                        </a:rPr>
                        <a:t>3.69</a:t>
                      </a:r>
                    </a:p>
                  </a:txBody>
                  <a:tcPr marL="54864" marR="54864" marT="18288" marB="18288" anchor="ctr">
                    <a:solidFill>
                      <a:srgbClr val="FFFFFF"/>
                    </a:solidFill>
                  </a:tcPr>
                </a:tc>
                <a:tc>
                  <a:txBody>
                    <a:bodyPr wrap="square"/>
                    <a:lstStyle/>
                    <a:p>
                      <a:pPr algn="r"/>
                      <a:r>
                        <a:rPr sz="800" b="0" i="0">
                          <a:solidFill>
                            <a:srgbClr val="595959"/>
                          </a:solidFill>
                          <a:latin typeface="Arial"/>
                        </a:rPr>
                        <a:t>9.72</a:t>
                      </a:r>
                    </a:p>
                  </a:txBody>
                  <a:tcPr marL="54864" marR="54864" marT="18288" marB="18288" anchor="ctr">
                    <a:solidFill>
                      <a:srgbClr val="FFFFFF"/>
                    </a:solidFill>
                  </a:tcPr>
                </a:tc>
                <a:tc>
                  <a:txBody>
                    <a:bodyPr wrap="square"/>
                    <a:lstStyle/>
                    <a:p>
                      <a:pPr algn="r"/>
                      <a:r>
                        <a:rPr sz="800" b="0" i="0">
                          <a:solidFill>
                            <a:srgbClr val="595959"/>
                          </a:solidFill>
                          <a:latin typeface="Arial"/>
                        </a:rPr>
                        <a:t>2.63</a:t>
                      </a:r>
                    </a:p>
                  </a:txBody>
                  <a:tcPr marL="54864" marR="54864" marT="18288" marB="18288" anchor="ctr">
                    <a:solidFill>
                      <a:srgbClr val="FFFFFF"/>
                    </a:solidFill>
                  </a:tcPr>
                </a:tc>
                <a:tc>
                  <a:txBody>
                    <a:bodyPr wrap="square"/>
                    <a:lstStyle/>
                    <a:p>
                      <a:pPr algn="r"/>
                      <a:r>
                        <a:rPr sz="800" b="0" i="0">
                          <a:solidFill>
                            <a:srgbClr val="595959"/>
                          </a:solidFill>
                          <a:latin typeface="Arial"/>
                        </a:rPr>
                        <a:t>127</a:t>
                      </a:r>
                    </a:p>
                  </a:txBody>
                  <a:tcPr marL="54864" marR="54864" marT="18288" marB="18288" anchor="ctr">
                    <a:solidFill>
                      <a:srgbClr val="FFFFFF"/>
                    </a:solidFill>
                  </a:tcPr>
                </a:tc>
                <a:tc>
                  <a:txBody>
                    <a:bodyPr wrap="square"/>
                    <a:lstStyle/>
                    <a:p>
                      <a:pPr algn="r"/>
                      <a:r>
                        <a:rPr sz="800" b="0" i="0">
                          <a:solidFill>
                            <a:srgbClr val="595959"/>
                          </a:solidFill>
                          <a:latin typeface="Arial"/>
                        </a:rPr>
                        <a:t>2.63 ± 0.05</a:t>
                      </a:r>
                    </a:p>
                  </a:txBody>
                  <a:tcPr marL="54864" marR="54864" marT="18288" marB="18288" anchor="ctr">
                    <a:solidFill>
                      <a:srgbClr val="FFFFFF"/>
                    </a:solidFill>
                  </a:tcPr>
                </a:tc>
                <a:tc>
                  <a:txBody>
                    <a:bodyPr wrap="square"/>
                    <a:lstStyle/>
                    <a:p>
                      <a:pPr algn="r"/>
                      <a:r>
                        <a:rPr sz="800" b="0" i="0">
                          <a:solidFill>
                            <a:srgbClr val="595959"/>
                          </a:solidFill>
                          <a:latin typeface="Arial"/>
                        </a:rPr>
                        <a:t>61.5%</a:t>
                      </a:r>
                    </a:p>
                  </a:txBody>
                  <a:tcPr marL="54864" marR="54864" marT="18288" marB="18288" anchor="ctr">
                    <a:solidFill>
                      <a:srgbClr val="FFFFFF"/>
                    </a:solidFill>
                  </a:tcPr>
                </a:tc>
                <a:tc>
                  <a:txBody>
                    <a:bodyPr wrap="square"/>
                    <a:lstStyle/>
                    <a:p>
                      <a:pPr algn="r"/>
                      <a:r>
                        <a:rPr sz="800" b="0" i="0">
                          <a:solidFill>
                            <a:srgbClr val="595959"/>
                          </a:solidFill>
                          <a:latin typeface="Arial"/>
                        </a:rPr>
                        <a:t>30%</a:t>
                      </a:r>
                    </a:p>
                  </a:txBody>
                  <a:tcPr marL="54864" marR="54864" marT="18288" marB="18288" anchor="ctr">
                    <a:solidFill>
                      <a:srgbClr val="FFFFFF"/>
                    </a:solidFill>
                  </a:tcPr>
                </a:tc>
              </a:tr>
              <a:tr h="187452">
                <a:tc>
                  <a:txBody>
                    <a:bodyPr wrap="square"/>
                    <a:lstStyle/>
                    <a:p>
                      <a:pPr algn="l"/>
                      <a:r>
                        <a:rPr sz="800" b="0" i="0">
                          <a:solidFill>
                            <a:srgbClr val="595959"/>
                          </a:solidFill>
                          <a:latin typeface="Arial"/>
                        </a:rPr>
                        <a:t>mozilla</a:t>
                      </a:r>
                    </a:p>
                  </a:txBody>
                  <a:tcPr marL="54864" marR="54864" marT="18288" marB="18288" anchor="ctr">
                    <a:solidFill>
                      <a:srgbClr val="F1F3F4"/>
                    </a:solidFill>
                  </a:tcPr>
                </a:tc>
                <a:tc>
                  <a:txBody>
                    <a:bodyPr wrap="square"/>
                    <a:lstStyle/>
                    <a:p>
                      <a:pPr algn="l"/>
                      <a:r>
                        <a:rPr sz="800" b="0" i="0">
                          <a:solidFill>
                            <a:srgbClr val="595959"/>
                          </a:solidFill>
                          <a:latin typeface="Arial"/>
                        </a:rPr>
                        <a:t>Executables (tar)</a:t>
                      </a:r>
                    </a:p>
                  </a:txBody>
                  <a:tcPr marL="54864" marR="54864" marT="18288" marB="18288" anchor="ctr">
                    <a:solidFill>
                      <a:srgbClr val="F1F3F4"/>
                    </a:solidFill>
                  </a:tcPr>
                </a:tc>
                <a:tc>
                  <a:txBody>
                    <a:bodyPr wrap="square"/>
                    <a:lstStyle/>
                    <a:p>
                      <a:pPr algn="r"/>
                      <a:r>
                        <a:rPr sz="800" b="0" i="0">
                          <a:solidFill>
                            <a:srgbClr val="595959"/>
                          </a:solidFill>
                          <a:latin typeface="Arial"/>
                        </a:rPr>
                        <a:t>18.20</a:t>
                      </a:r>
                    </a:p>
                  </a:txBody>
                  <a:tcPr marL="54864" marR="54864" marT="18288" marB="18288" anchor="ctr">
                    <a:solidFill>
                      <a:srgbClr val="F1F3F4"/>
                    </a:solidFill>
                  </a:tcPr>
                </a:tc>
                <a:tc>
                  <a:txBody>
                    <a:bodyPr wrap="square"/>
                    <a:lstStyle/>
                    <a:p>
                      <a:pPr algn="r"/>
                      <a:r>
                        <a:rPr sz="800" b="0" i="0">
                          <a:solidFill>
                            <a:srgbClr val="595959"/>
                          </a:solidFill>
                          <a:latin typeface="Arial"/>
                        </a:rPr>
                        <a:t>48.85</a:t>
                      </a:r>
                    </a:p>
                  </a:txBody>
                  <a:tcPr marL="54864" marR="54864" marT="18288" marB="18288" anchor="ctr">
                    <a:solidFill>
                      <a:srgbClr val="F1F3F4"/>
                    </a:solidFill>
                  </a:tcPr>
                </a:tc>
                <a:tc>
                  <a:txBody>
                    <a:bodyPr wrap="square"/>
                    <a:lstStyle/>
                    <a:p>
                      <a:pPr algn="r"/>
                      <a:r>
                        <a:rPr sz="800" b="0" i="0">
                          <a:solidFill>
                            <a:srgbClr val="595959"/>
                          </a:solidFill>
                          <a:latin typeface="Arial"/>
                        </a:rPr>
                        <a:t>2.68</a:t>
                      </a:r>
                    </a:p>
                  </a:txBody>
                  <a:tcPr marL="54864" marR="54864" marT="18288" marB="18288" anchor="ctr">
                    <a:solidFill>
                      <a:srgbClr val="F1F3F4"/>
                    </a:solidFill>
                  </a:tcPr>
                </a:tc>
                <a:tc>
                  <a:txBody>
                    <a:bodyPr wrap="square"/>
                    <a:lstStyle/>
                    <a:p>
                      <a:pPr algn="r"/>
                      <a:r>
                        <a:rPr sz="800" b="0" i="0">
                          <a:solidFill>
                            <a:srgbClr val="595959"/>
                          </a:solidFill>
                          <a:latin typeface="Arial"/>
                        </a:rPr>
                        <a:t>870</a:t>
                      </a:r>
                    </a:p>
                  </a:txBody>
                  <a:tcPr marL="54864" marR="54864" marT="18288" marB="18288" anchor="ctr">
                    <a:solidFill>
                      <a:srgbClr val="F1F3F4"/>
                    </a:solidFill>
                  </a:tcPr>
                </a:tc>
                <a:tc>
                  <a:txBody>
                    <a:bodyPr wrap="square"/>
                    <a:lstStyle/>
                    <a:p>
                      <a:pPr algn="r"/>
                      <a:r>
                        <a:rPr sz="800" b="0" i="0">
                          <a:solidFill>
                            <a:srgbClr val="595959"/>
                          </a:solidFill>
                          <a:latin typeface="Arial"/>
                        </a:rPr>
                        <a:t>2.58 ± 1.31</a:t>
                      </a:r>
                    </a:p>
                  </a:txBody>
                  <a:tcPr marL="54864" marR="54864" marT="18288" marB="18288" anchor="ctr">
                    <a:solidFill>
                      <a:srgbClr val="F1F3F4"/>
                    </a:solidFill>
                  </a:tcPr>
                </a:tc>
                <a:tc>
                  <a:txBody>
                    <a:bodyPr wrap="square"/>
                    <a:lstStyle/>
                    <a:p>
                      <a:pPr algn="r"/>
                      <a:r>
                        <a:rPr sz="800" b="0" i="0">
                          <a:solidFill>
                            <a:srgbClr val="595959"/>
                          </a:solidFill>
                          <a:latin typeface="Arial"/>
                        </a:rPr>
                        <a:t>24.4%</a:t>
                      </a:r>
                    </a:p>
                  </a:txBody>
                  <a:tcPr marL="54864" marR="54864" marT="18288" marB="18288" anchor="ctr">
                    <a:solidFill>
                      <a:srgbClr val="F1F3F4"/>
                    </a:solidFill>
                  </a:tcPr>
                </a:tc>
                <a:tc>
                  <a:txBody>
                    <a:bodyPr wrap="square"/>
                    <a:lstStyle/>
                    <a:p>
                      <a:pPr algn="r"/>
                      <a:r>
                        <a:rPr sz="800" b="0" i="0">
                          <a:solidFill>
                            <a:srgbClr val="595959"/>
                          </a:solidFill>
                          <a:latin typeface="Arial"/>
                        </a:rPr>
                        <a:t>70%</a:t>
                      </a:r>
                    </a:p>
                  </a:txBody>
                  <a:tcPr marL="54864" marR="54864" marT="18288" marB="18288" anchor="ctr">
                    <a:solidFill>
                      <a:srgbClr val="F1F3F4"/>
                    </a:solidFill>
                  </a:tcPr>
                </a:tc>
              </a:tr>
              <a:tr h="187452">
                <a:tc>
                  <a:txBody>
                    <a:bodyPr wrap="square"/>
                    <a:lstStyle/>
                    <a:p>
                      <a:pPr algn="l"/>
                      <a:r>
                        <a:rPr sz="800" b="0" i="0">
                          <a:solidFill>
                            <a:srgbClr val="595959"/>
                          </a:solidFill>
                          <a:latin typeface="Arial"/>
                        </a:rPr>
                        <a:t>mr</a:t>
                      </a:r>
                    </a:p>
                  </a:txBody>
                  <a:tcPr marL="54864" marR="54864" marT="18288" marB="18288" anchor="ctr">
                    <a:solidFill>
                      <a:srgbClr val="FFFFFF"/>
                    </a:solidFill>
                  </a:tcPr>
                </a:tc>
                <a:tc>
                  <a:txBody>
                    <a:bodyPr wrap="square"/>
                    <a:lstStyle/>
                    <a:p>
                      <a:pPr algn="l"/>
                      <a:r>
                        <a:rPr sz="800" b="0" i="0">
                          <a:solidFill>
                            <a:srgbClr val="595959"/>
                          </a:solidFill>
                          <a:latin typeface="Arial"/>
                        </a:rPr>
                        <a:t>MRI image</a:t>
                      </a:r>
                    </a:p>
                  </a:txBody>
                  <a:tcPr marL="54864" marR="54864" marT="18288" marB="18288" anchor="ctr">
                    <a:solidFill>
                      <a:srgbClr val="FFFFFF"/>
                    </a:solidFill>
                  </a:tcPr>
                </a:tc>
                <a:tc>
                  <a:txBody>
                    <a:bodyPr wrap="square"/>
                    <a:lstStyle/>
                    <a:p>
                      <a:pPr algn="r"/>
                      <a:r>
                        <a:rPr sz="800" b="0" i="0">
                          <a:solidFill>
                            <a:srgbClr val="595959"/>
                          </a:solidFill>
                          <a:latin typeface="Arial"/>
                        </a:rPr>
                        <a:t>3.51</a:t>
                      </a:r>
                    </a:p>
                  </a:txBody>
                  <a:tcPr marL="54864" marR="54864" marT="18288" marB="18288" anchor="ctr">
                    <a:solidFill>
                      <a:srgbClr val="FFFFFF"/>
                    </a:solidFill>
                  </a:tcPr>
                </a:tc>
                <a:tc>
                  <a:txBody>
                    <a:bodyPr wrap="square"/>
                    <a:lstStyle/>
                    <a:p>
                      <a:pPr algn="r"/>
                      <a:r>
                        <a:rPr sz="800" b="0" i="0">
                          <a:solidFill>
                            <a:srgbClr val="595959"/>
                          </a:solidFill>
                          <a:latin typeface="Arial"/>
                        </a:rPr>
                        <a:t>9.51</a:t>
                      </a:r>
                    </a:p>
                  </a:txBody>
                  <a:tcPr marL="54864" marR="54864" marT="18288" marB="18288" anchor="ctr">
                    <a:solidFill>
                      <a:srgbClr val="FFFFFF"/>
                    </a:solidFill>
                  </a:tcPr>
                </a:tc>
                <a:tc>
                  <a:txBody>
                    <a:bodyPr wrap="square"/>
                    <a:lstStyle/>
                    <a:p>
                      <a:pPr algn="r"/>
                      <a:r>
                        <a:rPr sz="800" b="0" i="0">
                          <a:solidFill>
                            <a:srgbClr val="595959"/>
                          </a:solidFill>
                          <a:latin typeface="Arial"/>
                        </a:rPr>
                        <a:t>2.71</a:t>
                      </a:r>
                    </a:p>
                  </a:txBody>
                  <a:tcPr marL="54864" marR="54864" marT="18288" marB="18288" anchor="ctr">
                    <a:solidFill>
                      <a:srgbClr val="FFFFFF"/>
                    </a:solidFill>
                  </a:tcPr>
                </a:tc>
                <a:tc>
                  <a:txBody>
                    <a:bodyPr wrap="square"/>
                    <a:lstStyle/>
                    <a:p>
                      <a:pPr algn="r"/>
                      <a:r>
                        <a:rPr sz="800" b="0" i="0">
                          <a:solidFill>
                            <a:srgbClr val="595959"/>
                          </a:solidFill>
                          <a:latin typeface="Arial"/>
                        </a:rPr>
                        <a:t>140</a:t>
                      </a:r>
                    </a:p>
                  </a:txBody>
                  <a:tcPr marL="54864" marR="54864" marT="18288" marB="18288" anchor="ctr">
                    <a:solidFill>
                      <a:srgbClr val="FFFFFF"/>
                    </a:solidFill>
                  </a:tcPr>
                </a:tc>
                <a:tc>
                  <a:txBody>
                    <a:bodyPr wrap="square"/>
                    <a:lstStyle/>
                    <a:p>
                      <a:pPr algn="r"/>
                      <a:r>
                        <a:rPr sz="800" b="0" i="0">
                          <a:solidFill>
                            <a:srgbClr val="595959"/>
                          </a:solidFill>
                          <a:latin typeface="Arial"/>
                        </a:rPr>
                        <a:t>2.69 ± 0.68</a:t>
                      </a:r>
                    </a:p>
                  </a:txBody>
                  <a:tcPr marL="54864" marR="54864" marT="18288" marB="18288" anchor="ctr">
                    <a:solidFill>
                      <a:srgbClr val="FFFFFF"/>
                    </a:solidFill>
                  </a:tcPr>
                </a:tc>
                <a:tc>
                  <a:txBody>
                    <a:bodyPr wrap="square"/>
                    <a:lstStyle/>
                    <a:p>
                      <a:pPr algn="r"/>
                      <a:r>
                        <a:rPr sz="800" b="0" i="0">
                          <a:solidFill>
                            <a:srgbClr val="595959"/>
                          </a:solidFill>
                          <a:latin typeface="Arial"/>
                        </a:rPr>
                        <a:t>49.0%</a:t>
                      </a:r>
                    </a:p>
                  </a:txBody>
                  <a:tcPr marL="54864" marR="54864" marT="18288" marB="18288" anchor="ctr">
                    <a:solidFill>
                      <a:srgbClr val="FFFFFF"/>
                    </a:solidFill>
                  </a:tcPr>
                </a:tc>
                <a:tc>
                  <a:txBody>
                    <a:bodyPr wrap="square"/>
                    <a:lstStyle/>
                    <a:p>
                      <a:pPr algn="r"/>
                      <a:r>
                        <a:rPr sz="800" b="0" i="0">
                          <a:solidFill>
                            <a:srgbClr val="595959"/>
                          </a:solidFill>
                          <a:latin typeface="Arial"/>
                        </a:rPr>
                        <a:t>50%</a:t>
                      </a:r>
                    </a:p>
                  </a:txBody>
                  <a:tcPr marL="54864" marR="54864" marT="18288" marB="18288" anchor="ctr">
                    <a:solidFill>
                      <a:srgbClr val="FFFFFF"/>
                    </a:solidFill>
                  </a:tcPr>
                </a:tc>
              </a:tr>
              <a:tr h="187452">
                <a:tc>
                  <a:txBody>
                    <a:bodyPr wrap="square"/>
                    <a:lstStyle/>
                    <a:p>
                      <a:pPr algn="l"/>
                      <a:r>
                        <a:rPr sz="800" b="0" i="0">
                          <a:solidFill>
                            <a:srgbClr val="595959"/>
                          </a:solidFill>
                          <a:latin typeface="Arial"/>
                        </a:rPr>
                        <a:t>nci</a:t>
                      </a:r>
                    </a:p>
                  </a:txBody>
                  <a:tcPr marL="54864" marR="54864" marT="18288" marB="18288" anchor="ctr">
                    <a:solidFill>
                      <a:srgbClr val="F1F3F4"/>
                    </a:solidFill>
                  </a:tcPr>
                </a:tc>
                <a:tc>
                  <a:txBody>
                    <a:bodyPr wrap="square"/>
                    <a:lstStyle/>
                    <a:p>
                      <a:pPr algn="l"/>
                      <a:r>
                        <a:rPr sz="800" b="0" i="0">
                          <a:solidFill>
                            <a:srgbClr val="595959"/>
                          </a:solidFill>
                          <a:latin typeface="Arial"/>
                        </a:rPr>
                        <a:t>Chemical database</a:t>
                      </a:r>
                    </a:p>
                  </a:txBody>
                  <a:tcPr marL="54864" marR="54864" marT="18288" marB="18288" anchor="ctr">
                    <a:solidFill>
                      <a:srgbClr val="F1F3F4"/>
                    </a:solidFill>
                  </a:tcPr>
                </a:tc>
                <a:tc>
                  <a:txBody>
                    <a:bodyPr wrap="square"/>
                    <a:lstStyle/>
                    <a:p>
                      <a:pPr algn="r"/>
                      <a:r>
                        <a:rPr sz="800" b="0" i="0">
                          <a:solidFill>
                            <a:srgbClr val="595959"/>
                          </a:solidFill>
                          <a:latin typeface="Arial"/>
                        </a:rPr>
                        <a:t>3.05</a:t>
                      </a:r>
                    </a:p>
                  </a:txBody>
                  <a:tcPr marL="54864" marR="54864" marT="18288" marB="18288" anchor="ctr">
                    <a:solidFill>
                      <a:srgbClr val="F1F3F4"/>
                    </a:solidFill>
                  </a:tcPr>
                </a:tc>
                <a:tc>
                  <a:txBody>
                    <a:bodyPr wrap="square"/>
                    <a:lstStyle/>
                    <a:p>
                      <a:pPr algn="r"/>
                      <a:r>
                        <a:rPr sz="800" b="0" i="0">
                          <a:solidFill>
                            <a:srgbClr val="595959"/>
                          </a:solidFill>
                          <a:latin typeface="Arial"/>
                        </a:rPr>
                        <a:t>32.00</a:t>
                      </a:r>
                    </a:p>
                  </a:txBody>
                  <a:tcPr marL="54864" marR="54864" marT="18288" marB="18288" anchor="ctr">
                    <a:solidFill>
                      <a:srgbClr val="F1F3F4"/>
                    </a:solidFill>
                  </a:tcPr>
                </a:tc>
                <a:tc>
                  <a:txBody>
                    <a:bodyPr wrap="square"/>
                    <a:lstStyle/>
                    <a:p>
                      <a:pPr algn="r"/>
                      <a:r>
                        <a:rPr sz="800" b="0" i="0">
                          <a:solidFill>
                            <a:srgbClr val="595959"/>
                          </a:solidFill>
                          <a:latin typeface="Arial"/>
                        </a:rPr>
                        <a:t>10.48</a:t>
                      </a:r>
                    </a:p>
                  </a:txBody>
                  <a:tcPr marL="54864" marR="54864" marT="18288" marB="18288" anchor="ctr">
                    <a:solidFill>
                      <a:srgbClr val="F1F3F4"/>
                    </a:solidFill>
                  </a:tcPr>
                </a:tc>
                <a:tc>
                  <a:txBody>
                    <a:bodyPr wrap="square"/>
                    <a:lstStyle/>
                    <a:p>
                      <a:pPr algn="r"/>
                      <a:r>
                        <a:rPr sz="800" b="0" i="0">
                          <a:solidFill>
                            <a:srgbClr val="595959"/>
                          </a:solidFill>
                          <a:latin typeface="Arial"/>
                        </a:rPr>
                        <a:t>109</a:t>
                      </a:r>
                    </a:p>
                  </a:txBody>
                  <a:tcPr marL="54864" marR="54864" marT="18288" marB="18288" anchor="ctr">
                    <a:solidFill>
                      <a:srgbClr val="F1F3F4"/>
                    </a:solidFill>
                  </a:tcPr>
                </a:tc>
                <a:tc>
                  <a:txBody>
                    <a:bodyPr wrap="square"/>
                    <a:lstStyle/>
                    <a:p>
                      <a:pPr algn="r"/>
                      <a:r>
                        <a:rPr sz="800" b="0" i="0">
                          <a:solidFill>
                            <a:srgbClr val="595959"/>
                          </a:solidFill>
                          <a:latin typeface="Arial"/>
                        </a:rPr>
                        <a:t>10.44 ± 1.67</a:t>
                      </a:r>
                    </a:p>
                  </a:txBody>
                  <a:tcPr marL="54864" marR="54864" marT="18288" marB="18288" anchor="ctr">
                    <a:solidFill>
                      <a:srgbClr val="F1F3F4"/>
                    </a:solidFill>
                  </a:tcPr>
                </a:tc>
                <a:tc>
                  <a:txBody>
                    <a:bodyPr wrap="square"/>
                    <a:lstStyle/>
                    <a:p>
                      <a:pPr algn="r"/>
                      <a:r>
                        <a:rPr sz="800" b="0" i="0">
                          <a:solidFill>
                            <a:srgbClr val="595959"/>
                          </a:solidFill>
                          <a:latin typeface="Arial"/>
                        </a:rPr>
                        <a:t>54.0%</a:t>
                      </a:r>
                    </a:p>
                  </a:txBody>
                  <a:tcPr marL="54864" marR="54864" marT="18288" marB="18288" anchor="ctr">
                    <a:solidFill>
                      <a:srgbClr val="F1F3F4"/>
                    </a:solidFill>
                  </a:tcPr>
                </a:tc>
                <a:tc>
                  <a:txBody>
                    <a:bodyPr wrap="square"/>
                    <a:lstStyle/>
                    <a:p>
                      <a:pPr algn="r"/>
                      <a:r>
                        <a:rPr sz="800" b="0" i="0">
                          <a:solidFill>
                            <a:srgbClr val="595959"/>
                          </a:solidFill>
                          <a:latin typeface="Arial"/>
                        </a:rPr>
                        <a:t>41%</a:t>
                      </a:r>
                    </a:p>
                  </a:txBody>
                  <a:tcPr marL="54864" marR="54864" marT="18288" marB="18288" anchor="ctr">
                    <a:solidFill>
                      <a:srgbClr val="F1F3F4"/>
                    </a:solidFill>
                  </a:tcPr>
                </a:tc>
              </a:tr>
              <a:tr h="187452">
                <a:tc>
                  <a:txBody>
                    <a:bodyPr wrap="square"/>
                    <a:lstStyle/>
                    <a:p>
                      <a:pPr algn="l"/>
                      <a:r>
                        <a:rPr sz="800" b="0" i="0">
                          <a:solidFill>
                            <a:srgbClr val="595959"/>
                          </a:solidFill>
                          <a:latin typeface="Arial"/>
                        </a:rPr>
                        <a:t>ooffice</a:t>
                      </a:r>
                    </a:p>
                  </a:txBody>
                  <a:tcPr marL="54864" marR="54864" marT="18288" marB="18288" anchor="ctr">
                    <a:solidFill>
                      <a:srgbClr val="FFFFFF"/>
                    </a:solidFill>
                  </a:tcPr>
                </a:tc>
                <a:tc>
                  <a:txBody>
                    <a:bodyPr wrap="square"/>
                    <a:lstStyle/>
                    <a:p>
                      <a:pPr algn="l"/>
                      <a:r>
                        <a:rPr sz="800" b="0" i="0">
                          <a:solidFill>
                            <a:srgbClr val="595959"/>
                          </a:solidFill>
                          <a:latin typeface="Arial"/>
                        </a:rPr>
                        <a:t>Office DLLs</a:t>
                      </a:r>
                    </a:p>
                  </a:txBody>
                  <a:tcPr marL="54864" marR="54864" marT="18288" marB="18288" anchor="ctr">
                    <a:solidFill>
                      <a:srgbClr val="FFFFFF"/>
                    </a:solidFill>
                  </a:tcPr>
                </a:tc>
                <a:tc>
                  <a:txBody>
                    <a:bodyPr wrap="square"/>
                    <a:lstStyle/>
                    <a:p>
                      <a:pPr algn="r"/>
                      <a:r>
                        <a:rPr sz="800" b="0" i="0">
                          <a:solidFill>
                            <a:srgbClr val="595959"/>
                          </a:solidFill>
                          <a:latin typeface="Arial"/>
                        </a:rPr>
                        <a:t>2.95</a:t>
                      </a:r>
                    </a:p>
                  </a:txBody>
                  <a:tcPr marL="54864" marR="54864" marT="18288" marB="18288" anchor="ctr">
                    <a:solidFill>
                      <a:srgbClr val="FFFFFF"/>
                    </a:solidFill>
                  </a:tcPr>
                </a:tc>
                <a:tc>
                  <a:txBody>
                    <a:bodyPr wrap="square"/>
                    <a:lstStyle/>
                    <a:p>
                      <a:pPr algn="r"/>
                      <a:r>
                        <a:rPr sz="800" b="0" i="0">
                          <a:solidFill>
                            <a:srgbClr val="595959"/>
                          </a:solidFill>
                          <a:latin typeface="Arial"/>
                        </a:rPr>
                        <a:t>5.87</a:t>
                      </a:r>
                    </a:p>
                  </a:txBody>
                  <a:tcPr marL="54864" marR="54864" marT="18288" marB="18288" anchor="ctr">
                    <a:solidFill>
                      <a:srgbClr val="FFFFFF"/>
                    </a:solidFill>
                  </a:tcPr>
                </a:tc>
                <a:tc>
                  <a:txBody>
                    <a:bodyPr wrap="square"/>
                    <a:lstStyle/>
                    <a:p>
                      <a:pPr algn="r"/>
                      <a:r>
                        <a:rPr sz="800" b="0" i="0">
                          <a:solidFill>
                            <a:srgbClr val="595959"/>
                          </a:solidFill>
                          <a:latin typeface="Arial"/>
                        </a:rPr>
                        <a:t>1.99</a:t>
                      </a:r>
                    </a:p>
                  </a:txBody>
                  <a:tcPr marL="54864" marR="54864" marT="18288" marB="18288" anchor="ctr">
                    <a:solidFill>
                      <a:srgbClr val="FFFFFF"/>
                    </a:solidFill>
                  </a:tcPr>
                </a:tc>
                <a:tc>
                  <a:txBody>
                    <a:bodyPr wrap="square"/>
                    <a:lstStyle/>
                    <a:p>
                      <a:pPr algn="r"/>
                      <a:r>
                        <a:rPr sz="800" b="0" i="0">
                          <a:solidFill>
                            <a:srgbClr val="595959"/>
                          </a:solidFill>
                          <a:latin typeface="Arial"/>
                        </a:rPr>
                        <a:t>136</a:t>
                      </a:r>
                    </a:p>
                  </a:txBody>
                  <a:tcPr marL="54864" marR="54864" marT="18288" marB="18288" anchor="ctr">
                    <a:solidFill>
                      <a:srgbClr val="FFFFFF"/>
                    </a:solidFill>
                  </a:tcPr>
                </a:tc>
                <a:tc>
                  <a:txBody>
                    <a:bodyPr wrap="square"/>
                    <a:lstStyle/>
                    <a:p>
                      <a:pPr algn="r"/>
                      <a:r>
                        <a:rPr sz="800" b="0" i="0">
                          <a:solidFill>
                            <a:srgbClr val="595959"/>
                          </a:solidFill>
                          <a:latin typeface="Arial"/>
                        </a:rPr>
                        <a:t>2.00 ± 0.64</a:t>
                      </a:r>
                    </a:p>
                  </a:txBody>
                  <a:tcPr marL="54864" marR="54864" marT="18288" marB="18288" anchor="ctr">
                    <a:solidFill>
                      <a:srgbClr val="FFFFFF"/>
                    </a:solidFill>
                  </a:tcPr>
                </a:tc>
                <a:tc>
                  <a:txBody>
                    <a:bodyPr wrap="square"/>
                    <a:lstStyle/>
                    <a:p>
                      <a:pPr algn="r"/>
                      <a:r>
                        <a:rPr sz="800" b="0" i="0">
                          <a:solidFill>
                            <a:srgbClr val="595959"/>
                          </a:solidFill>
                          <a:latin typeface="Arial"/>
                        </a:rPr>
                        <a:t>31.8%</a:t>
                      </a:r>
                    </a:p>
                  </a:txBody>
                  <a:tcPr marL="54864" marR="54864" marT="18288" marB="18288" anchor="ctr">
                    <a:solidFill>
                      <a:srgbClr val="FFFFFF"/>
                    </a:solidFill>
                  </a:tcPr>
                </a:tc>
                <a:tc>
                  <a:txBody>
                    <a:bodyPr wrap="square"/>
                    <a:lstStyle/>
                    <a:p>
                      <a:pPr algn="r"/>
                      <a:r>
                        <a:rPr sz="800" b="0" i="0">
                          <a:solidFill>
                            <a:srgbClr val="595959"/>
                          </a:solidFill>
                          <a:latin typeface="Arial"/>
                        </a:rPr>
                        <a:t>67%</a:t>
                      </a:r>
                    </a:p>
                  </a:txBody>
                  <a:tcPr marL="54864" marR="54864" marT="18288" marB="18288" anchor="ctr">
                    <a:solidFill>
                      <a:srgbClr val="FFFFFF"/>
                    </a:solidFill>
                  </a:tcPr>
                </a:tc>
              </a:tr>
              <a:tr h="187452">
                <a:tc>
                  <a:txBody>
                    <a:bodyPr wrap="square"/>
                    <a:lstStyle/>
                    <a:p>
                      <a:pPr algn="l"/>
                      <a:r>
                        <a:rPr sz="800" b="0" i="0">
                          <a:solidFill>
                            <a:srgbClr val="595959"/>
                          </a:solidFill>
                          <a:latin typeface="Arial"/>
                        </a:rPr>
                        <a:t>osdb</a:t>
                      </a:r>
                    </a:p>
                  </a:txBody>
                  <a:tcPr marL="54864" marR="54864" marT="18288" marB="18288" anchor="ctr">
                    <a:solidFill>
                      <a:srgbClr val="F1F3F4"/>
                    </a:solidFill>
                  </a:tcPr>
                </a:tc>
                <a:tc>
                  <a:txBody>
                    <a:bodyPr wrap="square"/>
                    <a:lstStyle/>
                    <a:p>
                      <a:pPr algn="l"/>
                      <a:r>
                        <a:rPr sz="800" b="0" i="0">
                          <a:solidFill>
                            <a:srgbClr val="595959"/>
                          </a:solidFill>
                          <a:latin typeface="Arial"/>
                        </a:rPr>
                        <a:t>Database</a:t>
                      </a:r>
                    </a:p>
                  </a:txBody>
                  <a:tcPr marL="54864" marR="54864" marT="18288" marB="18288" anchor="ctr">
                    <a:solidFill>
                      <a:srgbClr val="F1F3F4"/>
                    </a:solidFill>
                  </a:tcPr>
                </a:tc>
                <a:tc>
                  <a:txBody>
                    <a:bodyPr wrap="square"/>
                    <a:lstStyle/>
                    <a:p>
                      <a:pPr algn="r"/>
                      <a:r>
                        <a:rPr sz="800" b="0" i="0">
                          <a:solidFill>
                            <a:srgbClr val="595959"/>
                          </a:solidFill>
                          <a:latin typeface="Arial"/>
                        </a:rPr>
                        <a:t>3.52</a:t>
                      </a:r>
                    </a:p>
                  </a:txBody>
                  <a:tcPr marL="54864" marR="54864" marT="18288" marB="18288" anchor="ctr">
                    <a:solidFill>
                      <a:srgbClr val="F1F3F4"/>
                    </a:solidFill>
                  </a:tcPr>
                </a:tc>
                <a:tc>
                  <a:txBody>
                    <a:bodyPr wrap="square"/>
                    <a:lstStyle/>
                    <a:p>
                      <a:pPr algn="r"/>
                      <a:r>
                        <a:rPr sz="800" b="0" i="0">
                          <a:solidFill>
                            <a:srgbClr val="595959"/>
                          </a:solidFill>
                          <a:latin typeface="Arial"/>
                        </a:rPr>
                        <a:t>9.62</a:t>
                      </a:r>
                    </a:p>
                  </a:txBody>
                  <a:tcPr marL="54864" marR="54864" marT="18288" marB="18288" anchor="ctr">
                    <a:solidFill>
                      <a:srgbClr val="F1F3F4"/>
                    </a:solidFill>
                  </a:tcPr>
                </a:tc>
                <a:tc>
                  <a:txBody>
                    <a:bodyPr wrap="square"/>
                    <a:lstStyle/>
                    <a:p>
                      <a:pPr algn="r"/>
                      <a:r>
                        <a:rPr sz="800" b="0" i="0">
                          <a:solidFill>
                            <a:srgbClr val="595959"/>
                          </a:solidFill>
                          <a:latin typeface="Arial"/>
                        </a:rPr>
                        <a:t>2.73</a:t>
                      </a:r>
                    </a:p>
                  </a:txBody>
                  <a:tcPr marL="54864" marR="54864" marT="18288" marB="18288" anchor="ctr">
                    <a:solidFill>
                      <a:srgbClr val="F1F3F4"/>
                    </a:solidFill>
                  </a:tcPr>
                </a:tc>
                <a:tc>
                  <a:txBody>
                    <a:bodyPr wrap="square"/>
                    <a:lstStyle/>
                    <a:p>
                      <a:pPr algn="r"/>
                      <a:r>
                        <a:rPr sz="800" b="0" i="0">
                          <a:solidFill>
                            <a:srgbClr val="595959"/>
                          </a:solidFill>
                          <a:latin typeface="Arial"/>
                        </a:rPr>
                        <a:t>169</a:t>
                      </a:r>
                    </a:p>
                  </a:txBody>
                  <a:tcPr marL="54864" marR="54864" marT="18288" marB="18288" anchor="ctr">
                    <a:solidFill>
                      <a:srgbClr val="F1F3F4"/>
                    </a:solidFill>
                  </a:tcPr>
                </a:tc>
                <a:tc>
                  <a:txBody>
                    <a:bodyPr wrap="square"/>
                    <a:lstStyle/>
                    <a:p>
                      <a:pPr algn="r"/>
                      <a:r>
                        <a:rPr sz="800" b="0" i="0">
                          <a:solidFill>
                            <a:srgbClr val="595959"/>
                          </a:solidFill>
                          <a:latin typeface="Arial"/>
                        </a:rPr>
                        <a:t>2.73 ± 0.04</a:t>
                      </a:r>
                    </a:p>
                  </a:txBody>
                  <a:tcPr marL="54864" marR="54864" marT="18288" marB="18288" anchor="ctr">
                    <a:solidFill>
                      <a:srgbClr val="F1F3F4"/>
                    </a:solidFill>
                  </a:tcPr>
                </a:tc>
                <a:tc>
                  <a:txBody>
                    <a:bodyPr wrap="square"/>
                    <a:lstStyle/>
                    <a:p>
                      <a:pPr algn="r"/>
                      <a:r>
                        <a:rPr sz="800" b="0" i="0">
                          <a:solidFill>
                            <a:srgbClr val="595959"/>
                          </a:solidFill>
                          <a:latin typeface="Arial"/>
                        </a:rPr>
                        <a:t>62.4%</a:t>
                      </a:r>
                    </a:p>
                  </a:txBody>
                  <a:tcPr marL="54864" marR="54864" marT="18288" marB="18288" anchor="ctr">
                    <a:solidFill>
                      <a:srgbClr val="F1F3F4"/>
                    </a:solidFill>
                  </a:tcPr>
                </a:tc>
                <a:tc>
                  <a:txBody>
                    <a:bodyPr wrap="square"/>
                    <a:lstStyle/>
                    <a:p>
                      <a:pPr algn="r"/>
                      <a:r>
                        <a:rPr sz="800" b="0" i="0">
                          <a:solidFill>
                            <a:srgbClr val="595959"/>
                          </a:solidFill>
                          <a:latin typeface="Arial"/>
                        </a:rPr>
                        <a:t>76%</a:t>
                      </a:r>
                    </a:p>
                  </a:txBody>
                  <a:tcPr marL="54864" marR="54864" marT="18288" marB="18288" anchor="ctr">
                    <a:solidFill>
                      <a:srgbClr val="F1F3F4"/>
                    </a:solidFill>
                  </a:tcPr>
                </a:tc>
              </a:tr>
              <a:tr h="187452">
                <a:tc>
                  <a:txBody>
                    <a:bodyPr wrap="square"/>
                    <a:lstStyle/>
                    <a:p>
                      <a:pPr algn="l"/>
                      <a:r>
                        <a:rPr sz="800" b="0" i="0">
                          <a:solidFill>
                            <a:srgbClr val="595959"/>
                          </a:solidFill>
                          <a:latin typeface="Arial"/>
                        </a:rPr>
                        <a:t>reymont</a:t>
                      </a:r>
                    </a:p>
                  </a:txBody>
                  <a:tcPr marL="54864" marR="54864" marT="18288" marB="18288" anchor="ctr">
                    <a:solidFill>
                      <a:srgbClr val="FFFFFF"/>
                    </a:solidFill>
                  </a:tcPr>
                </a:tc>
                <a:tc>
                  <a:txBody>
                    <a:bodyPr wrap="square"/>
                    <a:lstStyle/>
                    <a:p>
                      <a:pPr algn="l"/>
                      <a:r>
                        <a:rPr sz="800" b="0" i="0">
                          <a:solidFill>
                            <a:srgbClr val="595959"/>
                          </a:solidFill>
                          <a:latin typeface="Arial"/>
                        </a:rPr>
                        <a:t>Polish text (PDF)</a:t>
                      </a:r>
                    </a:p>
                  </a:txBody>
                  <a:tcPr marL="54864" marR="54864" marT="18288" marB="18288" anchor="ctr">
                    <a:solidFill>
                      <a:srgbClr val="FFFFFF"/>
                    </a:solidFill>
                  </a:tcPr>
                </a:tc>
                <a:tc>
                  <a:txBody>
                    <a:bodyPr wrap="square"/>
                    <a:lstStyle/>
                    <a:p>
                      <a:pPr algn="r"/>
                      <a:r>
                        <a:rPr sz="800" b="0" i="0">
                          <a:solidFill>
                            <a:srgbClr val="595959"/>
                          </a:solidFill>
                          <a:latin typeface="Arial"/>
                        </a:rPr>
                        <a:t>1.77</a:t>
                      </a:r>
                    </a:p>
                  </a:txBody>
                  <a:tcPr marL="54864" marR="54864" marT="18288" marB="18288" anchor="ctr">
                    <a:solidFill>
                      <a:srgbClr val="FFFFFF"/>
                    </a:solidFill>
                  </a:tcPr>
                </a:tc>
                <a:tc>
                  <a:txBody>
                    <a:bodyPr wrap="square"/>
                    <a:lstStyle/>
                    <a:p>
                      <a:pPr algn="r"/>
                      <a:r>
                        <a:rPr sz="800" b="0" i="0">
                          <a:solidFill>
                            <a:srgbClr val="595959"/>
                          </a:solidFill>
                          <a:latin typeface="Arial"/>
                        </a:rPr>
                        <a:t>6.32</a:t>
                      </a:r>
                    </a:p>
                  </a:txBody>
                  <a:tcPr marL="54864" marR="54864" marT="18288" marB="18288" anchor="ctr">
                    <a:solidFill>
                      <a:srgbClr val="FFFFFF"/>
                    </a:solidFill>
                  </a:tcPr>
                </a:tc>
                <a:tc>
                  <a:txBody>
                    <a:bodyPr wrap="square"/>
                    <a:lstStyle/>
                    <a:p>
                      <a:pPr algn="r"/>
                      <a:r>
                        <a:rPr sz="800" b="0" i="0">
                          <a:solidFill>
                            <a:srgbClr val="595959"/>
                          </a:solidFill>
                          <a:latin typeface="Arial"/>
                        </a:rPr>
                        <a:t>3.56</a:t>
                      </a:r>
                    </a:p>
                  </a:txBody>
                  <a:tcPr marL="54864" marR="54864" marT="18288" marB="18288" anchor="ctr">
                    <a:solidFill>
                      <a:srgbClr val="FFFFFF"/>
                    </a:solidFill>
                  </a:tcPr>
                </a:tc>
                <a:tc>
                  <a:txBody>
                    <a:bodyPr wrap="square"/>
                    <a:lstStyle/>
                    <a:p>
                      <a:pPr algn="r"/>
                      <a:r>
                        <a:rPr sz="800" b="0" i="0">
                          <a:solidFill>
                            <a:srgbClr val="595959"/>
                          </a:solidFill>
                          <a:latin typeface="Arial"/>
                        </a:rPr>
                        <a:t>62</a:t>
                      </a:r>
                    </a:p>
                  </a:txBody>
                  <a:tcPr marL="54864" marR="54864" marT="18288" marB="18288" anchor="ctr">
                    <a:solidFill>
                      <a:srgbClr val="FFFFFF"/>
                    </a:solidFill>
                  </a:tcPr>
                </a:tc>
                <a:tc>
                  <a:txBody>
                    <a:bodyPr wrap="square"/>
                    <a:lstStyle/>
                    <a:p>
                      <a:pPr algn="r"/>
                      <a:r>
                        <a:rPr sz="800" b="0" i="0">
                          <a:solidFill>
                            <a:srgbClr val="595959"/>
                          </a:solidFill>
                          <a:latin typeface="Arial"/>
                        </a:rPr>
                        <a:t>3.53 ± 0.41</a:t>
                      </a:r>
                    </a:p>
                  </a:txBody>
                  <a:tcPr marL="54864" marR="54864" marT="18288" marB="18288" anchor="ctr">
                    <a:solidFill>
                      <a:srgbClr val="FFFFFF"/>
                    </a:solidFill>
                  </a:tcPr>
                </a:tc>
                <a:tc>
                  <a:txBody>
                    <a:bodyPr wrap="square"/>
                    <a:lstStyle/>
                    <a:p>
                      <a:pPr algn="r"/>
                      <a:r>
                        <a:rPr sz="800" b="0" i="0">
                          <a:solidFill>
                            <a:srgbClr val="595959"/>
                          </a:solidFill>
                          <a:latin typeface="Arial"/>
                        </a:rPr>
                        <a:t>54.9%</a:t>
                      </a:r>
                    </a:p>
                  </a:txBody>
                  <a:tcPr marL="54864" marR="54864" marT="18288" marB="18288" anchor="ctr">
                    <a:solidFill>
                      <a:srgbClr val="FFFFFF"/>
                    </a:solidFill>
                  </a:tcPr>
                </a:tc>
                <a:tc>
                  <a:txBody>
                    <a:bodyPr wrap="square"/>
                    <a:lstStyle/>
                    <a:p>
                      <a:pPr algn="r"/>
                      <a:r>
                        <a:rPr sz="800" b="0" i="0">
                          <a:solidFill>
                            <a:srgbClr val="595959"/>
                          </a:solidFill>
                          <a:latin typeface="Arial"/>
                        </a:rPr>
                        <a:t>35%</a:t>
                      </a:r>
                    </a:p>
                  </a:txBody>
                  <a:tcPr marL="54864" marR="54864" marT="18288" marB="18288" anchor="ctr">
                    <a:solidFill>
                      <a:srgbClr val="FFFFFF"/>
                    </a:solidFill>
                  </a:tcPr>
                </a:tc>
              </a:tr>
              <a:tr h="187452">
                <a:tc>
                  <a:txBody>
                    <a:bodyPr wrap="square"/>
                    <a:lstStyle/>
                    <a:p>
                      <a:pPr algn="l"/>
                      <a:r>
                        <a:rPr sz="800" b="0" i="0">
                          <a:solidFill>
                            <a:srgbClr val="595959"/>
                          </a:solidFill>
                          <a:latin typeface="Arial"/>
                        </a:rPr>
                        <a:t>samba</a:t>
                      </a:r>
                    </a:p>
                  </a:txBody>
                  <a:tcPr marL="54864" marR="54864" marT="18288" marB="18288" anchor="ctr">
                    <a:solidFill>
                      <a:srgbClr val="F1F3F4"/>
                    </a:solidFill>
                  </a:tcPr>
                </a:tc>
                <a:tc>
                  <a:txBody>
                    <a:bodyPr wrap="square"/>
                    <a:lstStyle/>
                    <a:p>
                      <a:pPr algn="l"/>
                      <a:r>
                        <a:rPr sz="800" b="0" i="0">
                          <a:solidFill>
                            <a:srgbClr val="595959"/>
                          </a:solidFill>
                          <a:latin typeface="Arial"/>
                        </a:rPr>
                        <a:t>Source code (tar)</a:t>
                      </a:r>
                    </a:p>
                  </a:txBody>
                  <a:tcPr marL="54864" marR="54864" marT="18288" marB="18288" anchor="ctr">
                    <a:solidFill>
                      <a:srgbClr val="F1F3F4"/>
                    </a:solidFill>
                  </a:tcPr>
                </a:tc>
                <a:tc>
                  <a:txBody>
                    <a:bodyPr wrap="square"/>
                    <a:lstStyle/>
                    <a:p>
                      <a:pPr algn="r"/>
                      <a:r>
                        <a:rPr sz="800" b="0" i="0">
                          <a:solidFill>
                            <a:srgbClr val="595959"/>
                          </a:solidFill>
                          <a:latin typeface="Arial"/>
                        </a:rPr>
                        <a:t>5.20</a:t>
                      </a:r>
                    </a:p>
                  </a:txBody>
                  <a:tcPr marL="54864" marR="54864" marT="18288" marB="18288" anchor="ctr">
                    <a:solidFill>
                      <a:srgbClr val="F1F3F4"/>
                    </a:solidFill>
                  </a:tcPr>
                </a:tc>
                <a:tc>
                  <a:txBody>
                    <a:bodyPr wrap="square"/>
                    <a:lstStyle/>
                    <a:p>
                      <a:pPr algn="r"/>
                      <a:r>
                        <a:rPr sz="800" b="0" i="0">
                          <a:solidFill>
                            <a:srgbClr val="595959"/>
                          </a:solidFill>
                          <a:latin typeface="Arial"/>
                        </a:rPr>
                        <a:t>20.61</a:t>
                      </a:r>
                    </a:p>
                  </a:txBody>
                  <a:tcPr marL="54864" marR="54864" marT="18288" marB="18288" anchor="ctr">
                    <a:solidFill>
                      <a:srgbClr val="F1F3F4"/>
                    </a:solidFill>
                  </a:tcPr>
                </a:tc>
                <a:tc>
                  <a:txBody>
                    <a:bodyPr wrap="square"/>
                    <a:lstStyle/>
                    <a:p>
                      <a:pPr algn="r"/>
                      <a:r>
                        <a:rPr sz="800" b="0" i="0">
                          <a:solidFill>
                            <a:srgbClr val="595959"/>
                          </a:solidFill>
                          <a:latin typeface="Arial"/>
                        </a:rPr>
                        <a:t>3.96</a:t>
                      </a:r>
                    </a:p>
                  </a:txBody>
                  <a:tcPr marL="54864" marR="54864" marT="18288" marB="18288" anchor="ctr">
                    <a:solidFill>
                      <a:srgbClr val="F1F3F4"/>
                    </a:solidFill>
                  </a:tcPr>
                </a:tc>
                <a:tc>
                  <a:txBody>
                    <a:bodyPr wrap="square"/>
                    <a:lstStyle/>
                    <a:p>
                      <a:pPr algn="r"/>
                      <a:r>
                        <a:rPr sz="800" b="0" i="0">
                          <a:solidFill>
                            <a:srgbClr val="595959"/>
                          </a:solidFill>
                          <a:latin typeface="Arial"/>
                        </a:rPr>
                        <a:t>227</a:t>
                      </a:r>
                    </a:p>
                  </a:txBody>
                  <a:tcPr marL="54864" marR="54864" marT="18288" marB="18288" anchor="ctr">
                    <a:solidFill>
                      <a:srgbClr val="F1F3F4"/>
                    </a:solidFill>
                  </a:tcPr>
                </a:tc>
                <a:tc>
                  <a:txBody>
                    <a:bodyPr wrap="square"/>
                    <a:lstStyle/>
                    <a:p>
                      <a:pPr algn="r"/>
                      <a:r>
                        <a:rPr sz="800" b="0" i="0">
                          <a:solidFill>
                            <a:srgbClr val="595959"/>
                          </a:solidFill>
                          <a:latin typeface="Arial"/>
                        </a:rPr>
                        <a:t>3.57 ± 2.19</a:t>
                      </a:r>
                    </a:p>
                  </a:txBody>
                  <a:tcPr marL="54864" marR="54864" marT="18288" marB="18288" anchor="ctr">
                    <a:solidFill>
                      <a:srgbClr val="F1F3F4"/>
                    </a:solidFill>
                  </a:tcPr>
                </a:tc>
                <a:tc>
                  <a:txBody>
                    <a:bodyPr wrap="square"/>
                    <a:lstStyle/>
                    <a:p>
                      <a:pPr algn="r"/>
                      <a:r>
                        <a:rPr sz="800" b="0" i="0">
                          <a:solidFill>
                            <a:srgbClr val="595959"/>
                          </a:solidFill>
                          <a:latin typeface="Arial"/>
                        </a:rPr>
                        <a:t>42.0%</a:t>
                      </a:r>
                    </a:p>
                  </a:txBody>
                  <a:tcPr marL="54864" marR="54864" marT="18288" marB="18288" anchor="ctr">
                    <a:solidFill>
                      <a:srgbClr val="F1F3F4"/>
                    </a:solidFill>
                  </a:tcPr>
                </a:tc>
                <a:tc>
                  <a:txBody>
                    <a:bodyPr wrap="square"/>
                    <a:lstStyle/>
                    <a:p>
                      <a:pPr algn="r"/>
                      <a:r>
                        <a:rPr sz="800" b="0" i="0">
                          <a:solidFill>
                            <a:srgbClr val="595959"/>
                          </a:solidFill>
                          <a:latin typeface="Arial"/>
                        </a:rPr>
                        <a:t>62%</a:t>
                      </a:r>
                    </a:p>
                  </a:txBody>
                  <a:tcPr marL="54864" marR="54864" marT="18288" marB="18288" anchor="ctr">
                    <a:solidFill>
                      <a:srgbClr val="F1F3F4"/>
                    </a:solidFill>
                  </a:tcPr>
                </a:tc>
              </a:tr>
              <a:tr h="187452">
                <a:tc>
                  <a:txBody>
                    <a:bodyPr wrap="square"/>
                    <a:lstStyle/>
                    <a:p>
                      <a:pPr algn="l"/>
                      <a:r>
                        <a:rPr sz="800" b="0" i="0">
                          <a:solidFill>
                            <a:srgbClr val="595959"/>
                          </a:solidFill>
                          <a:latin typeface="Arial"/>
                        </a:rPr>
                        <a:t>sao</a:t>
                      </a:r>
                    </a:p>
                  </a:txBody>
                  <a:tcPr marL="54864" marR="54864" marT="18288" marB="18288" anchor="ctr">
                    <a:solidFill>
                      <a:srgbClr val="FFFFFF"/>
                    </a:solidFill>
                  </a:tcPr>
                </a:tc>
                <a:tc>
                  <a:txBody>
                    <a:bodyPr wrap="square"/>
                    <a:lstStyle/>
                    <a:p>
                      <a:pPr algn="l"/>
                      <a:r>
                        <a:rPr sz="800" b="0" i="0">
                          <a:solidFill>
                            <a:srgbClr val="595959"/>
                          </a:solidFill>
                          <a:latin typeface="Arial"/>
                        </a:rPr>
                        <a:t>Star catalogue</a:t>
                      </a:r>
                    </a:p>
                  </a:txBody>
                  <a:tcPr marL="54864" marR="54864" marT="18288" marB="18288" anchor="ctr">
                    <a:solidFill>
                      <a:srgbClr val="FFFFFF"/>
                    </a:solidFill>
                  </a:tcPr>
                </a:tc>
                <a:tc>
                  <a:txBody>
                    <a:bodyPr wrap="square"/>
                    <a:lstStyle/>
                    <a:p>
                      <a:pPr algn="r"/>
                      <a:r>
                        <a:rPr sz="800" b="0" i="0">
                          <a:solidFill>
                            <a:srgbClr val="595959"/>
                          </a:solidFill>
                          <a:latin typeface="Arial"/>
                        </a:rPr>
                        <a:t>5.08</a:t>
                      </a:r>
                    </a:p>
                  </a:txBody>
                  <a:tcPr marL="54864" marR="54864" marT="18288" marB="18288" anchor="ctr">
                    <a:solidFill>
                      <a:srgbClr val="FFFFFF"/>
                    </a:solidFill>
                  </a:tcPr>
                </a:tc>
                <a:tc>
                  <a:txBody>
                    <a:bodyPr wrap="square"/>
                    <a:lstStyle/>
                    <a:p>
                      <a:pPr algn="r"/>
                      <a:r>
                        <a:rPr sz="800" b="0" i="0">
                          <a:solidFill>
                            <a:srgbClr val="595959"/>
                          </a:solidFill>
                          <a:latin typeface="Arial"/>
                        </a:rPr>
                        <a:t>6.92</a:t>
                      </a:r>
                    </a:p>
                  </a:txBody>
                  <a:tcPr marL="54864" marR="54864" marT="18288" marB="18288" anchor="ctr">
                    <a:solidFill>
                      <a:srgbClr val="FFFFFF"/>
                    </a:solidFill>
                  </a:tcPr>
                </a:tc>
                <a:tc>
                  <a:txBody>
                    <a:bodyPr wrap="square"/>
                    <a:lstStyle/>
                    <a:p>
                      <a:pPr algn="r"/>
                      <a:r>
                        <a:rPr sz="800" b="0" i="0">
                          <a:solidFill>
                            <a:srgbClr val="595959"/>
                          </a:solidFill>
                          <a:latin typeface="Arial"/>
                        </a:rPr>
                        <a:t>1.36</a:t>
                      </a:r>
                    </a:p>
                  </a:txBody>
                  <a:tcPr marL="54864" marR="54864" marT="18288" marB="18288" anchor="ctr">
                    <a:solidFill>
                      <a:srgbClr val="FFFFFF"/>
                    </a:solidFill>
                  </a:tcPr>
                </a:tc>
                <a:tc>
                  <a:txBody>
                    <a:bodyPr wrap="square"/>
                    <a:lstStyle/>
                    <a:p>
                      <a:pPr algn="r"/>
                      <a:r>
                        <a:rPr sz="800" b="0" i="0">
                          <a:solidFill>
                            <a:srgbClr val="595959"/>
                          </a:solidFill>
                          <a:latin typeface="Arial"/>
                        </a:rPr>
                        <a:t>260</a:t>
                      </a:r>
                    </a:p>
                  </a:txBody>
                  <a:tcPr marL="54864" marR="54864" marT="18288" marB="18288" anchor="ctr">
                    <a:solidFill>
                      <a:srgbClr val="FFFFFF"/>
                    </a:solidFill>
                  </a:tcPr>
                </a:tc>
                <a:tc>
                  <a:txBody>
                    <a:bodyPr wrap="square"/>
                    <a:lstStyle/>
                    <a:p>
                      <a:pPr algn="r"/>
                      <a:r>
                        <a:rPr sz="800" b="0" i="0">
                          <a:solidFill>
                            <a:srgbClr val="595959"/>
                          </a:solidFill>
                          <a:latin typeface="Arial"/>
                        </a:rPr>
                        <a:t>1.36 ± 0.03</a:t>
                      </a:r>
                    </a:p>
                  </a:txBody>
                  <a:tcPr marL="54864" marR="54864" marT="18288" marB="18288" anchor="ctr">
                    <a:solidFill>
                      <a:srgbClr val="FFFFFF"/>
                    </a:solidFill>
                  </a:tcPr>
                </a:tc>
                <a:tc>
                  <a:txBody>
                    <a:bodyPr wrap="square"/>
                    <a:lstStyle/>
                    <a:p>
                      <a:pPr algn="r"/>
                      <a:r>
                        <a:rPr sz="800" b="0" i="0">
                          <a:solidFill>
                            <a:srgbClr val="595959"/>
                          </a:solidFill>
                          <a:latin typeface="Arial"/>
                        </a:rPr>
                        <a:t>46.9%</a:t>
                      </a:r>
                    </a:p>
                  </a:txBody>
                  <a:tcPr marL="54864" marR="54864" marT="18288" marB="18288" anchor="ctr">
                    <a:solidFill>
                      <a:srgbClr val="FFFFFF"/>
                    </a:solidFill>
                  </a:tcPr>
                </a:tc>
                <a:tc>
                  <a:txBody>
                    <a:bodyPr wrap="square"/>
                    <a:lstStyle/>
                    <a:p>
                      <a:pPr algn="r"/>
                      <a:r>
                        <a:rPr sz="800" b="0" i="0">
                          <a:solidFill>
                            <a:srgbClr val="595959"/>
                          </a:solidFill>
                          <a:latin typeface="Arial"/>
                        </a:rPr>
                        <a:t>82%</a:t>
                      </a:r>
                    </a:p>
                  </a:txBody>
                  <a:tcPr marL="54864" marR="54864" marT="18288" marB="18288" anchor="ctr">
                    <a:solidFill>
                      <a:srgbClr val="FFFFFF"/>
                    </a:solidFill>
                  </a:tcPr>
                </a:tc>
              </a:tr>
              <a:tr h="187452">
                <a:tc>
                  <a:txBody>
                    <a:bodyPr wrap="square"/>
                    <a:lstStyle/>
                    <a:p>
                      <a:pPr algn="l"/>
                      <a:r>
                        <a:rPr sz="800" b="0" i="0">
                          <a:solidFill>
                            <a:srgbClr val="595959"/>
                          </a:solidFill>
                          <a:latin typeface="Arial"/>
                        </a:rPr>
                        <a:t>webster</a:t>
                      </a:r>
                    </a:p>
                  </a:txBody>
                  <a:tcPr marL="54864" marR="54864" marT="18288" marB="18288" anchor="ctr">
                    <a:solidFill>
                      <a:srgbClr val="F1F3F4"/>
                    </a:solidFill>
                  </a:tcPr>
                </a:tc>
                <a:tc>
                  <a:txBody>
                    <a:bodyPr wrap="square"/>
                    <a:lstStyle/>
                    <a:p>
                      <a:pPr algn="l"/>
                      <a:r>
                        <a:rPr sz="800" b="0" i="0">
                          <a:solidFill>
                            <a:srgbClr val="595959"/>
                          </a:solidFill>
                          <a:latin typeface="Arial"/>
                        </a:rPr>
                        <a:t>Dictionary</a:t>
                      </a:r>
                    </a:p>
                  </a:txBody>
                  <a:tcPr marL="54864" marR="54864" marT="18288" marB="18288" anchor="ctr">
                    <a:solidFill>
                      <a:srgbClr val="F1F3F4"/>
                    </a:solidFill>
                  </a:tcPr>
                </a:tc>
                <a:tc>
                  <a:txBody>
                    <a:bodyPr wrap="square"/>
                    <a:lstStyle/>
                    <a:p>
                      <a:pPr algn="r"/>
                      <a:r>
                        <a:rPr sz="800" b="0" i="0">
                          <a:solidFill>
                            <a:srgbClr val="595959"/>
                          </a:solidFill>
                          <a:latin typeface="Arial"/>
                        </a:rPr>
                        <a:t>11.65</a:t>
                      </a:r>
                    </a:p>
                  </a:txBody>
                  <a:tcPr marL="54864" marR="54864" marT="18288" marB="18288" anchor="ctr">
                    <a:solidFill>
                      <a:srgbClr val="F1F3F4"/>
                    </a:solidFill>
                  </a:tcPr>
                </a:tc>
                <a:tc>
                  <a:txBody>
                    <a:bodyPr wrap="square"/>
                    <a:lstStyle/>
                    <a:p>
                      <a:pPr algn="r"/>
                      <a:r>
                        <a:rPr sz="800" b="0" i="0">
                          <a:solidFill>
                            <a:srgbClr val="595959"/>
                          </a:solidFill>
                          <a:latin typeface="Arial"/>
                        </a:rPr>
                        <a:t>39.54</a:t>
                      </a:r>
                    </a:p>
                  </a:txBody>
                  <a:tcPr marL="54864" marR="54864" marT="18288" marB="18288" anchor="ctr">
                    <a:solidFill>
                      <a:srgbClr val="F1F3F4"/>
                    </a:solidFill>
                  </a:tcPr>
                </a:tc>
                <a:tc>
                  <a:txBody>
                    <a:bodyPr wrap="square"/>
                    <a:lstStyle/>
                    <a:p>
                      <a:pPr algn="r"/>
                      <a:r>
                        <a:rPr sz="800" b="0" i="0">
                          <a:solidFill>
                            <a:srgbClr val="595959"/>
                          </a:solidFill>
                          <a:latin typeface="Arial"/>
                        </a:rPr>
                        <a:t>3.39</a:t>
                      </a:r>
                    </a:p>
                  </a:txBody>
                  <a:tcPr marL="54864" marR="54864" marT="18288" marB="18288" anchor="ctr">
                    <a:solidFill>
                      <a:srgbClr val="F1F3F4"/>
                    </a:solidFill>
                  </a:tcPr>
                </a:tc>
                <a:tc>
                  <a:txBody>
                    <a:bodyPr wrap="square"/>
                    <a:lstStyle/>
                    <a:p>
                      <a:pPr algn="r"/>
                      <a:r>
                        <a:rPr sz="800" b="0" i="0">
                          <a:solidFill>
                            <a:srgbClr val="595959"/>
                          </a:solidFill>
                          <a:latin typeface="Arial"/>
                        </a:rPr>
                        <a:t>415</a:t>
                      </a:r>
                    </a:p>
                  </a:txBody>
                  <a:tcPr marL="54864" marR="54864" marT="18288" marB="18288" anchor="ctr">
                    <a:solidFill>
                      <a:srgbClr val="F1F3F4"/>
                    </a:solidFill>
                  </a:tcPr>
                </a:tc>
                <a:tc>
                  <a:txBody>
                    <a:bodyPr wrap="square"/>
                    <a:lstStyle/>
                    <a:p>
                      <a:pPr algn="r"/>
                      <a:r>
                        <a:rPr sz="800" b="0" i="0">
                          <a:solidFill>
                            <a:srgbClr val="595959"/>
                          </a:solidFill>
                          <a:latin typeface="Arial"/>
                        </a:rPr>
                        <a:t>3.39 ± 0.18</a:t>
                      </a:r>
                    </a:p>
                  </a:txBody>
                  <a:tcPr marL="54864" marR="54864" marT="18288" marB="18288" anchor="ctr">
                    <a:solidFill>
                      <a:srgbClr val="F1F3F4"/>
                    </a:solidFill>
                  </a:tcPr>
                </a:tc>
                <a:tc>
                  <a:txBody>
                    <a:bodyPr wrap="square"/>
                    <a:lstStyle/>
                    <a:p>
                      <a:pPr algn="r"/>
                      <a:r>
                        <a:rPr sz="800" b="0" i="0">
                          <a:solidFill>
                            <a:srgbClr val="595959"/>
                          </a:solidFill>
                          <a:latin typeface="Arial"/>
                        </a:rPr>
                        <a:t>53.4%</a:t>
                      </a:r>
                    </a:p>
                  </a:txBody>
                  <a:tcPr marL="54864" marR="54864" marT="18288" marB="18288" anchor="ctr">
                    <a:solidFill>
                      <a:srgbClr val="F1F3F4"/>
                    </a:solidFill>
                  </a:tcPr>
                </a:tc>
                <a:tc>
                  <a:txBody>
                    <a:bodyPr wrap="square"/>
                    <a:lstStyle/>
                    <a:p>
                      <a:pPr algn="r"/>
                      <a:r>
                        <a:rPr sz="800" b="0" i="0">
                          <a:solidFill>
                            <a:srgbClr val="595959"/>
                          </a:solidFill>
                          <a:latin typeface="Arial"/>
                        </a:rPr>
                        <a:t>38%</a:t>
                      </a:r>
                    </a:p>
                  </a:txBody>
                  <a:tcPr marL="54864" marR="54864" marT="18288" marB="18288" anchor="ctr">
                    <a:solidFill>
                      <a:srgbClr val="F1F3F4"/>
                    </a:solidFill>
                  </a:tcPr>
                </a:tc>
              </a:tr>
              <a:tr h="187452">
                <a:tc>
                  <a:txBody>
                    <a:bodyPr wrap="square"/>
                    <a:lstStyle/>
                    <a:p>
                      <a:pPr algn="l"/>
                      <a:r>
                        <a:rPr sz="800" b="0" i="0">
                          <a:solidFill>
                            <a:srgbClr val="595959"/>
                          </a:solidFill>
                          <a:latin typeface="Arial"/>
                        </a:rPr>
                        <a:t>x-ray</a:t>
                      </a:r>
                    </a:p>
                  </a:txBody>
                  <a:tcPr marL="54864" marR="54864" marT="18288" marB="18288" anchor="ctr">
                    <a:solidFill>
                      <a:srgbClr val="FFFFFF"/>
                    </a:solidFill>
                  </a:tcPr>
                </a:tc>
                <a:tc>
                  <a:txBody>
                    <a:bodyPr wrap="square"/>
                    <a:lstStyle/>
                    <a:p>
                      <a:pPr algn="l"/>
                      <a:r>
                        <a:rPr sz="800" b="0" i="0">
                          <a:solidFill>
                            <a:srgbClr val="595959"/>
                          </a:solidFill>
                          <a:latin typeface="Arial"/>
                        </a:rPr>
                        <a:t>X-ray image</a:t>
                      </a:r>
                    </a:p>
                  </a:txBody>
                  <a:tcPr marL="54864" marR="54864" marT="18288" marB="18288" anchor="ctr">
                    <a:solidFill>
                      <a:srgbClr val="FFFFFF"/>
                    </a:solidFill>
                  </a:tcPr>
                </a:tc>
                <a:tc>
                  <a:txBody>
                    <a:bodyPr wrap="square"/>
                    <a:lstStyle/>
                    <a:p>
                      <a:pPr algn="r"/>
                      <a:r>
                        <a:rPr sz="800" b="0" i="0">
                          <a:solidFill>
                            <a:srgbClr val="595959"/>
                          </a:solidFill>
                          <a:latin typeface="Arial"/>
                        </a:rPr>
                        <a:t>5.77</a:t>
                      </a:r>
                    </a:p>
                  </a:txBody>
                  <a:tcPr marL="54864" marR="54864" marT="18288" marB="18288" anchor="ctr">
                    <a:solidFill>
                      <a:srgbClr val="FFFFFF"/>
                    </a:solidFill>
                  </a:tcPr>
                </a:tc>
                <a:tc>
                  <a:txBody>
                    <a:bodyPr wrap="square"/>
                    <a:lstStyle/>
                    <a:p>
                      <a:pPr algn="r"/>
                      <a:r>
                        <a:rPr sz="800" b="0" i="0">
                          <a:solidFill>
                            <a:srgbClr val="595959"/>
                          </a:solidFill>
                          <a:latin typeface="Arial"/>
                        </a:rPr>
                        <a:t>8.08</a:t>
                      </a:r>
                    </a:p>
                  </a:txBody>
                  <a:tcPr marL="54864" marR="54864" marT="18288" marB="18288" anchor="ctr">
                    <a:solidFill>
                      <a:srgbClr val="FFFFFF"/>
                    </a:solidFill>
                  </a:tcPr>
                </a:tc>
                <a:tc>
                  <a:txBody>
                    <a:bodyPr wrap="square"/>
                    <a:lstStyle/>
                    <a:p>
                      <a:pPr algn="r"/>
                      <a:r>
                        <a:rPr sz="800" b="0" i="0">
                          <a:solidFill>
                            <a:srgbClr val="595959"/>
                          </a:solidFill>
                          <a:latin typeface="Arial"/>
                        </a:rPr>
                        <a:t>1.40</a:t>
                      </a:r>
                    </a:p>
                  </a:txBody>
                  <a:tcPr marL="54864" marR="54864" marT="18288" marB="18288" anchor="ctr">
                    <a:solidFill>
                      <a:srgbClr val="FFFFFF"/>
                    </a:solidFill>
                  </a:tcPr>
                </a:tc>
                <a:tc>
                  <a:txBody>
                    <a:bodyPr wrap="square"/>
                    <a:lstStyle/>
                    <a:p>
                      <a:pPr algn="r"/>
                      <a:r>
                        <a:rPr sz="800" b="0" i="0">
                          <a:solidFill>
                            <a:srgbClr val="595959"/>
                          </a:solidFill>
                          <a:latin typeface="Arial"/>
                        </a:rPr>
                        <a:t>278</a:t>
                      </a:r>
                    </a:p>
                  </a:txBody>
                  <a:tcPr marL="54864" marR="54864" marT="18288" marB="18288" anchor="ctr">
                    <a:solidFill>
                      <a:srgbClr val="FFFFFF"/>
                    </a:solidFill>
                  </a:tcPr>
                </a:tc>
                <a:tc>
                  <a:txBody>
                    <a:bodyPr wrap="square"/>
                    <a:lstStyle/>
                    <a:p>
                      <a:pPr algn="r"/>
                      <a:r>
                        <a:rPr sz="800" b="0" i="0">
                          <a:solidFill>
                            <a:srgbClr val="595959"/>
                          </a:solidFill>
                          <a:latin typeface="Arial"/>
                        </a:rPr>
                        <a:t>1.40 ± 0.04</a:t>
                      </a:r>
                    </a:p>
                  </a:txBody>
                  <a:tcPr marL="54864" marR="54864" marT="18288" marB="18288" anchor="ctr">
                    <a:solidFill>
                      <a:srgbClr val="FFFFFF"/>
                    </a:solidFill>
                  </a:tcPr>
                </a:tc>
                <a:tc>
                  <a:txBody>
                    <a:bodyPr wrap="square"/>
                    <a:lstStyle/>
                    <a:p>
                      <a:pPr algn="r"/>
                      <a:r>
                        <a:rPr sz="800" b="0" i="0">
                          <a:solidFill>
                            <a:srgbClr val="595959"/>
                          </a:solidFill>
                          <a:latin typeface="Arial"/>
                        </a:rPr>
                        <a:t>28.9%</a:t>
                      </a:r>
                    </a:p>
                  </a:txBody>
                  <a:tcPr marL="54864" marR="54864" marT="18288" marB="18288" anchor="ctr">
                    <a:solidFill>
                      <a:srgbClr val="FFFFFF"/>
                    </a:solidFill>
                  </a:tcPr>
                </a:tc>
                <a:tc>
                  <a:txBody>
                    <a:bodyPr wrap="square"/>
                    <a:lstStyle/>
                    <a:p>
                      <a:pPr algn="r"/>
                      <a:r>
                        <a:rPr sz="800" b="0" i="0">
                          <a:solidFill>
                            <a:srgbClr val="595959"/>
                          </a:solidFill>
                          <a:latin typeface="Arial"/>
                        </a:rPr>
                        <a:t>67%</a:t>
                      </a:r>
                    </a:p>
                  </a:txBody>
                  <a:tcPr marL="54864" marR="54864" marT="18288" marB="18288" anchor="ctr">
                    <a:solidFill>
                      <a:srgbClr val="FFFFFF"/>
                    </a:solidFill>
                  </a:tcPr>
                </a:tc>
              </a:tr>
              <a:tr h="187452">
                <a:tc>
                  <a:txBody>
                    <a:bodyPr wrap="square"/>
                    <a:lstStyle/>
                    <a:p>
                      <a:pPr algn="l"/>
                      <a:r>
                        <a:rPr sz="800" b="0" i="0">
                          <a:solidFill>
                            <a:srgbClr val="595959"/>
                          </a:solidFill>
                          <a:latin typeface="Arial"/>
                        </a:rPr>
                        <a:t>xml</a:t>
                      </a:r>
                    </a:p>
                  </a:txBody>
                  <a:tcPr marL="54864" marR="54864" marT="18288" marB="18288" anchor="ctr">
                    <a:solidFill>
                      <a:srgbClr val="F1F3F4"/>
                    </a:solidFill>
                  </a:tcPr>
                </a:tc>
                <a:tc>
                  <a:txBody>
                    <a:bodyPr wrap="square"/>
                    <a:lstStyle/>
                    <a:p>
                      <a:pPr algn="l"/>
                      <a:r>
                        <a:rPr sz="800" b="0" i="0">
                          <a:solidFill>
                            <a:srgbClr val="595959"/>
                          </a:solidFill>
                          <a:latin typeface="Arial"/>
                        </a:rPr>
                        <a:t>XML</a:t>
                      </a:r>
                    </a:p>
                  </a:txBody>
                  <a:tcPr marL="54864" marR="54864" marT="18288" marB="18288" anchor="ctr">
                    <a:solidFill>
                      <a:srgbClr val="F1F3F4"/>
                    </a:solidFill>
                  </a:tcPr>
                </a:tc>
                <a:tc>
                  <a:txBody>
                    <a:bodyPr wrap="square"/>
                    <a:lstStyle/>
                    <a:p>
                      <a:pPr algn="r"/>
                      <a:r>
                        <a:rPr sz="800" b="0" i="0">
                          <a:solidFill>
                            <a:srgbClr val="595959"/>
                          </a:solidFill>
                          <a:latin typeface="Arial"/>
                        </a:rPr>
                        <a:t>0.66</a:t>
                      </a:r>
                    </a:p>
                  </a:txBody>
                  <a:tcPr marL="54864" marR="54864" marT="18288" marB="18288" anchor="ctr">
                    <a:solidFill>
                      <a:srgbClr val="F1F3F4"/>
                    </a:solidFill>
                  </a:tcPr>
                </a:tc>
                <a:tc>
                  <a:txBody>
                    <a:bodyPr wrap="square"/>
                    <a:lstStyle/>
                    <a:p>
                      <a:pPr algn="r"/>
                      <a:r>
                        <a:rPr sz="800" b="0" i="0">
                          <a:solidFill>
                            <a:srgbClr val="595959"/>
                          </a:solidFill>
                          <a:latin typeface="Arial"/>
                        </a:rPr>
                        <a:t>5.10</a:t>
                      </a:r>
                    </a:p>
                  </a:txBody>
                  <a:tcPr marL="54864" marR="54864" marT="18288" marB="18288" anchor="ctr">
                    <a:solidFill>
                      <a:srgbClr val="F1F3F4"/>
                    </a:solidFill>
                  </a:tcPr>
                </a:tc>
                <a:tc>
                  <a:txBody>
                    <a:bodyPr wrap="square"/>
                    <a:lstStyle/>
                    <a:p>
                      <a:pPr algn="r"/>
                      <a:r>
                        <a:rPr sz="800" b="0" i="0">
                          <a:solidFill>
                            <a:srgbClr val="595959"/>
                          </a:solidFill>
                          <a:latin typeface="Arial"/>
                        </a:rPr>
                        <a:t>7.77</a:t>
                      </a:r>
                    </a:p>
                  </a:txBody>
                  <a:tcPr marL="54864" marR="54864" marT="18288" marB="18288" anchor="ctr">
                    <a:solidFill>
                      <a:srgbClr val="F1F3F4"/>
                    </a:solidFill>
                  </a:tcPr>
                </a:tc>
                <a:tc>
                  <a:txBody>
                    <a:bodyPr wrap="square"/>
                    <a:lstStyle/>
                    <a:p>
                      <a:pPr algn="r"/>
                      <a:r>
                        <a:rPr sz="800" b="0" i="0">
                          <a:solidFill>
                            <a:srgbClr val="595959"/>
                          </a:solidFill>
                          <a:latin typeface="Arial"/>
                        </a:rPr>
                        <a:t>24</a:t>
                      </a:r>
                    </a:p>
                  </a:txBody>
                  <a:tcPr marL="54864" marR="54864" marT="18288" marB="18288" anchor="ctr">
                    <a:solidFill>
                      <a:srgbClr val="F1F3F4"/>
                    </a:solidFill>
                  </a:tcPr>
                </a:tc>
                <a:tc>
                  <a:txBody>
                    <a:bodyPr wrap="square"/>
                    <a:lstStyle/>
                    <a:p>
                      <a:pPr algn="r"/>
                      <a:r>
                        <a:rPr sz="800" b="0" i="0">
                          <a:solidFill>
                            <a:srgbClr val="595959"/>
                          </a:solidFill>
                          <a:latin typeface="Arial"/>
                        </a:rPr>
                        <a:t>7.41 ± 5.94</a:t>
                      </a:r>
                    </a:p>
                  </a:txBody>
                  <a:tcPr marL="54864" marR="54864" marT="18288" marB="18288" anchor="ctr">
                    <a:solidFill>
                      <a:srgbClr val="F1F3F4"/>
                    </a:solidFill>
                  </a:tcPr>
                </a:tc>
                <a:tc>
                  <a:txBody>
                    <a:bodyPr wrap="square"/>
                    <a:lstStyle/>
                    <a:p>
                      <a:pPr algn="r"/>
                      <a:r>
                        <a:rPr sz="800" b="0" i="0">
                          <a:solidFill>
                            <a:srgbClr val="595959"/>
                          </a:solidFill>
                          <a:latin typeface="Arial"/>
                        </a:rPr>
                        <a:t>53.3%</a:t>
                      </a:r>
                    </a:p>
                  </a:txBody>
                  <a:tcPr marL="54864" marR="54864" marT="18288" marB="18288" anchor="ctr">
                    <a:solidFill>
                      <a:srgbClr val="F1F3F4"/>
                    </a:solidFill>
                  </a:tcPr>
                </a:tc>
                <a:tc>
                  <a:txBody>
                    <a:bodyPr wrap="square"/>
                    <a:lstStyle/>
                    <a:p>
                      <a:pPr algn="r"/>
                      <a:r>
                        <a:rPr sz="800" b="0" i="0">
                          <a:solidFill>
                            <a:srgbClr val="595959"/>
                          </a:solidFill>
                          <a:latin typeface="Arial"/>
                        </a:rPr>
                        <a:t>42%</a:t>
                      </a:r>
                    </a:p>
                  </a:txBody>
                  <a:tcPr marL="54864" marR="54864" marT="18288" marB="18288" anchor="ctr">
                    <a:solidFill>
                      <a:srgbClr val="F1F3F4"/>
                    </a:solidFill>
                  </a:tcPr>
                </a:tc>
              </a:tr>
            </a:tbl>
          </a:graphicData>
        </a:graphic>
      </p:graphicFrame>
      <p:sp>
        <p:nvSpPr>
          <p:cNvPr id="77" name="TextBox 76"/>
          <p:cNvSpPr txBox="1"/>
          <p:nvPr/>
        </p:nvSpPr>
        <p:spPr>
          <a:xfrm>
            <a:off x="310896" y="4352544"/>
            <a:ext cx="8522208" cy="731520"/>
          </a:xfrm>
          <a:prstGeom prst="rect">
            <a:avLst/>
          </a:prstGeom>
          <a:noFill/>
        </p:spPr>
        <p:txBody>
          <a:bodyPr wrap="square" lIns="0" rIns="0" tIns="0" bIns="0">
            <a:spAutoFit/>
          </a:bodyPr>
          <a:lstStyle/>
          <a:p>
            <a:pPr marL="164592" indent="-164592">
              <a:lnSpc>
                <a:spcPct val="108000"/>
              </a:lnSpc>
              <a:spcAft>
                <a:spcPts val="300"/>
              </a:spcAft>
              <a:buClr>
                <a:srgbClr val="4285F4"/>
              </a:buClr>
              <a:buFont typeface="Arial"/>
              <a:buChar char="•"/>
            </a:pPr>
            <a:r>
              <a:rPr sz="900" b="1" i="0">
                <a:solidFill>
                  <a:srgbClr val="212121"/>
                </a:solidFill>
                <a:latin typeface="Arial"/>
              </a:rPr>
              <a:t>Same benchmark as the base paper: </a:t>
            </a:r>
            <a:r>
              <a:rPr sz="900" b="0" i="0">
                <a:solidFill>
                  <a:srgbClr val="595959"/>
                </a:solidFill>
                <a:latin typeface="Arial"/>
              </a:rPr>
              <a:t>212 MB of text, executables, images and databases; 68 MB as a gzip tarball.</a:t>
            </a:r>
          </a:p>
          <a:p>
            <a:pPr marL="164592" indent="-164592">
              <a:lnSpc>
                <a:spcPct val="108000"/>
              </a:lnSpc>
              <a:spcAft>
                <a:spcPts val="300"/>
              </a:spcAft>
              <a:buClr>
                <a:srgbClr val="4285F4"/>
              </a:buClr>
              <a:buFont typeface="Arial"/>
              <a:buChar char="•"/>
            </a:pPr>
            <a:r>
              <a:rPr sz="900" b="1" i="0">
                <a:solidFill>
                  <a:srgbClr val="212121"/>
                </a:solidFill>
                <a:latin typeface="Arial"/>
              </a:rPr>
              <a:t>Expansion varies 7.7× inside one archive: </a:t>
            </a:r>
            <a:r>
              <a:rPr sz="900" b="0" i="0">
                <a:solidFill>
                  <a:srgbClr val="595959"/>
                </a:solidFill>
                <a:latin typeface="Arial"/>
              </a:rPr>
              <a:t>nci expands 10.48× and sao 1.36×; at the nci → ooffice boundary, blocks of similar size drop from ~255 KB to ~41 KB of output.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h4201240a44ad152a_0_1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800"/>
              <a:t>What We Have Achieved</a:t>
            </a:r>
            <a:endParaRPr/>
          </a:p>
        </p:txBody>
      </p:sp>
      <p:sp>
        <p:nvSpPr>
          <p:cNvPr id="79" name="TextBox 78"/>
          <p:cNvSpPr txBox="1"/>
          <p:nvPr/>
        </p:nvSpPr>
        <p:spPr>
          <a:xfrm>
            <a:off x="310896" y="1115568"/>
            <a:ext cx="4114800" cy="219456"/>
          </a:xfrm>
          <a:prstGeom prst="rect">
            <a:avLst/>
          </a:prstGeom>
          <a:noFill/>
        </p:spPr>
        <p:txBody>
          <a:bodyPr wrap="square" lIns="0" rIns="0" tIns="0" bIns="0" anchor="t">
            <a:spAutoFit/>
          </a:bodyPr>
          <a:lstStyle/>
          <a:p>
            <a:pPr algn="l"/>
            <a:r>
              <a:rPr sz="1050" b="1" i="0">
                <a:solidFill>
                  <a:srgbClr val="4285F4"/>
                </a:solidFill>
                <a:latin typeface="Arial"/>
              </a:rPr>
              <a:t>Achieved so far</a:t>
            </a:r>
          </a:p>
        </p:txBody>
      </p:sp>
      <p:sp>
        <p:nvSpPr>
          <p:cNvPr id="80" name="TextBox 79"/>
          <p:cNvSpPr txBox="1"/>
          <p:nvPr/>
        </p:nvSpPr>
        <p:spPr>
          <a:xfrm>
            <a:off x="310896" y="1389888"/>
            <a:ext cx="4114800" cy="3383280"/>
          </a:xfrm>
          <a:prstGeom prst="rect">
            <a:avLst/>
          </a:prstGeom>
          <a:noFill/>
        </p:spPr>
        <p:txBody>
          <a:bodyPr wrap="square" lIns="0" rIns="0" tIns="0" bIns="0">
            <a:spAutoFit/>
          </a:bodyPr>
          <a:lstStyle/>
          <a:p>
            <a:pPr marL="164592" indent="-164592">
              <a:lnSpc>
                <a:spcPct val="108000"/>
              </a:lnSpc>
              <a:spcAft>
                <a:spcPts val="700"/>
              </a:spcAft>
              <a:buClr>
                <a:srgbClr val="4285F4"/>
              </a:buClr>
              <a:buFont typeface="Arial"/>
              <a:buChar char="•"/>
            </a:pPr>
            <a:r>
              <a:rPr sz="1000" b="1" i="0">
                <a:solidFill>
                  <a:srgbClr val="212121"/>
                </a:solidFill>
                <a:latin typeface="Arial"/>
              </a:rPr>
              <a:t>M3 prototype on Silesia: </a:t>
            </a:r>
            <a:r>
              <a:rPr sz="1000" b="0" i="0">
                <a:solidFill>
                  <a:srgbClr val="595959"/>
                </a:solidFill>
                <a:latin typeface="Arial"/>
              </a:rPr>
              <a:t>windows resolved by prefix scan in log2 N rounds, bit-identical to zlib at the base paper's 4 MiB chunks.</a:t>
            </a:r>
          </a:p>
          <a:p>
            <a:pPr marL="164592" indent="-164592">
              <a:lnSpc>
                <a:spcPct val="108000"/>
              </a:lnSpc>
              <a:spcAft>
                <a:spcPts val="700"/>
              </a:spcAft>
              <a:buClr>
                <a:srgbClr val="4285F4"/>
              </a:buClr>
              <a:buFont typeface="Arial"/>
              <a:buChar char="•"/>
            </a:pPr>
            <a:r>
              <a:rPr sz="1000" b="1" i="0">
                <a:solidFill>
                  <a:srgbClr val="212121"/>
                </a:solidFill>
                <a:latin typeface="Arial"/>
              </a:rPr>
              <a:t>Reference decoder and profiler, </a:t>
            </a:r>
            <a:r>
              <a:rPr sz="1000" b="0" i="0">
                <a:solidFill>
                  <a:srgbClr val="595959"/>
                </a:solidFill>
                <a:latin typeface="Arial"/>
              </a:rPr>
              <a:t>from scratch; all 12 Silesia files and the tarball bit-identical to zlib.</a:t>
            </a:r>
          </a:p>
          <a:p>
            <a:pPr marL="164592" indent="-164592">
              <a:lnSpc>
                <a:spcPct val="108000"/>
              </a:lnSpc>
              <a:spcAft>
                <a:spcPts val="700"/>
              </a:spcAft>
              <a:buClr>
                <a:srgbClr val="4285F4"/>
              </a:buClr>
              <a:buFont typeface="Arial"/>
              <a:buChar char="•"/>
            </a:pPr>
            <a:r>
              <a:rPr sz="1000" b="1" i="0">
                <a:solidFill>
                  <a:srgbClr val="212121"/>
                </a:solidFill>
                <a:latin typeface="Arial"/>
              </a:rPr>
              <a:t>Novelty checked </a:t>
            </a:r>
            <a:r>
              <a:rPr sz="1000" b="0" i="0">
                <a:solidFill>
                  <a:srgbClr val="595959"/>
                </a:solidFill>
                <a:latin typeface="Arial"/>
              </a:rPr>
              <a:t>against the base paper and its changelog to v0.16.0; its parallel CRC32 already exists, so we reuse it.</a:t>
            </a:r>
          </a:p>
          <a:p>
            <a:pPr marL="164592" indent="-164592">
              <a:lnSpc>
                <a:spcPct val="108000"/>
              </a:lnSpc>
              <a:spcAft>
                <a:spcPts val="700"/>
              </a:spcAft>
              <a:buClr>
                <a:srgbClr val="4285F4"/>
              </a:buClr>
              <a:buFont typeface="Arial"/>
              <a:buChar char="•"/>
            </a:pPr>
            <a:r>
              <a:rPr sz="1000" b="1" i="0">
                <a:solidFill>
                  <a:srgbClr val="212121"/>
                </a:solidFill>
                <a:latin typeface="Arial"/>
              </a:rPr>
              <a:t>Limits found early: </a:t>
            </a:r>
            <a:r>
              <a:rPr sz="1000" b="0" i="0">
                <a:solidFill>
                  <a:srgbClr val="595959"/>
                </a:solidFill>
                <a:latin typeface="Arial"/>
              </a:rPr>
              <a:t>the chain is small in pure work, so M3's payoff depends on its measured cost in rapidgzip.</a:t>
            </a:r>
          </a:p>
        </p:txBody>
      </p:sp>
      <p:sp>
        <p:nvSpPr>
          <p:cNvPr id="81" name="TextBox 80"/>
          <p:cNvSpPr txBox="1"/>
          <p:nvPr/>
        </p:nvSpPr>
        <p:spPr>
          <a:xfrm>
            <a:off x="4626864" y="1115568"/>
            <a:ext cx="4206240" cy="219456"/>
          </a:xfrm>
          <a:prstGeom prst="rect">
            <a:avLst/>
          </a:prstGeom>
          <a:noFill/>
        </p:spPr>
        <p:txBody>
          <a:bodyPr wrap="square" lIns="0" rIns="0" tIns="0" bIns="0" anchor="t">
            <a:spAutoFit/>
          </a:bodyPr>
          <a:lstStyle/>
          <a:p>
            <a:pPr algn="l"/>
            <a:r>
              <a:rPr sz="1050" b="1" i="0">
                <a:solidFill>
                  <a:srgbClr val="4285F4"/>
                </a:solidFill>
                <a:latin typeface="Arial"/>
              </a:rPr>
              <a:t>Practical use case and deployment</a:t>
            </a:r>
          </a:p>
        </p:txBody>
      </p:sp>
      <p:sp>
        <p:nvSpPr>
          <p:cNvPr id="82" name="TextBox 81"/>
          <p:cNvSpPr txBox="1"/>
          <p:nvPr/>
        </p:nvSpPr>
        <p:spPr>
          <a:xfrm>
            <a:off x="4626864" y="1389888"/>
            <a:ext cx="4206240" cy="1463040"/>
          </a:xfrm>
          <a:prstGeom prst="rect">
            <a:avLst/>
          </a:prstGeom>
          <a:noFill/>
        </p:spPr>
        <p:txBody>
          <a:bodyPr wrap="square" lIns="0" rIns="0" tIns="0" bIns="0">
            <a:spAutoFit/>
          </a:bodyPr>
          <a:lstStyle/>
          <a:p>
            <a:pPr marL="164592" indent="-164592">
              <a:lnSpc>
                <a:spcPct val="108000"/>
              </a:lnSpc>
              <a:spcAft>
                <a:spcPts val="700"/>
              </a:spcAft>
              <a:buClr>
                <a:srgbClr val="4285F4"/>
              </a:buClr>
              <a:buFont typeface="Arial"/>
              <a:buChar char="•"/>
            </a:pPr>
            <a:r>
              <a:rPr sz="1000" b="1" i="0">
                <a:solidFill>
                  <a:srgbClr val="212121"/>
                </a:solidFill>
                <a:latin typeface="Arial"/>
              </a:rPr>
              <a:t>Deployment target: </a:t>
            </a:r>
            <a:r>
              <a:rPr sz="1000" b="0" i="0">
                <a:solidFill>
                  <a:srgbClr val="595959"/>
                </a:solidFill>
                <a:latin typeface="Arial"/>
              </a:rPr>
              <a:t>a fork of rapidgzip with M3 and M1, used as a drop-in CLI and library.</a:t>
            </a:r>
          </a:p>
          <a:p>
            <a:pPr marL="164592" indent="-164592">
              <a:lnSpc>
                <a:spcPct val="108000"/>
              </a:lnSpc>
              <a:spcAft>
                <a:spcPts val="700"/>
              </a:spcAft>
              <a:buClr>
                <a:srgbClr val="4285F4"/>
              </a:buClr>
              <a:buFont typeface="Arial"/>
              <a:buChar char="•"/>
            </a:pPr>
            <a:r>
              <a:rPr sz="1000" b="1" i="0">
                <a:solidFill>
                  <a:srgbClr val="212121"/>
                </a:solidFill>
                <a:latin typeface="Arial"/>
              </a:rPr>
              <a:t>Use case: </a:t>
            </a:r>
            <a:r>
              <a:rPr sz="1000" b="0" i="0">
                <a:solidFill>
                  <a:srgbClr val="595959"/>
                </a:solidFill>
                <a:latin typeface="Arial"/>
              </a:rPr>
              <a:t>a splittable gzip input codec for Spark/Hadoop, so one .gz file becomes many tasks.</a:t>
            </a:r>
          </a:p>
          <a:p>
            <a:pPr marL="164592" indent="-164592">
              <a:lnSpc>
                <a:spcPct val="108000"/>
              </a:lnSpc>
              <a:spcAft>
                <a:spcPts val="700"/>
              </a:spcAft>
              <a:buClr>
                <a:srgbClr val="4285F4"/>
              </a:buClr>
              <a:buFont typeface="Arial"/>
              <a:buChar char="•"/>
            </a:pPr>
            <a:r>
              <a:rPr sz="1000" b="1" i="0">
                <a:solidFill>
                  <a:srgbClr val="212121"/>
                </a:solidFill>
                <a:latin typeface="Arial"/>
              </a:rPr>
              <a:t>Status: </a:t>
            </a:r>
            <a:r>
              <a:rPr sz="1000" b="0" i="0">
                <a:solidFill>
                  <a:srgbClr val="595959"/>
                </a:solidFill>
                <a:latin typeface="Arial"/>
              </a:rPr>
              <a:t>not yet deployed; follows implementation and the correctness gate.</a:t>
            </a:r>
          </a:p>
        </p:txBody>
      </p:sp>
      <p:sp>
        <p:nvSpPr>
          <p:cNvPr id="83" name="Rounded Rectangle 82"/>
          <p:cNvSpPr/>
          <p:nvPr/>
        </p:nvSpPr>
        <p:spPr>
          <a:xfrm>
            <a:off x="4626864" y="2926080"/>
            <a:ext cx="4206240" cy="960120"/>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r>
              <a:rPr sz="950" b="1" i="0">
                <a:solidFill>
                  <a:srgbClr val="212121"/>
                </a:solidFill>
                <a:latin typeface="Arial"/>
              </a:rPr>
              <a:t>How stakeholders benefit</a:t>
            </a:r>
          </a:p>
          <a:p>
            <a:pPr algn="l"/>
            <a:r>
              <a:rPr sz="900" b="0" i="0">
                <a:solidFill>
                  <a:srgbClr val="595959"/>
                </a:solidFill>
                <a:latin typeface="Arial"/>
              </a:rPr>
              <a:t>Faster analytics, genomics re-analysis and CI on data that already exists, with no re-encoding and output guaranteed identical to zlib.</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h4201240a44ad152a_0_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800"/>
              <a:t>Conclusion</a:t>
            </a:r>
            <a:endParaRPr/>
          </a:p>
        </p:txBody>
      </p:sp>
      <p:sp>
        <p:nvSpPr>
          <p:cNvPr id="85" name="TextBox 84"/>
          <p:cNvSpPr txBox="1"/>
          <p:nvPr/>
        </p:nvSpPr>
        <p:spPr>
          <a:xfrm>
            <a:off x="310896" y="1143000"/>
            <a:ext cx="4754880" cy="3657600"/>
          </a:xfrm>
          <a:prstGeom prst="rect">
            <a:avLst/>
          </a:prstGeom>
          <a:noFill/>
        </p:spPr>
        <p:txBody>
          <a:bodyPr wrap="square" lIns="0" rIns="0" tIns="0" bIns="0">
            <a:spAutoFit/>
          </a:bodyPr>
          <a:lstStyle/>
          <a:p>
            <a:pPr marL="164592" indent="-164592">
              <a:lnSpc>
                <a:spcPct val="108000"/>
              </a:lnSpc>
              <a:spcAft>
                <a:spcPts val="900"/>
              </a:spcAft>
              <a:buClr>
                <a:srgbClr val="4285F4"/>
              </a:buClr>
              <a:buFont typeface="Arial"/>
              <a:buChar char="•"/>
            </a:pPr>
            <a:r>
              <a:rPr sz="1100" b="1" i="0">
                <a:solidFill>
                  <a:srgbClr val="212121"/>
                </a:solidFill>
                <a:latin typeface="Arial"/>
              </a:rPr>
              <a:t>The base paper leaves one step serial: </a:t>
            </a:r>
            <a:r>
              <a:rPr sz="1100" b="0" i="0">
                <a:solidFill>
                  <a:srgbClr val="595959"/>
                </a:solidFill>
                <a:latin typeface="Arial"/>
              </a:rPr>
              <a:t>propagating windows between chunks, to which it attributes its scaling limit.</a:t>
            </a:r>
          </a:p>
          <a:p>
            <a:pPr marL="164592" indent="-164592">
              <a:lnSpc>
                <a:spcPct val="108000"/>
              </a:lnSpc>
              <a:spcAft>
                <a:spcPts val="900"/>
              </a:spcAft>
              <a:buClr>
                <a:srgbClr val="4285F4"/>
              </a:buClr>
              <a:buFont typeface="Arial"/>
              <a:buChar char="•"/>
            </a:pPr>
            <a:r>
              <a:rPr sz="1100" b="1" i="0">
                <a:solidFill>
                  <a:srgbClr val="212121"/>
                </a:solidFill>
                <a:latin typeface="Arial"/>
              </a:rPr>
              <a:t>That step is a prefix computation </a:t>
            </a:r>
            <a:r>
              <a:rPr sz="1100" b="0" i="0">
                <a:solidFill>
                  <a:srgbClr val="595959"/>
                </a:solidFill>
                <a:latin typeface="Arial"/>
              </a:rPr>
              <a:t>over composable window maps, so a parallel scan resolves it in log2 N rounds.</a:t>
            </a:r>
          </a:p>
          <a:p>
            <a:pPr marL="164592" indent="-164592">
              <a:lnSpc>
                <a:spcPct val="108000"/>
              </a:lnSpc>
              <a:spcAft>
                <a:spcPts val="900"/>
              </a:spcAft>
              <a:buClr>
                <a:srgbClr val="4285F4"/>
              </a:buClr>
              <a:buFont typeface="Arial"/>
              <a:buChar char="•"/>
            </a:pPr>
            <a:r>
              <a:rPr sz="1100" b="1" i="0">
                <a:solidFill>
                  <a:srgbClr val="212121"/>
                </a:solidFill>
                <a:latin typeface="Arial"/>
              </a:rPr>
              <a:t>Confirmed exactly on Silesia </a:t>
            </a:r>
            <a:r>
              <a:rPr sz="1100" b="0" i="0">
                <a:solidFill>
                  <a:srgbClr val="595959"/>
                </a:solidFill>
                <a:latin typeface="Arial"/>
              </a:rPr>
              <a:t>at the base paper's chunk size; the chain grows 8× as chunks shrink to 512 KiB.</a:t>
            </a:r>
          </a:p>
          <a:p>
            <a:pPr marL="164592" indent="-164592">
              <a:lnSpc>
                <a:spcPct val="108000"/>
              </a:lnSpc>
              <a:spcAft>
                <a:spcPts val="900"/>
              </a:spcAft>
              <a:buClr>
                <a:srgbClr val="4285F4"/>
              </a:buClr>
              <a:buFont typeface="Arial"/>
              <a:buChar char="•"/>
            </a:pPr>
            <a:r>
              <a:rPr sz="1100" b="1" i="0">
                <a:solidFill>
                  <a:srgbClr val="212121"/>
                </a:solidFill>
                <a:latin typeface="Arial"/>
              </a:rPr>
              <a:t>Future scope: </a:t>
            </a:r>
            <a:r>
              <a:rPr sz="1100" b="0" i="0">
                <a:solidFill>
                  <a:srgbClr val="595959"/>
                </a:solidFill>
                <a:latin typeface="Arial"/>
              </a:rPr>
              <a:t>time the step inside rapidgzip, implement M3 and M1 in a fork, then a Spark input codec.</a:t>
            </a:r>
          </a:p>
        </p:txBody>
      </p:sp>
      <p:sp>
        <p:nvSpPr>
          <p:cNvPr id="86" name="TextBox 85"/>
          <p:cNvSpPr txBox="1"/>
          <p:nvPr/>
        </p:nvSpPr>
        <p:spPr>
          <a:xfrm>
            <a:off x="5440680" y="1143000"/>
            <a:ext cx="3392424" cy="219456"/>
          </a:xfrm>
          <a:prstGeom prst="rect">
            <a:avLst/>
          </a:prstGeom>
          <a:noFill/>
        </p:spPr>
        <p:txBody>
          <a:bodyPr wrap="square" lIns="0" rIns="0" tIns="0" bIns="0" anchor="t">
            <a:spAutoFit/>
          </a:bodyPr>
          <a:lstStyle/>
          <a:p>
            <a:pPr algn="l"/>
            <a:r>
              <a:rPr sz="1050" b="1" i="0">
                <a:solidFill>
                  <a:srgbClr val="4285F4"/>
                </a:solidFill>
                <a:latin typeface="Arial"/>
              </a:rPr>
              <a:t>Project status</a:t>
            </a:r>
          </a:p>
        </p:txBody>
      </p:sp>
      <p:sp>
        <p:nvSpPr>
          <p:cNvPr id="87" name="Rounded Rectangle 86"/>
          <p:cNvSpPr/>
          <p:nvPr/>
        </p:nvSpPr>
        <p:spPr>
          <a:xfrm>
            <a:off x="5440680" y="1463040"/>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Reference decoder + profiler</a:t>
            </a:r>
          </a:p>
        </p:txBody>
      </p:sp>
      <p:sp>
        <p:nvSpPr>
          <p:cNvPr id="88" name="Rounded Rectangle 87"/>
          <p:cNvSpPr/>
          <p:nvPr/>
        </p:nvSpPr>
        <p:spPr>
          <a:xfrm>
            <a:off x="5440680" y="2084832"/>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M3 prototype on Silesia</a:t>
            </a:r>
          </a:p>
        </p:txBody>
      </p:sp>
      <p:sp>
        <p:nvSpPr>
          <p:cNvPr id="89" name="Rounded Rectangle 88"/>
          <p:cNvSpPr/>
          <p:nvPr/>
        </p:nvSpPr>
        <p:spPr>
          <a:xfrm>
            <a:off x="5440680" y="2706624"/>
            <a:ext cx="3392424" cy="493776"/>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595959"/>
                </a:solidFill>
                <a:latin typeface="Arial"/>
              </a:rPr>
              <a:t>Next   Time rapidgzip's serial step</a:t>
            </a:r>
          </a:p>
        </p:txBody>
      </p:sp>
      <p:sp>
        <p:nvSpPr>
          <p:cNvPr id="90" name="Rounded Rectangle 89"/>
          <p:cNvSpPr/>
          <p:nvPr/>
        </p:nvSpPr>
        <p:spPr>
          <a:xfrm>
            <a:off x="5440680" y="3328416"/>
            <a:ext cx="3392424" cy="493776"/>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595959"/>
                </a:solidFill>
                <a:latin typeface="Arial"/>
              </a:rPr>
              <a:t>Next   M3 + M1 in rapidgzip fork</a:t>
            </a:r>
          </a:p>
        </p:txBody>
      </p:sp>
      <p:sp>
        <p:nvSpPr>
          <p:cNvPr id="91" name="Rounded Rectangle 90"/>
          <p:cNvSpPr/>
          <p:nvPr/>
        </p:nvSpPr>
        <p:spPr>
          <a:xfrm>
            <a:off x="5440680" y="3950208"/>
            <a:ext cx="3392424" cy="493776"/>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595959"/>
                </a:solidFill>
                <a:latin typeface="Arial"/>
              </a:rPr>
              <a:t>Next   Benchmark vs base paper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a:t>Results and Analysis (2/3): Parallel Window Resolution (M3)</a:t>
            </a:r>
          </a:p>
        </p:txBody>
      </p:sp>
      <p:graphicFrame>
        <p:nvGraphicFramePr>
          <p:cNvPr id="3" name="Chart 2"/>
          <p:cNvGraphicFramePr>
            <a:graphicFrameLocks noGrp="1"/>
          </p:cNvGraphicFramePr>
          <p:nvPr/>
        </p:nvGraphicFramePr>
        <p:xfrm>
          <a:off x="310896" y="1051560"/>
          <a:ext cx="4663440" cy="3017520"/>
        </p:xfrm>
        <a:graphic>
          <a:graphicData uri="http://schemas.openxmlformats.org/drawingml/2006/chart">
            <c:chart xmlns:c="http://schemas.openxmlformats.org/drawingml/2006/chart" r:id="rId2"/>
          </a:graphicData>
        </a:graphic>
      </p:graphicFrame>
      <p:sp>
        <p:nvSpPr>
          <p:cNvPr id="4" name="TextBox 3"/>
          <p:cNvSpPr txBox="1"/>
          <p:nvPr/>
        </p:nvSpPr>
        <p:spPr>
          <a:xfrm>
            <a:off x="310896" y="4114800"/>
            <a:ext cx="4663440" cy="365760"/>
          </a:xfrm>
          <a:prstGeom prst="rect">
            <a:avLst/>
          </a:prstGeom>
          <a:noFill/>
        </p:spPr>
        <p:txBody>
          <a:bodyPr wrap="square" lIns="0" rIns="0" tIns="0" bIns="0" anchor="t">
            <a:spAutoFit/>
          </a:bodyPr>
          <a:lstStyle/>
          <a:p>
            <a:pPr algn="l"/>
            <a:r>
              <a:rPr sz="800" b="0" i="1">
                <a:solidFill>
                  <a:srgbClr val="78909C"/>
                </a:solidFill>
                <a:latin typeface="Arial"/>
              </a:rPr>
              <a:t>Prototype on the Silesia tarball, chunks cut as in the base paper. Shows dependent steps (depth), not wall-clock time.</a:t>
            </a:r>
          </a:p>
        </p:txBody>
      </p:sp>
      <p:sp>
        <p:nvSpPr>
          <p:cNvPr id="5" name="TextBox 4"/>
          <p:cNvSpPr txBox="1"/>
          <p:nvPr/>
        </p:nvSpPr>
        <p:spPr>
          <a:xfrm>
            <a:off x="5212080" y="1097280"/>
            <a:ext cx="3621024" cy="3840480"/>
          </a:xfrm>
          <a:prstGeom prst="rect">
            <a:avLst/>
          </a:prstGeom>
          <a:noFill/>
        </p:spPr>
        <p:txBody>
          <a:bodyPr wrap="square" lIns="0" rIns="0" tIns="0" bIns="0">
            <a:spAutoFit/>
          </a:bodyPr>
          <a:lstStyle/>
          <a:p>
            <a:pPr marL="164592" indent="-164592">
              <a:lnSpc>
                <a:spcPct val="108000"/>
              </a:lnSpc>
              <a:spcAft>
                <a:spcPts val="500"/>
              </a:spcAft>
              <a:buClr>
                <a:srgbClr val="4285F4"/>
              </a:buClr>
              <a:buFont typeface="Arial"/>
              <a:buChar char="•"/>
            </a:pPr>
            <a:r>
              <a:rPr sz="950" b="1" i="0">
                <a:solidFill>
                  <a:srgbClr val="212121"/>
                </a:solidFill>
                <a:latin typeface="Arial"/>
              </a:rPr>
              <a:t>Exact at real scale: </a:t>
            </a:r>
            <a:r>
              <a:rPr sz="950" b="0" i="0">
                <a:solidFill>
                  <a:srgbClr val="595959"/>
                </a:solidFill>
                <a:latin typeface="Arial"/>
              </a:rPr>
              <a:t>scan windows equal the sequential chain; output is bit-identical to zlib at both chunk sizes.</a:t>
            </a:r>
          </a:p>
          <a:p>
            <a:pPr marL="164592" indent="-164592">
              <a:lnSpc>
                <a:spcPct val="108000"/>
              </a:lnSpc>
              <a:spcAft>
                <a:spcPts val="500"/>
              </a:spcAft>
              <a:buClr>
                <a:srgbClr val="4285F4"/>
              </a:buClr>
              <a:buFont typeface="Arial"/>
              <a:buChar char="•"/>
            </a:pPr>
            <a:r>
              <a:rPr sz="950" b="1" i="0">
                <a:solidFill>
                  <a:srgbClr val="212121"/>
                </a:solidFill>
                <a:latin typeface="Arial"/>
              </a:rPr>
              <a:t>Depth grows with log2 N: </a:t>
            </a:r>
            <a:r>
              <a:rPr sz="950" b="0" i="0">
                <a:solidFill>
                  <a:srgbClr val="595959"/>
                </a:solidFill>
                <a:latin typeface="Arial"/>
              </a:rPr>
              <a:t>5 rounds vs 16 steps at 4 MiB; 8 vs 130 at 512 KiB.</a:t>
            </a:r>
          </a:p>
          <a:p>
            <a:pPr marL="164592" indent="-164592">
              <a:lnSpc>
                <a:spcPct val="108000"/>
              </a:lnSpc>
              <a:spcAft>
                <a:spcPts val="500"/>
              </a:spcAft>
              <a:buClr>
                <a:srgbClr val="4285F4"/>
              </a:buClr>
              <a:buFont typeface="Arial"/>
              <a:buChar char="•"/>
            </a:pPr>
            <a:r>
              <a:rPr sz="950" b="1" i="0">
                <a:solidFill>
                  <a:srgbClr val="212121"/>
                </a:solidFill>
                <a:latin typeface="Arial"/>
              </a:rPr>
              <a:t>Smaller chunks lengthen the chain: </a:t>
            </a:r>
            <a:r>
              <a:rPr sz="950" b="0" i="0">
                <a:solidFill>
                  <a:srgbClr val="595959"/>
                </a:solidFill>
                <a:latin typeface="Arial"/>
              </a:rPr>
              <a:t>windows still unresolved 19% → 68%; serial share 0.25% → 2.0% of resolution work.</a:t>
            </a:r>
          </a:p>
          <a:p>
            <a:pPr marL="164592" indent="-164592">
              <a:lnSpc>
                <a:spcPct val="108000"/>
              </a:lnSpc>
              <a:spcAft>
                <a:spcPts val="500"/>
              </a:spcAft>
              <a:buClr>
                <a:srgbClr val="4285F4"/>
              </a:buClr>
              <a:buFont typeface="Arial"/>
              <a:buChar char="•"/>
            </a:pPr>
            <a:r>
              <a:rPr sz="950" b="1" i="0">
                <a:solidFill>
                  <a:srgbClr val="212121"/>
                </a:solidFill>
                <a:latin typeface="Arial"/>
              </a:rPr>
              <a:t>Small in absolute terms: </a:t>
            </a:r>
            <a:r>
              <a:rPr sz="950" b="0" i="0">
                <a:solidFill>
                  <a:srgbClr val="595959"/>
                </a:solidFill>
                <a:latin typeface="Arial"/>
              </a:rPr>
              <a:t>about 0.2% of total work at 512 KiB, so its real cost inside rapidgzip is measured first.</a:t>
            </a:r>
          </a:p>
          <a:p>
            <a:pPr marL="164592" indent="-164592">
              <a:lnSpc>
                <a:spcPct val="108000"/>
              </a:lnSpc>
              <a:spcAft>
                <a:spcPts val="500"/>
              </a:spcAft>
              <a:buClr>
                <a:srgbClr val="4285F4"/>
              </a:buClr>
              <a:buFont typeface="Arial"/>
              <a:buChar char="•"/>
            </a:pPr>
            <a:r>
              <a:rPr sz="950" b="1" i="0">
                <a:solidFill>
                  <a:srgbClr val="212121"/>
                </a:solidFill>
                <a:latin typeface="Arial"/>
              </a:rPr>
              <a:t>Supporting: </a:t>
            </a:r>
            <a:r>
              <a:rPr sz="950" b="0" i="0">
                <a:solidFill>
                  <a:srgbClr val="595959"/>
                </a:solidFill>
                <a:latin typeface="Arial"/>
              </a:rPr>
              <a:t>16-bit share of each chunk 39% → 78% (M2); M1 oracle λ 1.00 vs 1.16, 8 workers.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a:t>Results and Analysis (3/3): Comparison with State of the Art</a:t>
            </a:r>
          </a:p>
        </p:txBody>
      </p:sp>
      <p:graphicFrame>
        <p:nvGraphicFramePr>
          <p:cNvPr id="3" name="Table 2"/>
          <p:cNvGraphicFramePr>
            <a:graphicFrameLocks noGrp="1"/>
          </p:cNvGraphicFramePr>
          <p:nvPr/>
        </p:nvGraphicFramePr>
        <p:xfrm>
          <a:off x="310896" y="1115568"/>
          <a:ext cx="8522208" cy="1865376"/>
        </p:xfrm>
        <a:graphic>
          <a:graphicData uri="http://schemas.openxmlformats.org/drawingml/2006/table">
            <a:tbl>
              <a:tblPr firstRow="1"/>
              <a:tblGrid>
                <a:gridCol w="1234440"/>
                <a:gridCol w="868680"/>
                <a:gridCol w="1005840"/>
                <a:gridCol w="1280160"/>
                <a:gridCol w="1234440"/>
                <a:gridCol w="1371600"/>
                <a:gridCol w="1527048"/>
              </a:tblGrid>
              <a:tr h="310896">
                <a:tc>
                  <a:txBody>
                    <a:bodyPr wrap="square"/>
                    <a:lstStyle/>
                    <a:p>
                      <a:pPr algn="l"/>
                      <a:r>
                        <a:rPr sz="850" b="1" i="0">
                          <a:solidFill>
                            <a:srgbClr val="FFFFFF"/>
                          </a:solidFill>
                          <a:latin typeface="Arial"/>
                        </a:rPr>
                        <a:t>System</a:t>
                      </a:r>
                    </a:p>
                  </a:txBody>
                  <a:tcPr marL="54864" marR="54864" marT="18288" marB="18288" anchor="ctr">
                    <a:solidFill>
                      <a:srgbClr val="4285F4"/>
                    </a:solidFill>
                  </a:tcPr>
                </a:tc>
                <a:tc>
                  <a:txBody>
                    <a:bodyPr wrap="square"/>
                    <a:lstStyle/>
                    <a:p>
                      <a:pPr algn="l"/>
                      <a:r>
                        <a:rPr sz="850" b="1" i="0">
                          <a:solidFill>
                            <a:srgbClr val="FFFFFF"/>
                          </a:solidFill>
                          <a:latin typeface="Arial"/>
                        </a:rPr>
                        <a:t>Parallel</a:t>
                      </a:r>
                    </a:p>
                  </a:txBody>
                  <a:tcPr marL="54864" marR="54864" marT="18288" marB="18288" anchor="ctr">
                    <a:solidFill>
                      <a:srgbClr val="4285F4"/>
                    </a:solidFill>
                  </a:tcPr>
                </a:tc>
                <a:tc>
                  <a:txBody>
                    <a:bodyPr wrap="square"/>
                    <a:lstStyle/>
                    <a:p>
                      <a:pPr algn="l"/>
                      <a:r>
                        <a:rPr sz="850" b="1" i="0">
                          <a:solidFill>
                            <a:srgbClr val="FFFFFF"/>
                          </a:solidFill>
                          <a:latin typeface="Arial"/>
                        </a:rPr>
                        <a:t>Unmodified .gz</a:t>
                      </a:r>
                    </a:p>
                  </a:txBody>
                  <a:tcPr marL="54864" marR="54864" marT="18288" marB="18288" anchor="ctr">
                    <a:solidFill>
                      <a:srgbClr val="4285F4"/>
                    </a:solidFill>
                  </a:tcPr>
                </a:tc>
                <a:tc>
                  <a:txBody>
                    <a:bodyPr wrap="square"/>
                    <a:lstStyle/>
                    <a:p>
                      <a:pPr algn="r"/>
                      <a:r>
                        <a:rPr sz="850" b="1" i="0">
                          <a:solidFill>
                            <a:srgbClr val="FFFFFF"/>
                          </a:solidFill>
                          <a:latin typeface="Arial"/>
                        </a:rPr>
                        <a:t>Throughput (MB/s)</a:t>
                      </a:r>
                    </a:p>
                  </a:txBody>
                  <a:tcPr marL="54864" marR="54864" marT="18288" marB="18288" anchor="ctr">
                    <a:solidFill>
                      <a:srgbClr val="4285F4"/>
                    </a:solidFill>
                  </a:tcPr>
                </a:tc>
                <a:tc>
                  <a:txBody>
                    <a:bodyPr wrap="square"/>
                    <a:lstStyle/>
                    <a:p>
                      <a:pPr algn="r"/>
                      <a:r>
                        <a:rPr sz="850" b="1" i="0">
                          <a:solidFill>
                            <a:srgbClr val="FFFFFF"/>
                          </a:solidFill>
                          <a:latin typeface="Arial"/>
                        </a:rPr>
                        <a:t>Speedup, P = 16</a:t>
                      </a:r>
                    </a:p>
                  </a:txBody>
                  <a:tcPr marL="54864" marR="54864" marT="18288" marB="18288" anchor="ctr">
                    <a:solidFill>
                      <a:srgbClr val="4285F4"/>
                    </a:solidFill>
                  </a:tcPr>
                </a:tc>
                <a:tc>
                  <a:txBody>
                    <a:bodyPr wrap="square"/>
                    <a:lstStyle/>
                    <a:p>
                      <a:pPr algn="r"/>
                      <a:r>
                        <a:rPr sz="850" b="1" i="0">
                          <a:solidFill>
                            <a:srgbClr val="FFFFFF"/>
                          </a:solidFill>
                          <a:latin typeface="Arial"/>
                        </a:rPr>
                        <a:t>Window depth</a:t>
                      </a:r>
                    </a:p>
                  </a:txBody>
                  <a:tcPr marL="54864" marR="54864" marT="18288" marB="18288" anchor="ctr">
                    <a:solidFill>
                      <a:srgbClr val="4285F4"/>
                    </a:solidFill>
                  </a:tcPr>
                </a:tc>
                <a:tc>
                  <a:txBody>
                    <a:bodyPr wrap="square"/>
                    <a:lstStyle/>
                    <a:p>
                      <a:pPr algn="r"/>
                      <a:r>
                        <a:rPr sz="850" b="1" i="0">
                          <a:solidFill>
                            <a:srgbClr val="FFFFFF"/>
                          </a:solidFill>
                          <a:latin typeface="Arial"/>
                        </a:rPr>
                        <a:t>Peak memory ÷ output</a:t>
                      </a:r>
                    </a:p>
                  </a:txBody>
                  <a:tcPr marL="54864" marR="54864" marT="18288" marB="18288" anchor="ctr">
                    <a:solidFill>
                      <a:srgbClr val="4285F4"/>
                    </a:solidFill>
                  </a:tcPr>
                </a:tc>
              </a:tr>
              <a:tr h="310896">
                <a:tc>
                  <a:txBody>
                    <a:bodyPr wrap="square"/>
                    <a:lstStyle/>
                    <a:p>
                      <a:pPr algn="l"/>
                      <a:r>
                        <a:rPr sz="850" b="0" i="0">
                          <a:solidFill>
                            <a:srgbClr val="595959"/>
                          </a:solidFill>
                          <a:latin typeface="Arial"/>
                        </a:rPr>
                        <a:t>zlib</a:t>
                      </a:r>
                    </a:p>
                  </a:txBody>
                  <a:tcPr marL="54864" marR="54864" marT="18288" marB="18288" anchor="ctr">
                    <a:solidFill>
                      <a:srgbClr val="FFFFFF"/>
                    </a:solidFill>
                  </a:tcPr>
                </a:tc>
                <a:tc>
                  <a:txBody>
                    <a:bodyPr wrap="square"/>
                    <a:lstStyle/>
                    <a:p>
                      <a:pPr algn="l"/>
                      <a:r>
                        <a:rPr sz="850" b="0" i="0">
                          <a:solidFill>
                            <a:srgbClr val="595959"/>
                          </a:solidFill>
                          <a:latin typeface="Arial"/>
                        </a:rPr>
                        <a:t>No</a:t>
                      </a:r>
                    </a:p>
                  </a:txBody>
                  <a:tcPr marL="54864" marR="54864" marT="18288" marB="18288" anchor="ctr">
                    <a:solidFill>
                      <a:srgbClr val="FFFFFF"/>
                    </a:solidFill>
                  </a:tcPr>
                </a:tc>
                <a:tc>
                  <a:txBody>
                    <a:bodyPr wrap="square"/>
                    <a:lstStyle/>
                    <a:p>
                      <a:pPr algn="l"/>
                      <a:r>
                        <a:rPr sz="850" b="0" i="0">
                          <a:solidFill>
                            <a:srgbClr val="595959"/>
                          </a:solidFill>
                          <a:latin typeface="Arial"/>
                        </a:rPr>
                        <a:t>Yes</a:t>
                      </a:r>
                    </a:p>
                  </a:txBody>
                  <a:tcPr marL="54864" marR="54864" marT="18288" marB="18288" anchor="ctr">
                    <a:solidFill>
                      <a:srgbClr val="FFFFFF"/>
                    </a:solidFill>
                  </a:tcPr>
                </a:tc>
                <a:tc>
                  <a:txBody>
                    <a:bodyPr wrap="square"/>
                    <a:lstStyle/>
                    <a:p>
                      <a:pPr algn="r"/>
                      <a:r>
                        <a:rPr sz="850" b="1" i="0">
                          <a:solidFill>
                            <a:srgbClr val="B06000"/>
                          </a:solidFill>
                          <a:latin typeface="Arial"/>
                        </a:rPr>
                        <a:t>To measure</a:t>
                      </a:r>
                    </a:p>
                  </a:txBody>
                  <a:tcPr marL="54864" marR="54864" marT="18288" marB="18288" anchor="ctr">
                    <a:solidFill>
                      <a:srgbClr val="FFF4E5"/>
                    </a:solidFill>
                  </a:tcPr>
                </a:tc>
                <a:tc>
                  <a:txBody>
                    <a:bodyPr wrap="square"/>
                    <a:lstStyle/>
                    <a:p>
                      <a:pPr algn="r"/>
                      <a:r>
                        <a:rPr sz="850" b="0" i="0">
                          <a:solidFill>
                            <a:srgbClr val="595959"/>
                          </a:solidFill>
                          <a:latin typeface="Arial"/>
                        </a:rPr>
                        <a:t>1.0 (reference)</a:t>
                      </a:r>
                    </a:p>
                  </a:txBody>
                  <a:tcPr marL="54864" marR="54864" marT="18288" marB="18288" anchor="ctr">
                    <a:solidFill>
                      <a:srgbClr val="FFFFFF"/>
                    </a:solidFill>
                  </a:tcPr>
                </a:tc>
                <a:tc>
                  <a:txBody>
                    <a:bodyPr wrap="square"/>
                    <a:lstStyle/>
                    <a:p>
                      <a:pPr algn="r"/>
                      <a:r>
                        <a:rPr sz="850" b="0" i="0">
                          <a:solidFill>
                            <a:srgbClr val="595959"/>
                          </a:solidFill>
                          <a:latin typeface="Arial"/>
                        </a:rPr>
                        <a:t>—</a:t>
                      </a:r>
                    </a:p>
                  </a:txBody>
                  <a:tcPr marL="54864" marR="54864" marT="18288" marB="18288" anchor="ctr">
                    <a:solidFill>
                      <a:srgbClr val="FFFFFF"/>
                    </a:solidFill>
                  </a:tcPr>
                </a:tc>
                <a:tc>
                  <a:txBody>
                    <a:bodyPr wrap="square"/>
                    <a:lstStyle/>
                    <a:p>
                      <a:pPr algn="r"/>
                      <a:r>
                        <a:rPr sz="850" b="0" i="0">
                          <a:solidFill>
                            <a:srgbClr val="595959"/>
                          </a:solidFill>
                          <a:latin typeface="Arial"/>
                        </a:rPr>
                        <a:t>~1×</a:t>
                      </a:r>
                    </a:p>
                  </a:txBody>
                  <a:tcPr marL="54864" marR="54864" marT="18288" marB="18288" anchor="ctr">
                    <a:solidFill>
                      <a:srgbClr val="FFFFFF"/>
                    </a:solidFill>
                  </a:tcPr>
                </a:tc>
              </a:tr>
              <a:tr h="310896">
                <a:tc>
                  <a:txBody>
                    <a:bodyPr wrap="square"/>
                    <a:lstStyle/>
                    <a:p>
                      <a:pPr algn="l"/>
                      <a:r>
                        <a:rPr sz="850" b="0" i="0">
                          <a:solidFill>
                            <a:srgbClr val="595959"/>
                          </a:solidFill>
                          <a:latin typeface="Arial"/>
                        </a:rPr>
                        <a:t>igzip</a:t>
                      </a:r>
                    </a:p>
                  </a:txBody>
                  <a:tcPr marL="54864" marR="54864" marT="18288" marB="18288" anchor="ctr">
                    <a:solidFill>
                      <a:srgbClr val="F1F3F4"/>
                    </a:solidFill>
                  </a:tcPr>
                </a:tc>
                <a:tc>
                  <a:txBody>
                    <a:bodyPr wrap="square"/>
                    <a:lstStyle/>
                    <a:p>
                      <a:pPr algn="l"/>
                      <a:r>
                        <a:rPr sz="850" b="0" i="0">
                          <a:solidFill>
                            <a:srgbClr val="595959"/>
                          </a:solidFill>
                          <a:latin typeface="Arial"/>
                        </a:rPr>
                        <a:t>No</a:t>
                      </a:r>
                    </a:p>
                  </a:txBody>
                  <a:tcPr marL="54864" marR="54864" marT="18288" marB="18288" anchor="ctr">
                    <a:solidFill>
                      <a:srgbClr val="F1F3F4"/>
                    </a:solidFill>
                  </a:tcPr>
                </a:tc>
                <a:tc>
                  <a:txBody>
                    <a:bodyPr wrap="square"/>
                    <a:lstStyle/>
                    <a:p>
                      <a:pPr algn="l"/>
                      <a:r>
                        <a:rPr sz="850" b="0" i="0">
                          <a:solidFill>
                            <a:srgbClr val="595959"/>
                          </a:solidFill>
                          <a:latin typeface="Arial"/>
                        </a:rPr>
                        <a:t>Yes</a:t>
                      </a:r>
                    </a:p>
                  </a:txBody>
                  <a:tcPr marL="54864" marR="54864" marT="18288" marB="18288" anchor="ctr">
                    <a:solidFill>
                      <a:srgbClr val="F1F3F4"/>
                    </a:solidFill>
                  </a:tcPr>
                </a:tc>
                <a:tc>
                  <a:txBody>
                    <a:bodyPr wrap="square"/>
                    <a:lstStyle/>
                    <a:p>
                      <a:pPr algn="r"/>
                      <a:r>
                        <a:rPr sz="850" b="1" i="0">
                          <a:solidFill>
                            <a:srgbClr val="B06000"/>
                          </a:solidFill>
                          <a:latin typeface="Arial"/>
                        </a:rPr>
                        <a:t>To measure</a:t>
                      </a:r>
                    </a:p>
                  </a:txBody>
                  <a:tcPr marL="54864" marR="54864" marT="18288" marB="18288" anchor="ctr">
                    <a:solidFill>
                      <a:srgbClr val="FFF4E5"/>
                    </a:solidFill>
                  </a:tcPr>
                </a:tc>
                <a:tc>
                  <a:txBody>
                    <a:bodyPr wrap="square"/>
                    <a:lstStyle/>
                    <a:p>
                      <a:pPr algn="r"/>
                      <a:r>
                        <a:rPr sz="850" b="1" i="0">
                          <a:solidFill>
                            <a:srgbClr val="B06000"/>
                          </a:solidFill>
                          <a:latin typeface="Arial"/>
                        </a:rPr>
                        <a:t>To measure</a:t>
                      </a:r>
                    </a:p>
                  </a:txBody>
                  <a:tcPr marL="54864" marR="54864" marT="18288" marB="18288" anchor="ctr">
                    <a:solidFill>
                      <a:srgbClr val="FFF4E5"/>
                    </a:solidFill>
                  </a:tcPr>
                </a:tc>
                <a:tc>
                  <a:txBody>
                    <a:bodyPr wrap="square"/>
                    <a:lstStyle/>
                    <a:p>
                      <a:pPr algn="r"/>
                      <a:r>
                        <a:rPr sz="850" b="0" i="0">
                          <a:solidFill>
                            <a:srgbClr val="595959"/>
                          </a:solidFill>
                          <a:latin typeface="Arial"/>
                        </a:rPr>
                        <a:t>—</a:t>
                      </a:r>
                    </a:p>
                  </a:txBody>
                  <a:tcPr marL="54864" marR="54864" marT="18288" marB="18288" anchor="ctr">
                    <a:solidFill>
                      <a:srgbClr val="F1F3F4"/>
                    </a:solidFill>
                  </a:tcPr>
                </a:tc>
                <a:tc>
                  <a:txBody>
                    <a:bodyPr wrap="square"/>
                    <a:lstStyle/>
                    <a:p>
                      <a:pPr algn="r"/>
                      <a:r>
                        <a:rPr sz="850" b="0" i="0">
                          <a:solidFill>
                            <a:srgbClr val="595959"/>
                          </a:solidFill>
                          <a:latin typeface="Arial"/>
                        </a:rPr>
                        <a:t>~1×</a:t>
                      </a:r>
                    </a:p>
                  </a:txBody>
                  <a:tcPr marL="54864" marR="54864" marT="18288" marB="18288" anchor="ctr">
                    <a:solidFill>
                      <a:srgbClr val="F1F3F4"/>
                    </a:solidFill>
                  </a:tcPr>
                </a:tc>
              </a:tr>
              <a:tr h="310896">
                <a:tc>
                  <a:txBody>
                    <a:bodyPr wrap="square"/>
                    <a:lstStyle/>
                    <a:p>
                      <a:pPr algn="l"/>
                      <a:r>
                        <a:rPr sz="850" b="0" i="0">
                          <a:solidFill>
                            <a:srgbClr val="595959"/>
                          </a:solidFill>
                          <a:latin typeface="Arial"/>
                        </a:rPr>
                        <a:t>pigz</a:t>
                      </a:r>
                    </a:p>
                  </a:txBody>
                  <a:tcPr marL="54864" marR="54864" marT="18288" marB="18288" anchor="ctr">
                    <a:solidFill>
                      <a:srgbClr val="FFFFFF"/>
                    </a:solidFill>
                  </a:tcPr>
                </a:tc>
                <a:tc>
                  <a:txBody>
                    <a:bodyPr wrap="square"/>
                    <a:lstStyle/>
                    <a:p>
                      <a:pPr algn="l"/>
                      <a:r>
                        <a:rPr sz="850" b="0" i="0">
                          <a:solidFill>
                            <a:srgbClr val="595959"/>
                          </a:solidFill>
                          <a:latin typeface="Arial"/>
                        </a:rPr>
                        <a:t>Decode: no</a:t>
                      </a:r>
                    </a:p>
                  </a:txBody>
                  <a:tcPr marL="54864" marR="54864" marT="18288" marB="18288" anchor="ctr">
                    <a:solidFill>
                      <a:srgbClr val="FFFFFF"/>
                    </a:solidFill>
                  </a:tcPr>
                </a:tc>
                <a:tc>
                  <a:txBody>
                    <a:bodyPr wrap="square"/>
                    <a:lstStyle/>
                    <a:p>
                      <a:pPr algn="l"/>
                      <a:r>
                        <a:rPr sz="850" b="0" i="0">
                          <a:solidFill>
                            <a:srgbClr val="595959"/>
                          </a:solidFill>
                          <a:latin typeface="Arial"/>
                        </a:rPr>
                        <a:t>Yes</a:t>
                      </a:r>
                    </a:p>
                  </a:txBody>
                  <a:tcPr marL="54864" marR="54864" marT="18288" marB="18288" anchor="ctr">
                    <a:solidFill>
                      <a:srgbClr val="FFFFFF"/>
                    </a:solidFill>
                  </a:tcPr>
                </a:tc>
                <a:tc>
                  <a:txBody>
                    <a:bodyPr wrap="square"/>
                    <a:lstStyle/>
                    <a:p>
                      <a:pPr algn="r"/>
                      <a:r>
                        <a:rPr sz="850" b="1" i="0">
                          <a:solidFill>
                            <a:srgbClr val="B06000"/>
                          </a:solidFill>
                          <a:latin typeface="Arial"/>
                        </a:rPr>
                        <a:t>To measure</a:t>
                      </a:r>
                    </a:p>
                  </a:txBody>
                  <a:tcPr marL="54864" marR="54864" marT="18288" marB="18288" anchor="ctr">
                    <a:solidFill>
                      <a:srgbClr val="FFF4E5"/>
                    </a:solidFill>
                  </a:tcPr>
                </a:tc>
                <a:tc>
                  <a:txBody>
                    <a:bodyPr wrap="square"/>
                    <a:lstStyle/>
                    <a:p>
                      <a:pPr algn="r"/>
                      <a:r>
                        <a:rPr sz="850" b="1" i="0">
                          <a:solidFill>
                            <a:srgbClr val="B06000"/>
                          </a:solidFill>
                          <a:latin typeface="Arial"/>
                        </a:rPr>
                        <a:t>To measure</a:t>
                      </a:r>
                    </a:p>
                  </a:txBody>
                  <a:tcPr marL="54864" marR="54864" marT="18288" marB="18288" anchor="ctr">
                    <a:solidFill>
                      <a:srgbClr val="FFF4E5"/>
                    </a:solidFill>
                  </a:tcPr>
                </a:tc>
                <a:tc>
                  <a:txBody>
                    <a:bodyPr wrap="square"/>
                    <a:lstStyle/>
                    <a:p>
                      <a:pPr algn="r"/>
                      <a:r>
                        <a:rPr sz="850" b="0" i="0">
                          <a:solidFill>
                            <a:srgbClr val="595959"/>
                          </a:solidFill>
                          <a:latin typeface="Arial"/>
                        </a:rPr>
                        <a:t>—</a:t>
                      </a:r>
                    </a:p>
                  </a:txBody>
                  <a:tcPr marL="54864" marR="54864" marT="18288" marB="18288" anchor="ctr">
                    <a:solidFill>
                      <a:srgbClr val="FFFFFF"/>
                    </a:solidFill>
                  </a:tcPr>
                </a:tc>
                <a:tc>
                  <a:txBody>
                    <a:bodyPr wrap="square"/>
                    <a:lstStyle/>
                    <a:p>
                      <a:pPr algn="r"/>
                      <a:r>
                        <a:rPr sz="850" b="0" i="0">
                          <a:solidFill>
                            <a:srgbClr val="595959"/>
                          </a:solidFill>
                          <a:latin typeface="Arial"/>
                        </a:rPr>
                        <a:t>~1×</a:t>
                      </a:r>
                    </a:p>
                  </a:txBody>
                  <a:tcPr marL="54864" marR="54864" marT="18288" marB="18288" anchor="ctr">
                    <a:solidFill>
                      <a:srgbClr val="FFFFFF"/>
                    </a:solidFill>
                  </a:tcPr>
                </a:tc>
              </a:tr>
              <a:tr h="310896">
                <a:tc>
                  <a:txBody>
                    <a:bodyPr wrap="square"/>
                    <a:lstStyle/>
                    <a:p>
                      <a:pPr algn="l"/>
                      <a:r>
                        <a:rPr sz="850" b="0" i="0">
                          <a:solidFill>
                            <a:srgbClr val="595959"/>
                          </a:solidFill>
                          <a:latin typeface="Arial"/>
                        </a:rPr>
                        <a:t>rapidgzip (base)</a:t>
                      </a:r>
                    </a:p>
                  </a:txBody>
                  <a:tcPr marL="54864" marR="54864" marT="18288" marB="18288" anchor="ctr">
                    <a:solidFill>
                      <a:srgbClr val="F1F3F4"/>
                    </a:solidFill>
                  </a:tcPr>
                </a:tc>
                <a:tc>
                  <a:txBody>
                    <a:bodyPr wrap="square"/>
                    <a:lstStyle/>
                    <a:p>
                      <a:pPr algn="l"/>
                      <a:r>
                        <a:rPr sz="850" b="0" i="0">
                          <a:solidFill>
                            <a:srgbClr val="595959"/>
                          </a:solidFill>
                          <a:latin typeface="Arial"/>
                        </a:rPr>
                        <a:t>Yes</a:t>
                      </a:r>
                    </a:p>
                  </a:txBody>
                  <a:tcPr marL="54864" marR="54864" marT="18288" marB="18288" anchor="ctr">
                    <a:solidFill>
                      <a:srgbClr val="F1F3F4"/>
                    </a:solidFill>
                  </a:tcPr>
                </a:tc>
                <a:tc>
                  <a:txBody>
                    <a:bodyPr wrap="square"/>
                    <a:lstStyle/>
                    <a:p>
                      <a:pPr algn="l"/>
                      <a:r>
                        <a:rPr sz="850" b="0" i="0">
                          <a:solidFill>
                            <a:srgbClr val="595959"/>
                          </a:solidFill>
                          <a:latin typeface="Arial"/>
                        </a:rPr>
                        <a:t>Yes</a:t>
                      </a:r>
                    </a:p>
                  </a:txBody>
                  <a:tcPr marL="54864" marR="54864" marT="18288" marB="18288" anchor="ctr">
                    <a:solidFill>
                      <a:srgbClr val="F1F3F4"/>
                    </a:solidFill>
                  </a:tcPr>
                </a:tc>
                <a:tc>
                  <a:txBody>
                    <a:bodyPr wrap="square"/>
                    <a:lstStyle/>
                    <a:p>
                      <a:pPr algn="r"/>
                      <a:r>
                        <a:rPr sz="850" b="1" i="0">
                          <a:solidFill>
                            <a:srgbClr val="B06000"/>
                          </a:solidFill>
                          <a:latin typeface="Arial"/>
                        </a:rPr>
                        <a:t>To measure</a:t>
                      </a:r>
                    </a:p>
                  </a:txBody>
                  <a:tcPr marL="54864" marR="54864" marT="18288" marB="18288" anchor="ctr">
                    <a:solidFill>
                      <a:srgbClr val="FFF4E5"/>
                    </a:solidFill>
                  </a:tcPr>
                </a:tc>
                <a:tc>
                  <a:txBody>
                    <a:bodyPr wrap="square"/>
                    <a:lstStyle/>
                    <a:p>
                      <a:pPr algn="r"/>
                      <a:r>
                        <a:rPr sz="850" b="1" i="0">
                          <a:solidFill>
                            <a:srgbClr val="B06000"/>
                          </a:solidFill>
                          <a:latin typeface="Arial"/>
                        </a:rPr>
                        <a:t>To measure</a:t>
                      </a:r>
                    </a:p>
                  </a:txBody>
                  <a:tcPr marL="54864" marR="54864" marT="18288" marB="18288" anchor="ctr">
                    <a:solidFill>
                      <a:srgbClr val="FFF4E5"/>
                    </a:solidFill>
                  </a:tcPr>
                </a:tc>
                <a:tc>
                  <a:txBody>
                    <a:bodyPr wrap="square"/>
                    <a:lstStyle/>
                    <a:p>
                      <a:pPr algn="r"/>
                      <a:r>
                        <a:rPr sz="850" b="0" i="0">
                          <a:solidFill>
                            <a:srgbClr val="595959"/>
                          </a:solidFill>
                          <a:latin typeface="Arial"/>
                        </a:rPr>
                        <a:t>N − 1, serial</a:t>
                      </a:r>
                    </a:p>
                  </a:txBody>
                  <a:tcPr marL="54864" marR="54864" marT="18288" marB="18288" anchor="ctr">
                    <a:solidFill>
                      <a:srgbClr val="F1F3F4"/>
                    </a:solidFill>
                  </a:tcPr>
                </a:tc>
                <a:tc>
                  <a:txBody>
                    <a:bodyPr wrap="square"/>
                    <a:lstStyle/>
                    <a:p>
                      <a:pPr algn="r"/>
                      <a:r>
                        <a:rPr sz="850" b="1" i="0">
                          <a:solidFill>
                            <a:srgbClr val="B06000"/>
                          </a:solidFill>
                          <a:latin typeface="Arial"/>
                        </a:rPr>
                        <a:t>To measure</a:t>
                      </a:r>
                    </a:p>
                  </a:txBody>
                  <a:tcPr marL="54864" marR="54864" marT="18288" marB="18288" anchor="ctr">
                    <a:solidFill>
                      <a:srgbClr val="FFF4E5"/>
                    </a:solidFill>
                  </a:tcPr>
                </a:tc>
              </a:tr>
              <a:tr h="310896">
                <a:tc>
                  <a:txBody>
                    <a:bodyPr wrap="square"/>
                    <a:lstStyle/>
                    <a:p>
                      <a:pPr algn="l"/>
                      <a:r>
                        <a:rPr sz="850" b="1" i="0">
                          <a:solidFill>
                            <a:srgbClr val="212121"/>
                          </a:solidFill>
                          <a:latin typeface="Arial"/>
                        </a:rPr>
                        <a:t>Riptide</a:t>
                      </a:r>
                    </a:p>
                  </a:txBody>
                  <a:tcPr marL="54864" marR="54864" marT="18288" marB="18288" anchor="ctr">
                    <a:solidFill>
                      <a:srgbClr val="E8F0FE"/>
                    </a:solidFill>
                  </a:tcPr>
                </a:tc>
                <a:tc>
                  <a:txBody>
                    <a:bodyPr wrap="square"/>
                    <a:lstStyle/>
                    <a:p>
                      <a:pPr algn="l"/>
                      <a:r>
                        <a:rPr sz="850" b="1" i="0">
                          <a:solidFill>
                            <a:srgbClr val="212121"/>
                          </a:solidFill>
                          <a:latin typeface="Arial"/>
                        </a:rPr>
                        <a:t>Yes</a:t>
                      </a:r>
                    </a:p>
                  </a:txBody>
                  <a:tcPr marL="54864" marR="54864" marT="18288" marB="18288" anchor="ctr">
                    <a:solidFill>
                      <a:srgbClr val="E8F0FE"/>
                    </a:solidFill>
                  </a:tcPr>
                </a:tc>
                <a:tc>
                  <a:txBody>
                    <a:bodyPr wrap="square"/>
                    <a:lstStyle/>
                    <a:p>
                      <a:pPr algn="l"/>
                      <a:r>
                        <a:rPr sz="850" b="1" i="0">
                          <a:solidFill>
                            <a:srgbClr val="212121"/>
                          </a:solidFill>
                          <a:latin typeface="Arial"/>
                        </a:rPr>
                        <a:t>Yes</a:t>
                      </a:r>
                    </a:p>
                  </a:txBody>
                  <a:tcPr marL="54864" marR="54864" marT="18288" marB="18288" anchor="ctr">
                    <a:solidFill>
                      <a:srgbClr val="E8F0FE"/>
                    </a:solidFill>
                  </a:tcPr>
                </a:tc>
                <a:tc>
                  <a:txBody>
                    <a:bodyPr wrap="square"/>
                    <a:lstStyle/>
                    <a:p>
                      <a:pPr algn="r"/>
                      <a:r>
                        <a:rPr sz="850" b="1" i="0">
                          <a:solidFill>
                            <a:srgbClr val="B06000"/>
                          </a:solidFill>
                          <a:latin typeface="Arial"/>
                        </a:rPr>
                        <a:t>To measure</a:t>
                      </a:r>
                    </a:p>
                  </a:txBody>
                  <a:tcPr marL="54864" marR="54864" marT="18288" marB="18288" anchor="ctr">
                    <a:solidFill>
                      <a:srgbClr val="FFF4E5"/>
                    </a:solidFill>
                  </a:tcPr>
                </a:tc>
                <a:tc>
                  <a:txBody>
                    <a:bodyPr wrap="square"/>
                    <a:lstStyle/>
                    <a:p>
                      <a:pPr algn="r"/>
                      <a:r>
                        <a:rPr sz="850" b="1" i="0">
                          <a:solidFill>
                            <a:srgbClr val="B06000"/>
                          </a:solidFill>
                          <a:latin typeface="Arial"/>
                        </a:rPr>
                        <a:t>To measure</a:t>
                      </a:r>
                    </a:p>
                  </a:txBody>
                  <a:tcPr marL="54864" marR="54864" marT="18288" marB="18288" anchor="ctr">
                    <a:solidFill>
                      <a:srgbClr val="FFF4E5"/>
                    </a:solidFill>
                  </a:tcPr>
                </a:tc>
                <a:tc>
                  <a:txBody>
                    <a:bodyPr wrap="square"/>
                    <a:lstStyle/>
                    <a:p>
                      <a:pPr algn="r"/>
                      <a:r>
                        <a:rPr sz="850" b="1" i="0">
                          <a:solidFill>
                            <a:srgbClr val="212121"/>
                          </a:solidFill>
                          <a:latin typeface="Arial"/>
                        </a:rPr>
                        <a:t>log2 N (prototype)</a:t>
                      </a:r>
                    </a:p>
                  </a:txBody>
                  <a:tcPr marL="54864" marR="54864" marT="18288" marB="18288" anchor="ctr">
                    <a:solidFill>
                      <a:srgbClr val="E8F0FE"/>
                    </a:solidFill>
                  </a:tcPr>
                </a:tc>
                <a:tc>
                  <a:txBody>
                    <a:bodyPr wrap="square"/>
                    <a:lstStyle/>
                    <a:p>
                      <a:pPr algn="r"/>
                      <a:r>
                        <a:rPr sz="850" b="1" i="0">
                          <a:solidFill>
                            <a:srgbClr val="212121"/>
                          </a:solidFill>
                          <a:latin typeface="Arial"/>
                        </a:rPr>
                        <a:t>Target ~1×</a:t>
                      </a:r>
                    </a:p>
                  </a:txBody>
                  <a:tcPr marL="54864" marR="54864" marT="18288" marB="18288" anchor="ctr">
                    <a:solidFill>
                      <a:srgbClr val="E8F0FE"/>
                    </a:solidFill>
                  </a:tcPr>
                </a:tc>
              </a:tr>
            </a:tbl>
          </a:graphicData>
        </a:graphic>
      </p:graphicFrame>
      <p:sp>
        <p:nvSpPr>
          <p:cNvPr id="4" name="TextBox 3"/>
          <p:cNvSpPr txBox="1"/>
          <p:nvPr/>
        </p:nvSpPr>
        <p:spPr>
          <a:xfrm>
            <a:off x="310896" y="3035808"/>
            <a:ext cx="8522208" cy="274320"/>
          </a:xfrm>
          <a:prstGeom prst="rect">
            <a:avLst/>
          </a:prstGeom>
          <a:noFill/>
        </p:spPr>
        <p:txBody>
          <a:bodyPr wrap="square" lIns="0" rIns="0" tIns="0" bIns="0" anchor="t">
            <a:spAutoFit/>
          </a:bodyPr>
          <a:lstStyle/>
          <a:p>
            <a:pPr algn="l"/>
            <a:r>
              <a:rPr sz="850" b="0" i="1">
                <a:solidFill>
                  <a:srgbClr val="78909C"/>
                </a:solidFill>
                <a:latin typeface="Arial"/>
              </a:rPr>
              <a:t>Published by the base paper (128 cores, AMD EPYC): 5.6 GB/s on Silesia and 8.7 GB/s on base64; without an index, scaling stops near 64 cores (Silesia) and 48 (FASTQ).</a:t>
            </a:r>
          </a:p>
        </p:txBody>
      </p:sp>
      <p:sp>
        <p:nvSpPr>
          <p:cNvPr id="5" name="Rounded Rectangle 4"/>
          <p:cNvSpPr/>
          <p:nvPr/>
        </p:nvSpPr>
        <p:spPr>
          <a:xfrm>
            <a:off x="310896" y="3401568"/>
            <a:ext cx="8522208" cy="1371600"/>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r>
              <a:rPr sz="1000" b="1" i="0">
                <a:solidFill>
                  <a:srgbClr val="212121"/>
                </a:solidFill>
                <a:latin typeface="Arial"/>
              </a:rPr>
              <a:t>Are the chosen metrics enough to assess the project?</a:t>
            </a:r>
          </a:p>
          <a:p>
            <a:pPr algn="l"/>
            <a:r>
              <a:rPr sz="900" b="0" i="0">
                <a:solidFill>
                  <a:srgbClr val="595959"/>
                </a:solidFill>
                <a:latin typeface="Arial"/>
              </a:rPr>
              <a:t>Correctness gates every row: byte-identical to zlib and the same reject offset on corrupt input.</a:t>
            </a:r>
          </a:p>
          <a:p>
            <a:pPr algn="l"/>
            <a:r>
              <a:rPr sz="900" b="0" i="0">
                <a:solidFill>
                  <a:srgbClr val="595959"/>
                </a:solidFill>
                <a:latin typeface="Arial"/>
              </a:rPr>
              <a:t>M3 has its own metrics: window-resolution time against log2 N, and the scaling knee as chunk size shrinks.</a:t>
            </a:r>
          </a:p>
          <a:p>
            <a:pPr algn="l"/>
            <a:r>
              <a:rPr sz="900" b="0" i="0">
                <a:solidFill>
                  <a:srgbClr val="595959"/>
                </a:solidFill>
                <a:latin typeface="Arial"/>
              </a:rPr>
              <a:t>Cold start includes the cost estimate; 1-thread time is compared with igzip, the best sequential decoder.</a:t>
            </a:r>
          </a:p>
          <a:p>
            <a:pPr algn="l"/>
            <a:r>
              <a:rPr sz="900" b="1" i="0">
                <a:solidFill>
                  <a:srgbClr val="B06000"/>
                </a:solidFill>
                <a:latin typeface="Arial"/>
              </a:rPr>
              <a:t>Amber cells are filled in after implementation. No value is reported before it is measured.</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