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1.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1.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i="0">
                <a:solidFill>
                  <a:srgbClr val="212121"/>
                </a:solidFill>
                <a:latin typeface="Arial"/>
              </a:rPr>
              <a:t>Load imbalance λ (oracle estimate), mixed archive, 8 workers (1.0 = perfect)</a:t>
            </a:r>
          </a:p>
        </c:rich>
      </c:tx>
      <c:layout/>
      <c:overlay val="0"/>
    </c:title>
    <c:autoTitleDeleted val="0"/>
    <c:plotArea>
      <c:barChart>
        <c:barDir val="col"/>
        <c:grouping val="clustered"/>
        <c:ser>
          <c:idx val="0"/>
          <c:order val="0"/>
          <c:tx>
            <c:strRef>
              <c:f>Sheet1!$B$1</c:f>
              <c:strCache>
                <c:ptCount val="1"/>
                <c:pt idx="0">
                  <c:v>Fixed compressed-size chunks</c:v>
                </c:pt>
              </c:strCache>
            </c:strRef>
          </c:tx>
          <c:spPr>
            <a:solidFill>
              <a:srgbClr val="FFAB40"/>
            </a:solidFill>
          </c:spPr>
          <c:cat>
            <c:strRef>
              <c:f>Sheet1!$A$2:$A$5</c:f>
              <c:strCache>
                <c:ptCount val="4"/>
                <c:pt idx="0">
                  <c:v>1 per worker</c:v>
                </c:pt>
                <c:pt idx="1">
                  <c:v>2 per worker</c:v>
                </c:pt>
                <c:pt idx="2">
                  <c:v>4 per worker</c:v>
                </c:pt>
                <c:pt idx="3">
                  <c:v>8 per worker</c:v>
                </c:pt>
              </c:strCache>
            </c:strRef>
          </c:cat>
          <c:val>
            <c:numRef>
              <c:f>Sheet1!$B$2:$B$5</c:f>
              <c:numCache>
                <c:formatCode>General</c:formatCode>
                <c:ptCount val="4"/>
                <c:pt idx="0">
                  <c:v>2.11</c:v>
                </c:pt>
                <c:pt idx="1">
                  <c:v>1.69</c:v>
                </c:pt>
                <c:pt idx="2">
                  <c:v>1.44</c:v>
                </c:pt>
                <c:pt idx="3">
                  <c:v>1.16</c:v>
                </c:pt>
              </c:numCache>
            </c:numRef>
          </c:val>
        </c:ser>
        <c:ser>
          <c:idx val="1"/>
          <c:order val="1"/>
          <c:tx>
            <c:strRef>
              <c:f>Sheet1!$C$1</c:f>
              <c:strCache>
                <c:ptCount val="1"/>
                <c:pt idx="0">
                  <c:v>Work-sized chunks (M1)</c:v>
                </c:pt>
              </c:strCache>
            </c:strRef>
          </c:tx>
          <c:spPr>
            <a:solidFill>
              <a:srgbClr val="4285F4"/>
            </a:solidFill>
          </c:spPr>
          <c:cat>
            <c:strRef>
              <c:f>Sheet1!$A$2:$A$5</c:f>
              <c:strCache>
                <c:ptCount val="4"/>
                <c:pt idx="0">
                  <c:v>1 per worker</c:v>
                </c:pt>
                <c:pt idx="1">
                  <c:v>2 per worker</c:v>
                </c:pt>
                <c:pt idx="2">
                  <c:v>4 per worker</c:v>
                </c:pt>
                <c:pt idx="3">
                  <c:v>8 per worker</c:v>
                </c:pt>
              </c:strCache>
            </c:strRef>
          </c:cat>
          <c:val>
            <c:numRef>
              <c:f>Sheet1!$C$2:$C$5</c:f>
              <c:numCache>
                <c:formatCode>General</c:formatCode>
                <c:ptCount val="4"/>
                <c:pt idx="0">
                  <c:v>1.05</c:v>
                </c:pt>
                <c:pt idx="1">
                  <c:v>1.08</c:v>
                </c:pt>
                <c:pt idx="2">
                  <c:v>1.12</c:v>
                </c:pt>
                <c:pt idx="3">
                  <c:v>1.06</c:v>
                </c:pt>
              </c:numCache>
            </c:numRef>
          </c:val>
        </c:ser>
        <c:dLbls>
          <c:numFmt formatCode="0.00" sourceLinked="0"/>
          <c:txPr>
            <a:bodyPr/>
            <a:lstStyle/>
            <a:p>
              <a:pPr>
                <a:defRPr sz="850">
                  <a:latin typeface="Arial"/>
                </a:defRPr>
              </a:pPr>
            </a:p>
          </c:txPr>
          <c:dLblPos val="outEnd"/>
          <c:showLegendKey val="0"/>
          <c:showVal val="1"/>
          <c:showCatName val="0"/>
          <c:showSerName val="0"/>
          <c:showPercent val="0"/>
          <c:showBubbleSize val="0"/>
          <c:showLeaderLines val="1"/>
        </c:dLbls>
        <c:gapWidth val="70"/>
        <c:overlap val="-10"/>
        <c:axId val="2226939960"/>
        <c:axId val="2180972856"/>
      </c:barChart>
      <c:catAx>
        <c:axId val="2226939960"/>
        <c:scaling>
          <c:orientation val="minMax"/>
        </c:scaling>
        <c:delete val="0"/>
        <c:axPos val="b"/>
        <c:majorTickMark val="out"/>
        <c:minorTickMark val="none"/>
        <c:tickLblPos val="nextTo"/>
        <c:spPr>
          <a:ln>
            <a:solidFill>
              <a:srgbClr val="BDBDBD"/>
            </a:solidFill>
          </a:ln>
        </c:spPr>
        <c:txPr>
          <a:bodyPr/>
          <a:lstStyle/>
          <a:p>
            <a:pPr>
              <a:defRPr sz="850">
                <a:latin typeface="Arial"/>
              </a:defRPr>
            </a:pPr>
          </a:p>
        </c:txPr>
        <c:crossAx val="2180972856"/>
        <c:crosses val="autoZero"/>
        <c:auto val="1"/>
        <c:lblAlgn val="ctr"/>
        <c:lblOffset val="100"/>
        <c:noMultiLvlLbl val="0"/>
      </c:catAx>
      <c:valAx>
        <c:axId val="2180972856"/>
        <c:scaling>
          <c:max val="2.5"/>
          <c:min val="0.0"/>
        </c:scaling>
        <c:delete val="0"/>
        <c:axPos val="l"/>
        <c:majorGridlines>
          <c:spPr>
            <a:ln>
              <a:solidFill>
                <a:srgbClr val="E0E0E0"/>
              </a:solidFill>
            </a:ln>
          </c:spPr>
        </c:majorGridlines>
        <c:majorTickMark val="out"/>
        <c:minorTickMark val="none"/>
        <c:tickLblPos val="nextTo"/>
        <c:spPr>
          <a:ln>
            <a:noFill/>
          </a:ln>
        </c:spPr>
        <c:txPr>
          <a:bodyPr/>
          <a:lstStyle/>
          <a:p>
            <a:pPr>
              <a:defRPr sz="850">
                <a:latin typeface="Arial"/>
              </a:defRPr>
            </a:pPr>
          </a:p>
        </c:txPr>
        <c:crossAx val="2226939960"/>
        <c:crosses val="autoZero"/>
        <c:majorUnit val="0.5"/>
      </c:valAx>
    </c:plotArea>
    <c:legend>
      <c:legendPos val="b"/>
      <c:overlay val="0"/>
      <c:txPr>
        <a:bodyPr/>
        <a:lstStyle/>
        <a:p>
          <a:pPr>
            <a:defRPr sz="850">
              <a:latin typeface="Aria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i="0">
                <a:solidFill>
                  <a:srgbClr val="212121"/>
                </a:solidFill>
                <a:latin typeface="Arial"/>
              </a:rPr>
              <a:t>Dependent steps to resolve windows</a:t>
            </a:r>
          </a:p>
        </c:rich>
      </c:tx>
      <c:layout/>
      <c:overlay val="0"/>
    </c:title>
    <c:autoTitleDeleted val="0"/>
    <c:plotArea>
      <c:barChart>
        <c:barDir val="col"/>
        <c:grouping val="clustered"/>
        <c:ser>
          <c:idx val="0"/>
          <c:order val="0"/>
          <c:tx>
            <c:strRef>
              <c:f>Sheet1!$B$1</c:f>
              <c:strCache>
                <c:ptCount val="1"/>
                <c:pt idx="0">
                  <c:v>Sequential chain (base paper)</c:v>
                </c:pt>
              </c:strCache>
            </c:strRef>
          </c:tx>
          <c:spPr>
            <a:solidFill>
              <a:srgbClr val="FFAB40"/>
            </a:solidFill>
          </c:spPr>
          <c:cat>
            <c:strRef>
              <c:f>Sheet1!$A$2:$A$5</c:f>
              <c:strCache>
                <c:ptCount val="4"/>
                <c:pt idx="0">
                  <c:v>man_pages (8)</c:v>
                </c:pt>
                <c:pt idx="1">
                  <c:v>mixed_archive (16)</c:v>
                </c:pt>
                <c:pt idx="2">
                  <c:v>dict_text (8)</c:v>
                </c:pt>
                <c:pt idx="3">
                  <c:v>bash_binary (8)</c:v>
                </c:pt>
              </c:strCache>
            </c:strRef>
          </c:cat>
          <c:val>
            <c:numRef>
              <c:f>Sheet1!$B$2:$B$5</c:f>
              <c:numCache>
                <c:formatCode>General</c:formatCode>
                <c:ptCount val="4"/>
                <c:pt idx="0">
                  <c:v>7</c:v>
                </c:pt>
                <c:pt idx="1">
                  <c:v>15</c:v>
                </c:pt>
                <c:pt idx="2">
                  <c:v>7</c:v>
                </c:pt>
                <c:pt idx="3">
                  <c:v>7</c:v>
                </c:pt>
              </c:numCache>
            </c:numRef>
          </c:val>
        </c:ser>
        <c:ser>
          <c:idx val="1"/>
          <c:order val="1"/>
          <c:tx>
            <c:strRef>
              <c:f>Sheet1!$C$1</c:f>
              <c:strCache>
                <c:ptCount val="1"/>
                <c:pt idx="0">
                  <c:v>Prefix scan (ours)</c:v>
                </c:pt>
              </c:strCache>
            </c:strRef>
          </c:tx>
          <c:spPr>
            <a:solidFill>
              <a:srgbClr val="4285F4"/>
            </a:solidFill>
          </c:spPr>
          <c:cat>
            <c:strRef>
              <c:f>Sheet1!$A$2:$A$5</c:f>
              <c:strCache>
                <c:ptCount val="4"/>
                <c:pt idx="0">
                  <c:v>man_pages (8)</c:v>
                </c:pt>
                <c:pt idx="1">
                  <c:v>mixed_archive (16)</c:v>
                </c:pt>
                <c:pt idx="2">
                  <c:v>dict_text (8)</c:v>
                </c:pt>
                <c:pt idx="3">
                  <c:v>bash_binary (8)</c:v>
                </c:pt>
              </c:strCache>
            </c:strRef>
          </c:cat>
          <c:val>
            <c:numRef>
              <c:f>Sheet1!$C$2:$C$5</c:f>
              <c:numCache>
                <c:formatCode>General</c:formatCode>
                <c:ptCount val="4"/>
                <c:pt idx="0">
                  <c:v>3</c:v>
                </c:pt>
                <c:pt idx="1">
                  <c:v>4</c:v>
                </c:pt>
                <c:pt idx="2">
                  <c:v>3</c:v>
                </c:pt>
                <c:pt idx="3">
                  <c:v>3</c:v>
                </c:pt>
              </c:numCache>
            </c:numRef>
          </c:val>
        </c:ser>
        <c:dLbls>
          <c:numFmt formatCode="0" sourceLinked="0"/>
          <c:txPr>
            <a:bodyPr/>
            <a:lstStyle/>
            <a:p>
              <a:pPr>
                <a:defRPr sz="850">
                  <a:latin typeface="Arial"/>
                </a:defRPr>
              </a:pPr>
            </a:p>
          </c:txPr>
          <c:dLblPos val="outEnd"/>
          <c:showLegendKey val="0"/>
          <c:showVal val="1"/>
          <c:showCatName val="0"/>
          <c:showSerName val="0"/>
          <c:showPercent val="0"/>
          <c:showBubbleSize val="0"/>
          <c:showLeaderLines val="1"/>
        </c:dLbls>
        <c:gapWidth val="70"/>
        <c:overlap val="-10"/>
        <c:axId val="2226939960"/>
        <c:axId val="2180972856"/>
      </c:barChart>
      <c:catAx>
        <c:axId val="2226939960"/>
        <c:scaling>
          <c:orientation val="minMax"/>
        </c:scaling>
        <c:delete val="0"/>
        <c:axPos val="b"/>
        <c:majorTickMark val="out"/>
        <c:minorTickMark val="none"/>
        <c:tickLblPos val="nextTo"/>
        <c:txPr>
          <a:bodyPr/>
          <a:lstStyle/>
          <a:p>
            <a:pPr>
              <a:defRPr sz="800">
                <a:latin typeface="Arial"/>
              </a:defRPr>
            </a:pPr>
          </a:p>
        </c:txPr>
        <c:crossAx val="2180972856"/>
        <c:crosses val="autoZero"/>
        <c:auto val="1"/>
        <c:lblAlgn val="ctr"/>
        <c:lblOffset val="100"/>
        <c:noMultiLvlLbl val="0"/>
      </c:catAx>
      <c:valAx>
        <c:axId val="2180972856"/>
        <c:scaling>
          <c:max val="18.0"/>
          <c:min val="0.0"/>
        </c:scaling>
        <c:delete val="0"/>
        <c:axPos val="l"/>
        <c:majorGridlines>
          <c:spPr>
            <a:ln>
              <a:solidFill>
                <a:srgbClr val="E0E0E0"/>
              </a:solidFill>
            </a:ln>
          </c:spPr>
        </c:majorGridlines>
        <c:majorTickMark val="out"/>
        <c:minorTickMark val="none"/>
        <c:tickLblPos val="nextTo"/>
        <c:spPr>
          <a:ln>
            <a:noFill/>
          </a:ln>
        </c:spPr>
        <c:txPr>
          <a:bodyPr/>
          <a:lstStyle/>
          <a:p>
            <a:pPr>
              <a:defRPr sz="850">
                <a:latin typeface="Arial"/>
              </a:defRPr>
            </a:pPr>
          </a:p>
        </c:txPr>
        <c:crossAx val="2226939960"/>
        <c:crosses val="autoZero"/>
        <c:majorUnit val="6.0"/>
      </c:valAx>
    </c:plotArea>
    <c:legend>
      <c:legendPos val="b"/>
      <c:overlay val="0"/>
      <c:txPr>
        <a:bodyPr/>
        <a:lstStyle/>
        <a:p>
          <a:pPr>
            <a:defRPr sz="850">
              <a:latin typeface="Aria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i="0">
                <a:solidFill>
                  <a:srgbClr val="212121"/>
                </a:solidFill>
                <a:latin typeface="Arial"/>
              </a:rPr>
              <a:t>Dependent steps to resolve windows, Silesia tarball</a:t>
            </a:r>
          </a:p>
        </c:rich>
      </c:tx>
      <c:layout/>
      <c:overlay val="0"/>
    </c:title>
    <c:autoTitleDeleted val="0"/>
    <c:plotArea>
      <c:barChart>
        <c:barDir val="col"/>
        <c:grouping val="clustered"/>
        <c:ser>
          <c:idx val="0"/>
          <c:order val="0"/>
          <c:tx>
            <c:strRef>
              <c:f>Sheet1!$B$1</c:f>
              <c:strCache>
                <c:ptCount val="1"/>
                <c:pt idx="0">
                  <c:v>Sequential chain (base paper)</c:v>
                </c:pt>
              </c:strCache>
            </c:strRef>
          </c:tx>
          <c:spPr>
            <a:solidFill>
              <a:srgbClr val="FFAB40"/>
            </a:solidFill>
          </c:spPr>
          <c:cat>
            <c:strRef>
              <c:f>Sheet1!$A$2:$A$3</c:f>
              <c:strCache>
                <c:ptCount val="2"/>
                <c:pt idx="0">
                  <c:v>4 MiB chunks (17)</c:v>
                </c:pt>
                <c:pt idx="1">
                  <c:v>512 KiB chunks (131)</c:v>
                </c:pt>
              </c:strCache>
            </c:strRef>
          </c:cat>
          <c:val>
            <c:numRef>
              <c:f>Sheet1!$B$2:$B$3</c:f>
              <c:numCache>
                <c:formatCode>General</c:formatCode>
                <c:ptCount val="2"/>
                <c:pt idx="0">
                  <c:v>16</c:v>
                </c:pt>
                <c:pt idx="1">
                  <c:v>130</c:v>
                </c:pt>
              </c:numCache>
            </c:numRef>
          </c:val>
        </c:ser>
        <c:ser>
          <c:idx val="1"/>
          <c:order val="1"/>
          <c:tx>
            <c:strRef>
              <c:f>Sheet1!$C$1</c:f>
              <c:strCache>
                <c:ptCount val="1"/>
                <c:pt idx="0">
                  <c:v>Prefix scan (ours)</c:v>
                </c:pt>
              </c:strCache>
            </c:strRef>
          </c:tx>
          <c:spPr>
            <a:solidFill>
              <a:srgbClr val="4285F4"/>
            </a:solidFill>
          </c:spPr>
          <c:cat>
            <c:strRef>
              <c:f>Sheet1!$A$2:$A$3</c:f>
              <c:strCache>
                <c:ptCount val="2"/>
                <c:pt idx="0">
                  <c:v>4 MiB chunks (17)</c:v>
                </c:pt>
                <c:pt idx="1">
                  <c:v>512 KiB chunks (131)</c:v>
                </c:pt>
              </c:strCache>
            </c:strRef>
          </c:cat>
          <c:val>
            <c:numRef>
              <c:f>Sheet1!$C$2:$C$3</c:f>
              <c:numCache>
                <c:formatCode>General</c:formatCode>
                <c:ptCount val="2"/>
                <c:pt idx="0">
                  <c:v>5</c:v>
                </c:pt>
                <c:pt idx="1">
                  <c:v>8</c:v>
                </c:pt>
              </c:numCache>
            </c:numRef>
          </c:val>
        </c:ser>
        <c:dLbls>
          <c:numFmt formatCode="0" sourceLinked="0"/>
          <c:txPr>
            <a:bodyPr/>
            <a:lstStyle/>
            <a:p>
              <a:pPr>
                <a:defRPr sz="850">
                  <a:latin typeface="Arial"/>
                </a:defRPr>
              </a:pPr>
            </a:p>
          </c:txPr>
          <c:dLblPos val="outEnd"/>
          <c:showLegendKey val="0"/>
          <c:showVal val="1"/>
          <c:showCatName val="0"/>
          <c:showSerName val="0"/>
          <c:showPercent val="0"/>
          <c:showBubbleSize val="0"/>
          <c:showLeaderLines val="1"/>
        </c:dLbls>
        <c:gapWidth val="70"/>
        <c:overlap val="-10"/>
        <c:axId val="2226939960"/>
        <c:axId val="2180972856"/>
      </c:barChart>
      <c:catAx>
        <c:axId val="2226939960"/>
        <c:scaling>
          <c:orientation val="minMax"/>
        </c:scaling>
        <c:delete val="0"/>
        <c:axPos val="b"/>
        <c:majorTickMark val="out"/>
        <c:minorTickMark val="none"/>
        <c:tickLblPos val="nextTo"/>
        <c:txPr>
          <a:bodyPr/>
          <a:lstStyle/>
          <a:p>
            <a:pPr>
              <a:defRPr sz="850">
                <a:latin typeface="Arial"/>
              </a:defRPr>
            </a:pPr>
          </a:p>
        </c:txPr>
        <c:crossAx val="2180972856"/>
        <c:crosses val="autoZero"/>
        <c:auto val="1"/>
        <c:lblAlgn val="ctr"/>
        <c:lblOffset val="100"/>
        <c:noMultiLvlLbl val="0"/>
      </c:catAx>
      <c:valAx>
        <c:axId val="2180972856"/>
        <c:scaling>
          <c:max val="140.0"/>
          <c:min val="0.0"/>
        </c:scaling>
        <c:delete val="0"/>
        <c:axPos val="l"/>
        <c:majorGridlines>
          <c:spPr>
            <a:ln>
              <a:solidFill>
                <a:srgbClr val="E0E0E0"/>
              </a:solidFill>
            </a:ln>
          </c:spPr>
        </c:majorGridlines>
        <c:majorTickMark val="out"/>
        <c:minorTickMark val="none"/>
        <c:tickLblPos val="nextTo"/>
        <c:spPr>
          <a:ln>
            <a:noFill/>
          </a:ln>
        </c:spPr>
        <c:txPr>
          <a:bodyPr/>
          <a:lstStyle/>
          <a:p>
            <a:pPr>
              <a:defRPr sz="850">
                <a:latin typeface="Arial"/>
              </a:defRPr>
            </a:pPr>
          </a:p>
        </c:txPr>
        <c:crossAx val="2226939960"/>
        <c:crosses val="autoZero"/>
        <c:majorUnit val="35.0"/>
      </c:valAx>
    </c:plotArea>
    <c:legend>
      <c:legendPos val="b"/>
      <c:overlay val="0"/>
      <c:txPr>
        <a:bodyPr/>
        <a:lstStyle/>
        <a:p>
          <a:pPr>
            <a:defRPr sz="85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One core per .gz file today. The state of the art, rapidgzip (Knespel &amp; Brunst, HPDC '23), decodes chunks in parallel but resolves the 32 KB windows between chunks one after another. The paper says that step cannot be parallelised and attributes its 48-64-core scaling limit to it. Our main contribution parallelises it with a prefix scan. If asked about the GPU: as staged in the proposal, the multicore CPU decoder comes first; the GPU remains a feasibility study after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Our dataset is the Silesia corpus, the same benchmark the base paper uses, gzipped at the default level. Our from-scratch decoder reproduces zlib exactly on all twelve files and on the tarball, and the tarball's 3.11 ratio matches the base paper's 3.1, so our setup matches theirs. The snapshot is the boundary between the chemical database and the office DLLs inside the tarball: blocks of similar compressed size, but about six times less output on the right, which is why chunks cut by compressed size use very different amounts of memory. The profiler is an offline measurement tool, not a stage of the parallel decoder.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Amber stages are ours; M3 is the main contribution. Parsing doesn't need earlier output, only copies do, and copies reach back at most 32 KB, so chunks parse in parallel. Each chunk's final window is a map from the previous window, and composing those maps is associative, so the chain the base paper resolves serially becomes a prefix scan: log2 N rounds instead of N steps. Stage 0 is a cheap cost estimate from sampled block headers, not a sequential pass; split-on-overflow corrects estimates that turn out wrong. If asked how much log depth buys: on Silesia the chain is exact under the scan at the base paper's 4 MiB chunks (16 steps become 5) and grows eightfold as chunks shrink to 512 KiB (130 steps become 8). In pure work it is small, about 0.2% of the total at 512 KiB, so the first implementation task is to time the step inside rapidgzip; the size of M3's speedup is claimed only after that. Smaller chunks also cut memory, the paper's main stated limitation. If asked why 1-2 chunks per worker: fewer, larger chunks mean fewer speculative boundary searches and fewer 32 KB windows to resolve.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Correctness first: byte-identical or it fails. M3 leads because it is the main contribution. The chart is our prototype on the Silesia tarball, cut the way the base paper cuts chunks: 16 dependent steps become 5 scan rounds at 4 MiB, and 130 become 8 at 512 KiB. That is depth, not time. The chain is a small share of the work, so before claiming a speedup we time the serial step inside rapidgzip at the same commit. Cold-start time includes the cost estimate, so M1 cannot hide its own overhead, and 1-thread Riptide is compared with igzip. The M1 figure is an oracle upper bound; we report M1 as a negative result if compressed-size chunks already balance.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0896" y="1554480"/>
            <a:ext cx="8522208" cy="118872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200"/>
              <a:buNone/>
            </a:pPr>
            <a:r>
              <a:rPr sz="4000" b="1" i="0">
                <a:solidFill>
                  <a:srgbClr val="212121"/>
                </a:solidFill>
                <a:latin typeface="Arial"/>
              </a:rPr>
              <a:t>Riptide</a:t>
            </a:r>
            <a:endParaRPr/>
          </a:p>
          <a:p>
            <a:pPr algn="ctr"/>
            <a:r>
              <a:rPr sz="1700" b="0" i="0">
                <a:solidFill>
                  <a:srgbClr val="595959"/>
                </a:solidFill>
                <a:latin typeface="Arial"/>
              </a:rPr>
              <a:t>Breaking the Serial Window Chain in Parallel Gzip Decompression</a:t>
            </a:r>
          </a:p>
        </p:txBody>
      </p:sp>
      <p:sp>
        <p:nvSpPr>
          <p:cNvPr id="55" name="Google Shape;55;p1"/>
          <p:cNvSpPr txBox="1"/>
          <p:nvPr>
            <p:ph idx="1" type="subTitle"/>
          </p:nvPr>
        </p:nvSpPr>
        <p:spPr>
          <a:xfrm>
            <a:off x="310896" y="1216152"/>
            <a:ext cx="8522208" cy="292608"/>
          </a:xfrm>
          <a:prstGeom prst="rect">
            <a:avLst/>
          </a:prstGeom>
          <a:noFill/>
          <a:ln>
            <a:noFill/>
          </a:ln>
        </p:spPr>
        <p:txBody>
          <a:bodyPr anchorCtr="0" anchor="ctr" bIns="0" lIns="0" spcFirstLastPara="1" rIns="0" wrap="square" tIns="0">
            <a:normAutofit/>
          </a:bodyPr>
          <a:lstStyle/>
          <a:p>
            <a:pPr indent="0" lvl="0" marL="0" rtl="0" algn="ctr">
              <a:lnSpc>
                <a:spcPct val="100000"/>
              </a:lnSpc>
              <a:spcBef>
                <a:spcPts val="0"/>
              </a:spcBef>
              <a:spcAft>
                <a:spcPts val="0"/>
              </a:spcAft>
              <a:buSzPts val="2800"/>
              <a:buNone/>
            </a:pPr>
            <a:r>
              <a:rPr sz="1100" b="1" i="0" spc="300">
                <a:solidFill>
                  <a:srgbClr val="4285F4"/>
                </a:solidFill>
                <a:latin typeface="Arial"/>
              </a:rPr>
              <a:t>METHODOLOGY PRESENTATION</a:t>
            </a:r>
            <a:endParaRPr/>
          </a:p>
        </p:txBody>
      </p:sp>
      <p:pic>
        <p:nvPicPr>
          <p:cNvPr id="56" name="Picture 55" descr="image.png"/>
          <p:cNvPicPr>
            <a:picLocks noChangeAspect="1"/>
          </p:cNvPicPr>
          <p:nvPr/>
        </p:nvPicPr>
        <p:blipFill>
          <a:blip r:embed="rId3"/>
          <a:stretch>
            <a:fillRect/>
          </a:stretch>
        </p:blipFill>
        <p:spPr>
          <a:xfrm>
            <a:off x="4151376" y="347472"/>
            <a:ext cx="840065" cy="777240"/>
          </a:xfrm>
          <a:prstGeom prst="rect">
            <a:avLst/>
          </a:prstGeom>
        </p:spPr>
      </p:pic>
      <p:sp>
        <p:nvSpPr>
          <p:cNvPr id="57" name="Rounded Rectangle 56"/>
          <p:cNvSpPr/>
          <p:nvPr/>
        </p:nvSpPr>
        <p:spPr>
          <a:xfrm>
            <a:off x="1325880" y="3017520"/>
            <a:ext cx="310896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1200" b="1" i="0">
                <a:solidFill>
                  <a:srgbClr val="212121"/>
                </a:solidFill>
                <a:latin typeface="Arial"/>
              </a:rPr>
              <a:t>Devansh Hiren Shah</a:t>
            </a:r>
          </a:p>
          <a:p>
            <a:pPr algn="ctr"/>
            <a:r>
              <a:rPr sz="1000" b="0" i="0">
                <a:solidFill>
                  <a:srgbClr val="78909C"/>
                </a:solidFill>
                <a:latin typeface="Arial"/>
              </a:rPr>
              <a:t>241IT024</a:t>
            </a:r>
          </a:p>
        </p:txBody>
      </p:sp>
      <p:sp>
        <p:nvSpPr>
          <p:cNvPr id="58" name="Rounded Rectangle 57"/>
          <p:cNvSpPr/>
          <p:nvPr/>
        </p:nvSpPr>
        <p:spPr>
          <a:xfrm>
            <a:off x="4709160" y="3017520"/>
            <a:ext cx="310896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1200" b="1" i="0">
                <a:solidFill>
                  <a:srgbClr val="212121"/>
                </a:solidFill>
                <a:latin typeface="Arial"/>
              </a:rPr>
              <a:t>Mantri Samarth Prakash</a:t>
            </a:r>
          </a:p>
          <a:p>
            <a:pPr algn="ctr"/>
            <a:r>
              <a:rPr sz="1000" b="0" i="0">
                <a:solidFill>
                  <a:srgbClr val="78909C"/>
                </a:solidFill>
                <a:latin typeface="Arial"/>
              </a:rPr>
              <a:t>241IT043</a:t>
            </a:r>
          </a:p>
        </p:txBody>
      </p:sp>
      <p:sp>
        <p:nvSpPr>
          <p:cNvPr id="59" name="Rounded Rectangle 58"/>
          <p:cNvSpPr/>
          <p:nvPr/>
        </p:nvSpPr>
        <p:spPr>
          <a:xfrm>
            <a:off x="1325880" y="3529584"/>
            <a:ext cx="310896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1200" b="1" i="0">
                <a:solidFill>
                  <a:srgbClr val="212121"/>
                </a:solidFill>
                <a:latin typeface="Arial"/>
              </a:rPr>
              <a:t>Shubh Minesh Thakkar</a:t>
            </a:r>
          </a:p>
          <a:p>
            <a:pPr algn="ctr"/>
            <a:r>
              <a:rPr sz="1000" b="0" i="0">
                <a:solidFill>
                  <a:srgbClr val="78909C"/>
                </a:solidFill>
                <a:latin typeface="Arial"/>
              </a:rPr>
              <a:t>241IT076</a:t>
            </a:r>
          </a:p>
        </p:txBody>
      </p:sp>
      <p:sp>
        <p:nvSpPr>
          <p:cNvPr id="60" name="Rounded Rectangle 59"/>
          <p:cNvSpPr/>
          <p:nvPr/>
        </p:nvSpPr>
        <p:spPr>
          <a:xfrm>
            <a:off x="4709160" y="3529584"/>
            <a:ext cx="310896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1200" b="1" i="0">
                <a:solidFill>
                  <a:srgbClr val="212121"/>
                </a:solidFill>
                <a:latin typeface="Arial"/>
              </a:rPr>
              <a:t>Ritesh Bhagat</a:t>
            </a:r>
          </a:p>
          <a:p>
            <a:pPr algn="ctr"/>
            <a:r>
              <a:rPr sz="1000" b="0" i="0">
                <a:solidFill>
                  <a:srgbClr val="78909C"/>
                </a:solidFill>
                <a:latin typeface="Arial"/>
              </a:rPr>
              <a:t>241IT063</a:t>
            </a:r>
          </a:p>
        </p:txBody>
      </p:sp>
      <p:sp>
        <p:nvSpPr>
          <p:cNvPr id="61" name="Rounded Rectangle 60"/>
          <p:cNvSpPr/>
          <p:nvPr/>
        </p:nvSpPr>
        <p:spPr>
          <a:xfrm>
            <a:off x="310896" y="4261104"/>
            <a:ext cx="8522208"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1100" b="1" i="0">
                <a:solidFill>
                  <a:srgbClr val="212121"/>
                </a:solidFill>
                <a:latin typeface="Arial"/>
              </a:rPr>
              <a:t>IT 301 Parallel Computing</a:t>
            </a:r>
          </a:p>
          <a:p>
            <a:pPr algn="ctr"/>
            <a:r>
              <a:rPr sz="1000" b="0" i="0">
                <a:solidFill>
                  <a:srgbClr val="78909C"/>
                </a:solidFill>
                <a:latin typeface="Arial"/>
              </a:rPr>
              <a:t>Department of Information Technology  ·  NIT Karnataka, Surathkal</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sz="2800"/>
              <a:t>Dataset</a:t>
            </a:r>
            <a:endParaRPr/>
          </a:p>
        </p:txBody>
      </p:sp>
      <p:sp>
        <p:nvSpPr>
          <p:cNvPr id="61" name="TextBox 60"/>
          <p:cNvSpPr txBox="1"/>
          <p:nvPr/>
        </p:nvSpPr>
        <p:spPr>
          <a:xfrm>
            <a:off x="310896" y="1115568"/>
            <a:ext cx="8522208" cy="868680"/>
          </a:xfrm>
          <a:prstGeom prst="rect">
            <a:avLst/>
          </a:prstGeom>
          <a:noFill/>
        </p:spPr>
        <p:txBody>
          <a:bodyPr wrap="square" lIns="0" rIns="0" tIns="0" bIns="0">
            <a:spAutoFit/>
          </a:bodyPr>
          <a:lstStyle/>
          <a:p>
            <a:pPr marL="164592" indent="-164592">
              <a:lnSpc>
                <a:spcPct val="108000"/>
              </a:lnSpc>
              <a:spcAft>
                <a:spcPts val="300"/>
              </a:spcAft>
              <a:buClr>
                <a:srgbClr val="4285F4"/>
              </a:buClr>
              <a:buFont typeface="Arial"/>
              <a:buChar char="•"/>
            </a:pPr>
            <a:r>
              <a:rPr sz="1050" b="1" i="0">
                <a:solidFill>
                  <a:srgbClr val="212121"/>
                </a:solidFill>
                <a:latin typeface="Arial"/>
              </a:rPr>
              <a:t>Data: </a:t>
            </a:r>
            <a:r>
              <a:rPr sz="1050" b="0" i="0">
                <a:solidFill>
                  <a:srgbClr val="595959"/>
                </a:solidFill>
                <a:latin typeface="Arial"/>
              </a:rPr>
              <a:t>unmodified .gz streams; ground truth is zlib's output, matched byte for byte.</a:t>
            </a:r>
          </a:p>
          <a:p>
            <a:pPr marL="164592" indent="-164592">
              <a:lnSpc>
                <a:spcPct val="108000"/>
              </a:lnSpc>
              <a:spcAft>
                <a:spcPts val="300"/>
              </a:spcAft>
              <a:buClr>
                <a:srgbClr val="4285F4"/>
              </a:buClr>
              <a:buFont typeface="Arial"/>
              <a:buChar char="•"/>
            </a:pPr>
            <a:r>
              <a:rPr sz="1050" b="1" i="0">
                <a:solidFill>
                  <a:srgbClr val="212121"/>
                </a:solidFill>
                <a:latin typeface="Arial"/>
              </a:rPr>
              <a:t>Sources: </a:t>
            </a:r>
            <a:r>
              <a:rPr sz="1050" b="0" i="0">
                <a:solidFill>
                  <a:srgbClr val="595959"/>
                </a:solidFill>
                <a:latin typeface="Arial"/>
              </a:rPr>
              <a:t>the Silesia corpus below, the base paper's own benchmark; to add: .fastq.gz reads, gzipped logs/CSV, high-ratio data, synthetic edge cases; runtime files ≥ 1 GB.</a:t>
            </a:r>
          </a:p>
          <a:p>
            <a:pPr marL="164592" indent="-164592">
              <a:lnSpc>
                <a:spcPct val="108000"/>
              </a:lnSpc>
              <a:spcAft>
                <a:spcPts val="300"/>
              </a:spcAft>
              <a:buClr>
                <a:srgbClr val="4285F4"/>
              </a:buClr>
              <a:buFont typeface="Arial"/>
              <a:buChar char="•"/>
            </a:pPr>
            <a:r>
              <a:rPr sz="1050" b="1" i="0">
                <a:solidFill>
                  <a:srgbClr val="212121"/>
                </a:solidFill>
                <a:latin typeface="Arial"/>
              </a:rPr>
              <a:t>Instance = one DEFLATE block. </a:t>
            </a:r>
            <a:r>
              <a:rPr sz="1050" b="0" i="0">
                <a:solidFill>
                  <a:srgbClr val="595959"/>
                </a:solidFill>
                <a:latin typeface="Arial"/>
              </a:rPr>
              <a:t>Features: start bit, input bits, output bytes, type, literals, matches; derived expansion ρ.</a:t>
            </a:r>
          </a:p>
        </p:txBody>
      </p:sp>
      <p:sp>
        <p:nvSpPr>
          <p:cNvPr id="62" name="TextBox 61"/>
          <p:cNvSpPr txBox="1"/>
          <p:nvPr/>
        </p:nvSpPr>
        <p:spPr>
          <a:xfrm>
            <a:off x="310896" y="2057400"/>
            <a:ext cx="4160520" cy="201168"/>
          </a:xfrm>
          <a:prstGeom prst="rect">
            <a:avLst/>
          </a:prstGeom>
          <a:noFill/>
        </p:spPr>
        <p:txBody>
          <a:bodyPr wrap="square" lIns="0" rIns="0" tIns="0" bIns="0" anchor="t">
            <a:spAutoFit/>
          </a:bodyPr>
          <a:lstStyle/>
          <a:p>
            <a:pPr algn="l"/>
            <a:r>
              <a:rPr sz="950" b="1" i="0">
                <a:solidFill>
                  <a:srgbClr val="212121"/>
                </a:solidFill>
                <a:latin typeface="Arial"/>
              </a:rPr>
              <a:t>Silesia corpus — measured by our profiler</a:t>
            </a:r>
          </a:p>
        </p:txBody>
      </p:sp>
      <p:sp>
        <p:nvSpPr>
          <p:cNvPr id="64" name="TextBox 63"/>
          <p:cNvSpPr txBox="1"/>
          <p:nvPr/>
        </p:nvSpPr>
        <p:spPr>
          <a:xfrm>
            <a:off x="310896" y="4718304"/>
            <a:ext cx="4160520" cy="329184"/>
          </a:xfrm>
          <a:prstGeom prst="rect">
            <a:avLst/>
          </a:prstGeom>
          <a:noFill/>
        </p:spPr>
        <p:txBody>
          <a:bodyPr wrap="square" lIns="0" rIns="0" tIns="0" bIns="0" anchor="t">
            <a:spAutoFit/>
          </a:bodyPr>
          <a:lstStyle/>
          <a:p>
            <a:pPr algn="l"/>
            <a:r>
              <a:rPr sz="850" b="0" i="1">
                <a:solidFill>
                  <a:srgbClr val="78909C"/>
                </a:solidFill>
                <a:latin typeface="Arial"/>
              </a:rPr>
              <a:t>Tarball of all 12: 68 MB → 212 MB, ratio 3.11 (base paper: 3.1); all 13 streams bit-identical to zlib.</a:t>
            </a:r>
          </a:p>
        </p:txBody>
      </p:sp>
      <p:sp>
        <p:nvSpPr>
          <p:cNvPr id="65" name="TextBox 64"/>
          <p:cNvSpPr txBox="1"/>
          <p:nvPr/>
        </p:nvSpPr>
        <p:spPr>
          <a:xfrm>
            <a:off x="4672584" y="2057400"/>
            <a:ext cx="4160520" cy="201168"/>
          </a:xfrm>
          <a:prstGeom prst="rect">
            <a:avLst/>
          </a:prstGeom>
          <a:noFill/>
        </p:spPr>
        <p:txBody>
          <a:bodyPr wrap="square" lIns="0" rIns="0" tIns="0" bIns="0" anchor="t">
            <a:spAutoFit/>
          </a:bodyPr>
          <a:lstStyle/>
          <a:p>
            <a:pPr algn="l"/>
            <a:r>
              <a:rPr sz="950" b="1" i="0">
                <a:solidFill>
                  <a:srgbClr val="212121"/>
                </a:solidFill>
                <a:latin typeface="Arial"/>
              </a:rPr>
              <a:t>Snapshot: block records, Silesia tarball (nci → ooffice)</a:t>
            </a:r>
          </a:p>
        </p:txBody>
      </p:sp>
      <p:graphicFrame>
        <p:nvGraphicFramePr>
          <p:cNvPr id="66" name="Table 65"/>
          <p:cNvGraphicFramePr>
            <a:graphicFrameLocks noGrp="1"/>
          </p:cNvGraphicFramePr>
          <p:nvPr/>
        </p:nvGraphicFramePr>
        <p:xfrm>
          <a:off x="4672584" y="2304288"/>
          <a:ext cx="4160520" cy="1591056"/>
        </p:xfrm>
        <a:graphic>
          <a:graphicData uri="http://schemas.openxmlformats.org/drawingml/2006/table">
            <a:tbl>
              <a:tblPr firstRow="1"/>
              <a:tblGrid>
                <a:gridCol w="457200"/>
                <a:gridCol w="731520"/>
                <a:gridCol w="777240"/>
                <a:gridCol w="749808"/>
                <a:gridCol w="685800"/>
                <a:gridCol w="758952"/>
              </a:tblGrid>
              <a:tr h="265176">
                <a:tc>
                  <a:txBody>
                    <a:bodyPr wrap="square"/>
                    <a:lstStyle/>
                    <a:p>
                      <a:pPr algn="r"/>
                      <a:r>
                        <a:rPr sz="950" b="1" i="0">
                          <a:solidFill>
                            <a:srgbClr val="FFFFFF"/>
                          </a:solidFill>
                          <a:latin typeface="Arial"/>
                        </a:rPr>
                        <a:t>#</a:t>
                      </a:r>
                    </a:p>
                  </a:txBody>
                  <a:tcPr marL="54864" marR="54864" marT="18288" marB="18288" anchor="ctr">
                    <a:solidFill>
                      <a:srgbClr val="4285F4"/>
                    </a:solidFill>
                  </a:tcPr>
                </a:tc>
                <a:tc>
                  <a:txBody>
                    <a:bodyPr wrap="square"/>
                    <a:lstStyle/>
                    <a:p>
                      <a:pPr algn="l"/>
                      <a:r>
                        <a:rPr sz="950" b="1" i="0">
                          <a:solidFill>
                            <a:srgbClr val="FFFFFF"/>
                          </a:solidFill>
                          <a:latin typeface="Arial"/>
                        </a:rPr>
                        <a:t>Type</a:t>
                      </a:r>
                    </a:p>
                  </a:txBody>
                  <a:tcPr marL="54864" marR="54864" marT="18288" marB="18288" anchor="ctr">
                    <a:solidFill>
                      <a:srgbClr val="4285F4"/>
                    </a:solidFill>
                  </a:tcPr>
                </a:tc>
                <a:tc>
                  <a:txBody>
                    <a:bodyPr wrap="square"/>
                    <a:lstStyle/>
                    <a:p>
                      <a:pPr algn="r"/>
                      <a:r>
                        <a:rPr sz="950" b="1" i="0">
                          <a:solidFill>
                            <a:srgbClr val="FFFFFF"/>
                          </a:solidFill>
                          <a:latin typeface="Arial"/>
                        </a:rPr>
                        <a:t>In bits</a:t>
                      </a:r>
                    </a:p>
                  </a:txBody>
                  <a:tcPr marL="54864" marR="54864" marT="18288" marB="18288" anchor="ctr">
                    <a:solidFill>
                      <a:srgbClr val="4285F4"/>
                    </a:solidFill>
                  </a:tcPr>
                </a:tc>
                <a:tc>
                  <a:txBody>
                    <a:bodyPr wrap="square"/>
                    <a:lstStyle/>
                    <a:p>
                      <a:pPr algn="r"/>
                      <a:r>
                        <a:rPr sz="950" b="1" i="0">
                          <a:solidFill>
                            <a:srgbClr val="FFFFFF"/>
                          </a:solidFill>
                          <a:latin typeface="Arial"/>
                        </a:rPr>
                        <a:t>Out B</a:t>
                      </a:r>
                    </a:p>
                  </a:txBody>
                  <a:tcPr marL="54864" marR="54864" marT="18288" marB="18288" anchor="ctr">
                    <a:solidFill>
                      <a:srgbClr val="4285F4"/>
                    </a:solidFill>
                  </a:tcPr>
                </a:tc>
                <a:tc>
                  <a:txBody>
                    <a:bodyPr wrap="square"/>
                    <a:lstStyle/>
                    <a:p>
                      <a:pPr algn="r"/>
                      <a:r>
                        <a:rPr sz="950" b="1" i="0">
                          <a:solidFill>
                            <a:srgbClr val="FFFFFF"/>
                          </a:solidFill>
                          <a:latin typeface="Arial"/>
                        </a:rPr>
                        <a:t>Matches</a:t>
                      </a:r>
                    </a:p>
                  </a:txBody>
                  <a:tcPr marL="54864" marR="54864" marT="18288" marB="18288" anchor="ctr">
                    <a:solidFill>
                      <a:srgbClr val="4285F4"/>
                    </a:solidFill>
                  </a:tcPr>
                </a:tc>
                <a:tc>
                  <a:txBody>
                    <a:bodyPr wrap="square"/>
                    <a:lstStyle/>
                    <a:p>
                      <a:pPr algn="r"/>
                      <a:r>
                        <a:rPr sz="950" b="1" i="0">
                          <a:solidFill>
                            <a:srgbClr val="FFFFFF"/>
                          </a:solidFill>
                          <a:latin typeface="Arial"/>
                        </a:rPr>
                        <a:t>ρ</a:t>
                      </a:r>
                    </a:p>
                  </a:txBody>
                  <a:tcPr marL="54864" marR="54864" marT="18288" marB="18288" anchor="ctr">
                    <a:solidFill>
                      <a:srgbClr val="4285F4"/>
                    </a:solidFill>
                  </a:tcPr>
                </a:tc>
              </a:tr>
              <a:tr h="265176">
                <a:tc>
                  <a:txBody>
                    <a:bodyPr wrap="square"/>
                    <a:lstStyle/>
                    <a:p>
                      <a:pPr algn="r"/>
                      <a:r>
                        <a:rPr sz="950" b="0" i="0">
                          <a:solidFill>
                            <a:srgbClr val="595959"/>
                          </a:solidFill>
                          <a:latin typeface="Arial"/>
                        </a:rPr>
                        <a:t>1242</a:t>
                      </a:r>
                    </a:p>
                  </a:txBody>
                  <a:tcPr marL="54864" marR="54864" marT="18288" marB="18288" anchor="ctr">
                    <a:solidFill>
                      <a:srgbClr val="FFFFFF"/>
                    </a:solidFill>
                  </a:tcPr>
                </a:tc>
                <a:tc>
                  <a:txBody>
                    <a:bodyPr wrap="square"/>
                    <a:lstStyle/>
                    <a:p>
                      <a:pPr algn="l"/>
                      <a:r>
                        <a:rPr sz="950" b="0" i="0">
                          <a:solidFill>
                            <a:srgbClr val="595959"/>
                          </a:solidFill>
                          <a:latin typeface="Arial"/>
                        </a:rPr>
                        <a:t>dynamic</a:t>
                      </a:r>
                    </a:p>
                  </a:txBody>
                  <a:tcPr marL="54864" marR="54864" marT="18288" marB="18288" anchor="ctr">
                    <a:solidFill>
                      <a:srgbClr val="FFFFFF"/>
                    </a:solidFill>
                  </a:tcPr>
                </a:tc>
                <a:tc>
                  <a:txBody>
                    <a:bodyPr wrap="square"/>
                    <a:lstStyle/>
                    <a:p>
                      <a:pPr algn="r"/>
                      <a:r>
                        <a:rPr sz="950" b="0" i="0">
                          <a:solidFill>
                            <a:srgbClr val="595959"/>
                          </a:solidFill>
                          <a:latin typeface="Arial"/>
                        </a:rPr>
                        <a:t>228,422</a:t>
                      </a:r>
                    </a:p>
                  </a:txBody>
                  <a:tcPr marL="54864" marR="54864" marT="18288" marB="18288" anchor="ctr">
                    <a:solidFill>
                      <a:srgbClr val="FFFFFF"/>
                    </a:solidFill>
                  </a:tcPr>
                </a:tc>
                <a:tc>
                  <a:txBody>
                    <a:bodyPr wrap="square"/>
                    <a:lstStyle/>
                    <a:p>
                      <a:pPr algn="r"/>
                      <a:r>
                        <a:rPr sz="950" b="0" i="0">
                          <a:solidFill>
                            <a:srgbClr val="595959"/>
                          </a:solidFill>
                          <a:latin typeface="Arial"/>
                        </a:rPr>
                        <a:t>255,724</a:t>
                      </a:r>
                    </a:p>
                  </a:txBody>
                  <a:tcPr marL="54864" marR="54864" marT="18288" marB="18288" anchor="ctr">
                    <a:solidFill>
                      <a:srgbClr val="FFFFFF"/>
                    </a:solidFill>
                  </a:tcPr>
                </a:tc>
                <a:tc>
                  <a:txBody>
                    <a:bodyPr wrap="square"/>
                    <a:lstStyle/>
                    <a:p>
                      <a:pPr algn="r"/>
                      <a:r>
                        <a:rPr sz="950" b="0" i="0">
                          <a:solidFill>
                            <a:srgbClr val="595959"/>
                          </a:solidFill>
                          <a:latin typeface="Arial"/>
                        </a:rPr>
                        <a:t>9,188</a:t>
                      </a:r>
                    </a:p>
                  </a:txBody>
                  <a:tcPr marL="54864" marR="54864" marT="18288" marB="18288" anchor="ctr">
                    <a:solidFill>
                      <a:srgbClr val="FFFFFF"/>
                    </a:solidFill>
                  </a:tcPr>
                </a:tc>
                <a:tc>
                  <a:txBody>
                    <a:bodyPr wrap="square"/>
                    <a:lstStyle/>
                    <a:p>
                      <a:pPr algn="r"/>
                      <a:r>
                        <a:rPr sz="950" b="0" i="0">
                          <a:solidFill>
                            <a:srgbClr val="595959"/>
                          </a:solidFill>
                          <a:latin typeface="Arial"/>
                        </a:rPr>
                        <a:t>8.96</a:t>
                      </a:r>
                    </a:p>
                  </a:txBody>
                  <a:tcPr marL="54864" marR="54864" marT="18288" marB="18288" anchor="ctr">
                    <a:solidFill>
                      <a:srgbClr val="FFFFFF"/>
                    </a:solidFill>
                  </a:tcPr>
                </a:tc>
              </a:tr>
              <a:tr h="265176">
                <a:tc>
                  <a:txBody>
                    <a:bodyPr wrap="square"/>
                    <a:lstStyle/>
                    <a:p>
                      <a:pPr algn="r"/>
                      <a:r>
                        <a:rPr sz="950" b="0" i="0">
                          <a:solidFill>
                            <a:srgbClr val="595959"/>
                          </a:solidFill>
                          <a:latin typeface="Arial"/>
                        </a:rPr>
                        <a:t>1243</a:t>
                      </a:r>
                    </a:p>
                  </a:txBody>
                  <a:tcPr marL="54864" marR="54864" marT="18288" marB="18288" anchor="ctr">
                    <a:solidFill>
                      <a:srgbClr val="F1F3F4"/>
                    </a:solidFill>
                  </a:tcPr>
                </a:tc>
                <a:tc>
                  <a:txBody>
                    <a:bodyPr wrap="square"/>
                    <a:lstStyle/>
                    <a:p>
                      <a:pPr algn="l"/>
                      <a:r>
                        <a:rPr sz="950" b="0" i="0">
                          <a:solidFill>
                            <a:srgbClr val="595959"/>
                          </a:solidFill>
                          <a:latin typeface="Arial"/>
                        </a:rPr>
                        <a:t>dynamic</a:t>
                      </a:r>
                    </a:p>
                  </a:txBody>
                  <a:tcPr marL="54864" marR="54864" marT="18288" marB="18288" anchor="ctr">
                    <a:solidFill>
                      <a:srgbClr val="F1F3F4"/>
                    </a:solidFill>
                  </a:tcPr>
                </a:tc>
                <a:tc>
                  <a:txBody>
                    <a:bodyPr wrap="square"/>
                    <a:lstStyle/>
                    <a:p>
                      <a:pPr algn="r"/>
                      <a:r>
                        <a:rPr sz="950" b="0" i="0">
                          <a:solidFill>
                            <a:srgbClr val="595959"/>
                          </a:solidFill>
                          <a:latin typeface="Arial"/>
                        </a:rPr>
                        <a:t>228,542</a:t>
                      </a:r>
                    </a:p>
                  </a:txBody>
                  <a:tcPr marL="54864" marR="54864" marT="18288" marB="18288" anchor="ctr">
                    <a:solidFill>
                      <a:srgbClr val="F1F3F4"/>
                    </a:solidFill>
                  </a:tcPr>
                </a:tc>
                <a:tc>
                  <a:txBody>
                    <a:bodyPr wrap="square"/>
                    <a:lstStyle/>
                    <a:p>
                      <a:pPr algn="r"/>
                      <a:r>
                        <a:rPr sz="950" b="0" i="0">
                          <a:solidFill>
                            <a:srgbClr val="595959"/>
                          </a:solidFill>
                          <a:latin typeface="Arial"/>
                        </a:rPr>
                        <a:t>250,915</a:t>
                      </a:r>
                    </a:p>
                  </a:txBody>
                  <a:tcPr marL="54864" marR="54864" marT="18288" marB="18288" anchor="ctr">
                    <a:solidFill>
                      <a:srgbClr val="F1F3F4"/>
                    </a:solidFill>
                  </a:tcPr>
                </a:tc>
                <a:tc>
                  <a:txBody>
                    <a:bodyPr wrap="square"/>
                    <a:lstStyle/>
                    <a:p>
                      <a:pPr algn="r"/>
                      <a:r>
                        <a:rPr sz="950" b="0" i="0">
                          <a:solidFill>
                            <a:srgbClr val="595959"/>
                          </a:solidFill>
                          <a:latin typeface="Arial"/>
                        </a:rPr>
                        <a:t>9,328</a:t>
                      </a:r>
                    </a:p>
                  </a:txBody>
                  <a:tcPr marL="54864" marR="54864" marT="18288" marB="18288" anchor="ctr">
                    <a:solidFill>
                      <a:srgbClr val="F1F3F4"/>
                    </a:solidFill>
                  </a:tcPr>
                </a:tc>
                <a:tc>
                  <a:txBody>
                    <a:bodyPr wrap="square"/>
                    <a:lstStyle/>
                    <a:p>
                      <a:pPr algn="r"/>
                      <a:r>
                        <a:rPr sz="950" b="0" i="0">
                          <a:solidFill>
                            <a:srgbClr val="595959"/>
                          </a:solidFill>
                          <a:latin typeface="Arial"/>
                        </a:rPr>
                        <a:t>8.78</a:t>
                      </a:r>
                    </a:p>
                  </a:txBody>
                  <a:tcPr marL="54864" marR="54864" marT="18288" marB="18288" anchor="ctr">
                    <a:solidFill>
                      <a:srgbClr val="F1F3F4"/>
                    </a:solidFill>
                  </a:tcPr>
                </a:tc>
              </a:tr>
              <a:tr h="265176">
                <a:tc>
                  <a:txBody>
                    <a:bodyPr wrap="square"/>
                    <a:lstStyle/>
                    <a:p>
                      <a:pPr algn="r"/>
                      <a:r>
                        <a:rPr sz="950" b="0" i="0">
                          <a:solidFill>
                            <a:srgbClr val="595959"/>
                          </a:solidFill>
                          <a:latin typeface="Arial"/>
                        </a:rPr>
                        <a:t>1244</a:t>
                      </a:r>
                    </a:p>
                  </a:txBody>
                  <a:tcPr marL="54864" marR="54864" marT="18288" marB="18288" anchor="ctr">
                    <a:solidFill>
                      <a:srgbClr val="FFFFFF"/>
                    </a:solidFill>
                  </a:tcPr>
                </a:tc>
                <a:tc>
                  <a:txBody>
                    <a:bodyPr wrap="square"/>
                    <a:lstStyle/>
                    <a:p>
                      <a:pPr algn="l"/>
                      <a:r>
                        <a:rPr sz="950" b="0" i="0">
                          <a:solidFill>
                            <a:srgbClr val="595959"/>
                          </a:solidFill>
                          <a:latin typeface="Arial"/>
                        </a:rPr>
                        <a:t>dynamic</a:t>
                      </a:r>
                    </a:p>
                  </a:txBody>
                  <a:tcPr marL="54864" marR="54864" marT="18288" marB="18288" anchor="ctr">
                    <a:solidFill>
                      <a:srgbClr val="FFFFFF"/>
                    </a:solidFill>
                  </a:tcPr>
                </a:tc>
                <a:tc>
                  <a:txBody>
                    <a:bodyPr wrap="square"/>
                    <a:lstStyle/>
                    <a:p>
                      <a:pPr algn="r"/>
                      <a:r>
                        <a:rPr sz="950" b="0" i="0">
                          <a:solidFill>
                            <a:srgbClr val="595959"/>
                          </a:solidFill>
                          <a:latin typeface="Arial"/>
                        </a:rPr>
                        <a:t>188,734</a:t>
                      </a:r>
                    </a:p>
                  </a:txBody>
                  <a:tcPr marL="54864" marR="54864" marT="18288" marB="18288" anchor="ctr">
                    <a:solidFill>
                      <a:srgbClr val="FFFFFF"/>
                    </a:solidFill>
                  </a:tcPr>
                </a:tc>
                <a:tc>
                  <a:txBody>
                    <a:bodyPr wrap="square"/>
                    <a:lstStyle/>
                    <a:p>
                      <a:pPr algn="r"/>
                      <a:r>
                        <a:rPr sz="950" b="0" i="0">
                          <a:solidFill>
                            <a:srgbClr val="595959"/>
                          </a:solidFill>
                          <a:latin typeface="Arial"/>
                        </a:rPr>
                        <a:t>89,461</a:t>
                      </a:r>
                    </a:p>
                  </a:txBody>
                  <a:tcPr marL="54864" marR="54864" marT="18288" marB="18288" anchor="ctr">
                    <a:solidFill>
                      <a:srgbClr val="FFFFFF"/>
                    </a:solidFill>
                  </a:tcPr>
                </a:tc>
                <a:tc>
                  <a:txBody>
                    <a:bodyPr wrap="square"/>
                    <a:lstStyle/>
                    <a:p>
                      <a:pPr algn="r"/>
                      <a:r>
                        <a:rPr sz="950" b="0" i="0">
                          <a:solidFill>
                            <a:srgbClr val="595959"/>
                          </a:solidFill>
                          <a:latin typeface="Arial"/>
                        </a:rPr>
                        <a:t>5,717</a:t>
                      </a:r>
                    </a:p>
                  </a:txBody>
                  <a:tcPr marL="54864" marR="54864" marT="18288" marB="18288" anchor="ctr">
                    <a:solidFill>
                      <a:srgbClr val="FFFFFF"/>
                    </a:solidFill>
                  </a:tcPr>
                </a:tc>
                <a:tc>
                  <a:txBody>
                    <a:bodyPr wrap="square"/>
                    <a:lstStyle/>
                    <a:p>
                      <a:pPr algn="r"/>
                      <a:r>
                        <a:rPr sz="950" b="0" i="0">
                          <a:solidFill>
                            <a:srgbClr val="595959"/>
                          </a:solidFill>
                          <a:latin typeface="Arial"/>
                        </a:rPr>
                        <a:t>3.79</a:t>
                      </a:r>
                    </a:p>
                  </a:txBody>
                  <a:tcPr marL="54864" marR="54864" marT="18288" marB="18288" anchor="ctr">
                    <a:solidFill>
                      <a:srgbClr val="FFFFFF"/>
                    </a:solidFill>
                  </a:tcPr>
                </a:tc>
              </a:tr>
              <a:tr h="265176">
                <a:tc>
                  <a:txBody>
                    <a:bodyPr wrap="square"/>
                    <a:lstStyle/>
                    <a:p>
                      <a:pPr algn="r"/>
                      <a:r>
                        <a:rPr sz="950" b="0" i="0">
                          <a:solidFill>
                            <a:srgbClr val="595959"/>
                          </a:solidFill>
                          <a:latin typeface="Arial"/>
                        </a:rPr>
                        <a:t>1245</a:t>
                      </a:r>
                    </a:p>
                  </a:txBody>
                  <a:tcPr marL="54864" marR="54864" marT="18288" marB="18288" anchor="ctr">
                    <a:solidFill>
                      <a:srgbClr val="F1F3F4"/>
                    </a:solidFill>
                  </a:tcPr>
                </a:tc>
                <a:tc>
                  <a:txBody>
                    <a:bodyPr wrap="square"/>
                    <a:lstStyle/>
                    <a:p>
                      <a:pPr algn="l"/>
                      <a:r>
                        <a:rPr sz="950" b="0" i="0">
                          <a:solidFill>
                            <a:srgbClr val="595959"/>
                          </a:solidFill>
                          <a:latin typeface="Arial"/>
                        </a:rPr>
                        <a:t>dynamic</a:t>
                      </a:r>
                    </a:p>
                  </a:txBody>
                  <a:tcPr marL="54864" marR="54864" marT="18288" marB="18288" anchor="ctr">
                    <a:solidFill>
                      <a:srgbClr val="F1F3F4"/>
                    </a:solidFill>
                  </a:tcPr>
                </a:tc>
                <a:tc>
                  <a:txBody>
                    <a:bodyPr wrap="square"/>
                    <a:lstStyle/>
                    <a:p>
                      <a:pPr algn="r"/>
                      <a:r>
                        <a:rPr sz="950" b="0" i="0">
                          <a:solidFill>
                            <a:srgbClr val="595959"/>
                          </a:solidFill>
                          <a:latin typeface="Arial"/>
                        </a:rPr>
                        <a:t>181,854</a:t>
                      </a:r>
                    </a:p>
                  </a:txBody>
                  <a:tcPr marL="54864" marR="54864" marT="18288" marB="18288" anchor="ctr">
                    <a:solidFill>
                      <a:srgbClr val="F1F3F4"/>
                    </a:solidFill>
                  </a:tcPr>
                </a:tc>
                <a:tc>
                  <a:txBody>
                    <a:bodyPr wrap="square"/>
                    <a:lstStyle/>
                    <a:p>
                      <a:pPr algn="r"/>
                      <a:r>
                        <a:rPr sz="950" b="0" i="0">
                          <a:solidFill>
                            <a:srgbClr val="595959"/>
                          </a:solidFill>
                          <a:latin typeface="Arial"/>
                        </a:rPr>
                        <a:t>40,749</a:t>
                      </a:r>
                    </a:p>
                  </a:txBody>
                  <a:tcPr marL="54864" marR="54864" marT="18288" marB="18288" anchor="ctr">
                    <a:solidFill>
                      <a:srgbClr val="F1F3F4"/>
                    </a:solidFill>
                  </a:tcPr>
                </a:tc>
                <a:tc>
                  <a:txBody>
                    <a:bodyPr wrap="square"/>
                    <a:lstStyle/>
                    <a:p>
                      <a:pPr algn="r"/>
                      <a:r>
                        <a:rPr sz="950" b="0" i="0">
                          <a:solidFill>
                            <a:srgbClr val="595959"/>
                          </a:solidFill>
                          <a:latin typeface="Arial"/>
                        </a:rPr>
                        <a:t>5,098</a:t>
                      </a:r>
                    </a:p>
                  </a:txBody>
                  <a:tcPr marL="54864" marR="54864" marT="18288" marB="18288" anchor="ctr">
                    <a:solidFill>
                      <a:srgbClr val="F1F3F4"/>
                    </a:solidFill>
                  </a:tcPr>
                </a:tc>
                <a:tc>
                  <a:txBody>
                    <a:bodyPr wrap="square"/>
                    <a:lstStyle/>
                    <a:p>
                      <a:pPr algn="r"/>
                      <a:r>
                        <a:rPr sz="950" b="1" i="0">
                          <a:solidFill>
                            <a:srgbClr val="B06000"/>
                          </a:solidFill>
                          <a:latin typeface="Arial"/>
                        </a:rPr>
                        <a:t>1.79</a:t>
                      </a:r>
                    </a:p>
                  </a:txBody>
                  <a:tcPr marL="54864" marR="54864" marT="18288" marB="18288" anchor="ctr">
                    <a:solidFill>
                      <a:srgbClr val="FFF4E5"/>
                    </a:solidFill>
                  </a:tcPr>
                </a:tc>
              </a:tr>
              <a:tr h="265176">
                <a:tc>
                  <a:txBody>
                    <a:bodyPr wrap="square"/>
                    <a:lstStyle/>
                    <a:p>
                      <a:pPr algn="r"/>
                      <a:r>
                        <a:rPr sz="950" b="0" i="0">
                          <a:solidFill>
                            <a:srgbClr val="595959"/>
                          </a:solidFill>
                          <a:latin typeface="Arial"/>
                        </a:rPr>
                        <a:t>1246</a:t>
                      </a:r>
                    </a:p>
                  </a:txBody>
                  <a:tcPr marL="54864" marR="54864" marT="18288" marB="18288" anchor="ctr">
                    <a:solidFill>
                      <a:srgbClr val="FFFFFF"/>
                    </a:solidFill>
                  </a:tcPr>
                </a:tc>
                <a:tc>
                  <a:txBody>
                    <a:bodyPr wrap="square"/>
                    <a:lstStyle/>
                    <a:p>
                      <a:pPr algn="l"/>
                      <a:r>
                        <a:rPr sz="950" b="0" i="0">
                          <a:solidFill>
                            <a:srgbClr val="595959"/>
                          </a:solidFill>
                          <a:latin typeface="Arial"/>
                        </a:rPr>
                        <a:t>dynamic</a:t>
                      </a:r>
                    </a:p>
                  </a:txBody>
                  <a:tcPr marL="54864" marR="54864" marT="18288" marB="18288" anchor="ctr">
                    <a:solidFill>
                      <a:srgbClr val="FFFFFF"/>
                    </a:solidFill>
                  </a:tcPr>
                </a:tc>
                <a:tc>
                  <a:txBody>
                    <a:bodyPr wrap="square"/>
                    <a:lstStyle/>
                    <a:p>
                      <a:pPr algn="r"/>
                      <a:r>
                        <a:rPr sz="950" b="0" i="0">
                          <a:solidFill>
                            <a:srgbClr val="595959"/>
                          </a:solidFill>
                          <a:latin typeface="Arial"/>
                        </a:rPr>
                        <a:t>184,028</a:t>
                      </a:r>
                    </a:p>
                  </a:txBody>
                  <a:tcPr marL="54864" marR="54864" marT="18288" marB="18288" anchor="ctr">
                    <a:solidFill>
                      <a:srgbClr val="FFFFFF"/>
                    </a:solidFill>
                  </a:tcPr>
                </a:tc>
                <a:tc>
                  <a:txBody>
                    <a:bodyPr wrap="square"/>
                    <a:lstStyle/>
                    <a:p>
                      <a:pPr algn="r"/>
                      <a:r>
                        <a:rPr sz="950" b="0" i="0">
                          <a:solidFill>
                            <a:srgbClr val="595959"/>
                          </a:solidFill>
                          <a:latin typeface="Arial"/>
                        </a:rPr>
                        <a:t>42,317</a:t>
                      </a:r>
                    </a:p>
                  </a:txBody>
                  <a:tcPr marL="54864" marR="54864" marT="18288" marB="18288" anchor="ctr">
                    <a:solidFill>
                      <a:srgbClr val="FFFFFF"/>
                    </a:solidFill>
                  </a:tcPr>
                </a:tc>
                <a:tc>
                  <a:txBody>
                    <a:bodyPr wrap="square"/>
                    <a:lstStyle/>
                    <a:p>
                      <a:pPr algn="r"/>
                      <a:r>
                        <a:rPr sz="950" b="0" i="0">
                          <a:solidFill>
                            <a:srgbClr val="595959"/>
                          </a:solidFill>
                          <a:latin typeface="Arial"/>
                        </a:rPr>
                        <a:t>5,227</a:t>
                      </a:r>
                    </a:p>
                  </a:txBody>
                  <a:tcPr marL="54864" marR="54864" marT="18288" marB="18288" anchor="ctr">
                    <a:solidFill>
                      <a:srgbClr val="FFFFFF"/>
                    </a:solidFill>
                  </a:tcPr>
                </a:tc>
                <a:tc>
                  <a:txBody>
                    <a:bodyPr wrap="square"/>
                    <a:lstStyle/>
                    <a:p>
                      <a:pPr algn="r"/>
                      <a:r>
                        <a:rPr sz="950" b="1" i="0">
                          <a:solidFill>
                            <a:srgbClr val="B06000"/>
                          </a:solidFill>
                          <a:latin typeface="Arial"/>
                        </a:rPr>
                        <a:t>1.84</a:t>
                      </a:r>
                    </a:p>
                  </a:txBody>
                  <a:tcPr marL="54864" marR="54864" marT="18288" marB="18288" anchor="ctr">
                    <a:solidFill>
                      <a:srgbClr val="FFF4E5"/>
                    </a:solidFill>
                  </a:tcPr>
                </a:tc>
              </a:tr>
            </a:tbl>
          </a:graphicData>
        </a:graphic>
      </p:graphicFrame>
      <p:sp>
        <p:nvSpPr>
          <p:cNvPr id="67" name="TextBox 66"/>
          <p:cNvSpPr txBox="1"/>
          <p:nvPr/>
        </p:nvSpPr>
        <p:spPr>
          <a:xfrm>
            <a:off x="4672584" y="3995928"/>
            <a:ext cx="4160520" cy="548640"/>
          </a:xfrm>
          <a:prstGeom prst="rect">
            <a:avLst/>
          </a:prstGeom>
          <a:noFill/>
        </p:spPr>
        <p:txBody>
          <a:bodyPr wrap="square" lIns="0" rIns="0" tIns="0" bIns="0" anchor="t">
            <a:spAutoFit/>
          </a:bodyPr>
          <a:lstStyle/>
          <a:p>
            <a:pPr algn="l"/>
            <a:r>
              <a:rPr sz="850" b="0" i="1">
                <a:solidFill>
                  <a:srgbClr val="78909C"/>
                </a:solidFill>
                <a:latin typeface="Arial"/>
              </a:rPr>
              <a:t>Inside one archive: similar compressed size, but output per block falls from ~255 KB to ~41 KB (ρ 9.0 → 1.8): about 6× less memory for about 2× less modelled decode work.</a:t>
            </a:r>
          </a:p>
        </p:txBody>
      </p:sp>
      <p:graphicFrame>
        <p:nvGraphicFramePr>
          <p:cNvPr id="68" name="Table 67"/>
          <p:cNvGraphicFramePr>
            <a:graphicFrameLocks noGrp="1"/>
          </p:cNvGraphicFramePr>
          <p:nvPr/>
        </p:nvGraphicFramePr>
        <p:xfrm>
          <a:off x="310896" y="2304288"/>
          <a:ext cx="4160520" cy="2377440"/>
        </p:xfrm>
        <a:graphic>
          <a:graphicData uri="http://schemas.openxmlformats.org/drawingml/2006/table">
            <a:tbl>
              <a:tblPr firstRow="1"/>
              <a:tblGrid>
                <a:gridCol w="777240"/>
                <a:gridCol w="640080"/>
                <a:gridCol w="685800"/>
                <a:gridCol w="548640"/>
                <a:gridCol w="594360"/>
                <a:gridCol w="914400"/>
              </a:tblGrid>
              <a:tr h="182880">
                <a:tc>
                  <a:txBody>
                    <a:bodyPr wrap="square"/>
                    <a:lstStyle/>
                    <a:p>
                      <a:pPr algn="l"/>
                      <a:r>
                        <a:rPr sz="800" b="1" i="0">
                          <a:solidFill>
                            <a:srgbClr val="FFFFFF"/>
                          </a:solidFill>
                          <a:latin typeface="Arial"/>
                        </a:rPr>
                        <a:t>File</a:t>
                      </a:r>
                    </a:p>
                  </a:txBody>
                  <a:tcPr marL="54864" marR="54864" marT="18288" marB="18288" anchor="ctr">
                    <a:solidFill>
                      <a:srgbClr val="4285F4"/>
                    </a:solidFill>
                  </a:tcPr>
                </a:tc>
                <a:tc>
                  <a:txBody>
                    <a:bodyPr wrap="square"/>
                    <a:lstStyle/>
                    <a:p>
                      <a:pPr algn="r"/>
                      <a:r>
                        <a:rPr sz="800" b="1" i="0">
                          <a:solidFill>
                            <a:srgbClr val="FFFFFF"/>
                          </a:solidFill>
                          <a:latin typeface="Arial"/>
                        </a:rPr>
                        <a:t>In MiB</a:t>
                      </a:r>
                    </a:p>
                  </a:txBody>
                  <a:tcPr marL="54864" marR="54864" marT="18288" marB="18288" anchor="ctr">
                    <a:solidFill>
                      <a:srgbClr val="4285F4"/>
                    </a:solidFill>
                  </a:tcPr>
                </a:tc>
                <a:tc>
                  <a:txBody>
                    <a:bodyPr wrap="square"/>
                    <a:lstStyle/>
                    <a:p>
                      <a:pPr algn="r"/>
                      <a:r>
                        <a:rPr sz="800" b="1" i="0">
                          <a:solidFill>
                            <a:srgbClr val="FFFFFF"/>
                          </a:solidFill>
                          <a:latin typeface="Arial"/>
                        </a:rPr>
                        <a:t>Out MiB</a:t>
                      </a:r>
                    </a:p>
                  </a:txBody>
                  <a:tcPr marL="54864" marR="54864" marT="18288" marB="18288" anchor="ctr">
                    <a:solidFill>
                      <a:srgbClr val="4285F4"/>
                    </a:solidFill>
                  </a:tcPr>
                </a:tc>
                <a:tc>
                  <a:txBody>
                    <a:bodyPr wrap="square"/>
                    <a:lstStyle/>
                    <a:p>
                      <a:pPr algn="r"/>
                      <a:r>
                        <a:rPr sz="800" b="1" i="0">
                          <a:solidFill>
                            <a:srgbClr val="FFFFFF"/>
                          </a:solidFill>
                          <a:latin typeface="Arial"/>
                        </a:rPr>
                        <a:t>Ratio</a:t>
                      </a:r>
                    </a:p>
                  </a:txBody>
                  <a:tcPr marL="54864" marR="54864" marT="18288" marB="18288" anchor="ctr">
                    <a:solidFill>
                      <a:srgbClr val="4285F4"/>
                    </a:solidFill>
                  </a:tcPr>
                </a:tc>
                <a:tc>
                  <a:txBody>
                    <a:bodyPr wrap="square"/>
                    <a:lstStyle/>
                    <a:p>
                      <a:pPr algn="r"/>
                      <a:r>
                        <a:rPr sz="800" b="1" i="0">
                          <a:solidFill>
                            <a:srgbClr val="FFFFFF"/>
                          </a:solidFill>
                          <a:latin typeface="Arial"/>
                        </a:rPr>
                        <a:t>Blocks</a:t>
                      </a:r>
                    </a:p>
                  </a:txBody>
                  <a:tcPr marL="54864" marR="54864" marT="18288" marB="18288" anchor="ctr">
                    <a:solidFill>
                      <a:srgbClr val="4285F4"/>
                    </a:solidFill>
                  </a:tcPr>
                </a:tc>
                <a:tc>
                  <a:txBody>
                    <a:bodyPr wrap="square"/>
                    <a:lstStyle/>
                    <a:p>
                      <a:pPr algn="r"/>
                      <a:r>
                        <a:rPr sz="800" b="1" i="0">
                          <a:solidFill>
                            <a:srgbClr val="FFFFFF"/>
                          </a:solidFill>
                          <a:latin typeface="Arial"/>
                        </a:rPr>
                        <a:t>ρ mean ± sd</a:t>
                      </a:r>
                    </a:p>
                  </a:txBody>
                  <a:tcPr marL="54864" marR="54864" marT="18288" marB="18288" anchor="ctr">
                    <a:solidFill>
                      <a:srgbClr val="4285F4"/>
                    </a:solidFill>
                  </a:tcPr>
                </a:tc>
              </a:tr>
              <a:tr h="182880">
                <a:tc>
                  <a:txBody>
                    <a:bodyPr wrap="square"/>
                    <a:lstStyle/>
                    <a:p>
                      <a:pPr algn="l"/>
                      <a:r>
                        <a:rPr sz="800" b="0" i="0">
                          <a:solidFill>
                            <a:srgbClr val="595959"/>
                          </a:solidFill>
                          <a:latin typeface="Arial"/>
                        </a:rPr>
                        <a:t>dickens</a:t>
                      </a:r>
                    </a:p>
                  </a:txBody>
                  <a:tcPr marL="54864" marR="54864" marT="18288" marB="18288" anchor="ctr">
                    <a:solidFill>
                      <a:srgbClr val="FFFFFF"/>
                    </a:solidFill>
                  </a:tcPr>
                </a:tc>
                <a:tc>
                  <a:txBody>
                    <a:bodyPr wrap="square"/>
                    <a:lstStyle/>
                    <a:p>
                      <a:pPr algn="r"/>
                      <a:r>
                        <a:rPr sz="800" b="0" i="0">
                          <a:solidFill>
                            <a:srgbClr val="595959"/>
                          </a:solidFill>
                          <a:latin typeface="Arial"/>
                        </a:rPr>
                        <a:t>3.69</a:t>
                      </a:r>
                    </a:p>
                  </a:txBody>
                  <a:tcPr marL="54864" marR="54864" marT="18288" marB="18288" anchor="ctr">
                    <a:solidFill>
                      <a:srgbClr val="FFFFFF"/>
                    </a:solidFill>
                  </a:tcPr>
                </a:tc>
                <a:tc>
                  <a:txBody>
                    <a:bodyPr wrap="square"/>
                    <a:lstStyle/>
                    <a:p>
                      <a:pPr algn="r"/>
                      <a:r>
                        <a:rPr sz="800" b="0" i="0">
                          <a:solidFill>
                            <a:srgbClr val="595959"/>
                          </a:solidFill>
                          <a:latin typeface="Arial"/>
                        </a:rPr>
                        <a:t>9.72</a:t>
                      </a:r>
                    </a:p>
                  </a:txBody>
                  <a:tcPr marL="54864" marR="54864" marT="18288" marB="18288" anchor="ctr">
                    <a:solidFill>
                      <a:srgbClr val="FFFFFF"/>
                    </a:solidFill>
                  </a:tcPr>
                </a:tc>
                <a:tc>
                  <a:txBody>
                    <a:bodyPr wrap="square"/>
                    <a:lstStyle/>
                    <a:p>
                      <a:pPr algn="r"/>
                      <a:r>
                        <a:rPr sz="800" b="0" i="0">
                          <a:solidFill>
                            <a:srgbClr val="595959"/>
                          </a:solidFill>
                          <a:latin typeface="Arial"/>
                        </a:rPr>
                        <a:t>2.63</a:t>
                      </a:r>
                    </a:p>
                  </a:txBody>
                  <a:tcPr marL="54864" marR="54864" marT="18288" marB="18288" anchor="ctr">
                    <a:solidFill>
                      <a:srgbClr val="FFFFFF"/>
                    </a:solidFill>
                  </a:tcPr>
                </a:tc>
                <a:tc>
                  <a:txBody>
                    <a:bodyPr wrap="square"/>
                    <a:lstStyle/>
                    <a:p>
                      <a:pPr algn="r"/>
                      <a:r>
                        <a:rPr sz="800" b="0" i="0">
                          <a:solidFill>
                            <a:srgbClr val="595959"/>
                          </a:solidFill>
                          <a:latin typeface="Arial"/>
                        </a:rPr>
                        <a:t>127</a:t>
                      </a:r>
                    </a:p>
                  </a:txBody>
                  <a:tcPr marL="54864" marR="54864" marT="18288" marB="18288" anchor="ctr">
                    <a:solidFill>
                      <a:srgbClr val="FFFFFF"/>
                    </a:solidFill>
                  </a:tcPr>
                </a:tc>
                <a:tc>
                  <a:txBody>
                    <a:bodyPr wrap="square"/>
                    <a:lstStyle/>
                    <a:p>
                      <a:pPr algn="r"/>
                      <a:r>
                        <a:rPr sz="800" b="0" i="0">
                          <a:solidFill>
                            <a:srgbClr val="595959"/>
                          </a:solidFill>
                          <a:latin typeface="Arial"/>
                        </a:rPr>
                        <a:t>2.63 ± 0.05</a:t>
                      </a:r>
                    </a:p>
                  </a:txBody>
                  <a:tcPr marL="54864" marR="54864" marT="18288" marB="18288" anchor="ctr">
                    <a:solidFill>
                      <a:srgbClr val="FFFFFF"/>
                    </a:solidFill>
                  </a:tcPr>
                </a:tc>
              </a:tr>
              <a:tr h="182880">
                <a:tc>
                  <a:txBody>
                    <a:bodyPr wrap="square"/>
                    <a:lstStyle/>
                    <a:p>
                      <a:pPr algn="l"/>
                      <a:r>
                        <a:rPr sz="800" b="0" i="0">
                          <a:solidFill>
                            <a:srgbClr val="595959"/>
                          </a:solidFill>
                          <a:latin typeface="Arial"/>
                        </a:rPr>
                        <a:t>mozilla</a:t>
                      </a:r>
                    </a:p>
                  </a:txBody>
                  <a:tcPr marL="54864" marR="54864" marT="18288" marB="18288" anchor="ctr">
                    <a:solidFill>
                      <a:srgbClr val="F1F3F4"/>
                    </a:solidFill>
                  </a:tcPr>
                </a:tc>
                <a:tc>
                  <a:txBody>
                    <a:bodyPr wrap="square"/>
                    <a:lstStyle/>
                    <a:p>
                      <a:pPr algn="r"/>
                      <a:r>
                        <a:rPr sz="800" b="0" i="0">
                          <a:solidFill>
                            <a:srgbClr val="595959"/>
                          </a:solidFill>
                          <a:latin typeface="Arial"/>
                        </a:rPr>
                        <a:t>18.20</a:t>
                      </a:r>
                    </a:p>
                  </a:txBody>
                  <a:tcPr marL="54864" marR="54864" marT="18288" marB="18288" anchor="ctr">
                    <a:solidFill>
                      <a:srgbClr val="F1F3F4"/>
                    </a:solidFill>
                  </a:tcPr>
                </a:tc>
                <a:tc>
                  <a:txBody>
                    <a:bodyPr wrap="square"/>
                    <a:lstStyle/>
                    <a:p>
                      <a:pPr algn="r"/>
                      <a:r>
                        <a:rPr sz="800" b="0" i="0">
                          <a:solidFill>
                            <a:srgbClr val="595959"/>
                          </a:solidFill>
                          <a:latin typeface="Arial"/>
                        </a:rPr>
                        <a:t>48.85</a:t>
                      </a:r>
                    </a:p>
                  </a:txBody>
                  <a:tcPr marL="54864" marR="54864" marT="18288" marB="18288" anchor="ctr">
                    <a:solidFill>
                      <a:srgbClr val="F1F3F4"/>
                    </a:solidFill>
                  </a:tcPr>
                </a:tc>
                <a:tc>
                  <a:txBody>
                    <a:bodyPr wrap="square"/>
                    <a:lstStyle/>
                    <a:p>
                      <a:pPr algn="r"/>
                      <a:r>
                        <a:rPr sz="800" b="0" i="0">
                          <a:solidFill>
                            <a:srgbClr val="595959"/>
                          </a:solidFill>
                          <a:latin typeface="Arial"/>
                        </a:rPr>
                        <a:t>2.68</a:t>
                      </a:r>
                    </a:p>
                  </a:txBody>
                  <a:tcPr marL="54864" marR="54864" marT="18288" marB="18288" anchor="ctr">
                    <a:solidFill>
                      <a:srgbClr val="F1F3F4"/>
                    </a:solidFill>
                  </a:tcPr>
                </a:tc>
                <a:tc>
                  <a:txBody>
                    <a:bodyPr wrap="square"/>
                    <a:lstStyle/>
                    <a:p>
                      <a:pPr algn="r"/>
                      <a:r>
                        <a:rPr sz="800" b="0" i="0">
                          <a:solidFill>
                            <a:srgbClr val="595959"/>
                          </a:solidFill>
                          <a:latin typeface="Arial"/>
                        </a:rPr>
                        <a:t>870</a:t>
                      </a:r>
                    </a:p>
                  </a:txBody>
                  <a:tcPr marL="54864" marR="54864" marT="18288" marB="18288" anchor="ctr">
                    <a:solidFill>
                      <a:srgbClr val="F1F3F4"/>
                    </a:solidFill>
                  </a:tcPr>
                </a:tc>
                <a:tc>
                  <a:txBody>
                    <a:bodyPr wrap="square"/>
                    <a:lstStyle/>
                    <a:p>
                      <a:pPr algn="r"/>
                      <a:r>
                        <a:rPr sz="800" b="0" i="0">
                          <a:solidFill>
                            <a:srgbClr val="595959"/>
                          </a:solidFill>
                          <a:latin typeface="Arial"/>
                        </a:rPr>
                        <a:t>2.58 ± 1.31</a:t>
                      </a:r>
                    </a:p>
                  </a:txBody>
                  <a:tcPr marL="54864" marR="54864" marT="18288" marB="18288" anchor="ctr">
                    <a:solidFill>
                      <a:srgbClr val="F1F3F4"/>
                    </a:solidFill>
                  </a:tcPr>
                </a:tc>
              </a:tr>
              <a:tr h="182880">
                <a:tc>
                  <a:txBody>
                    <a:bodyPr wrap="square"/>
                    <a:lstStyle/>
                    <a:p>
                      <a:pPr algn="l"/>
                      <a:r>
                        <a:rPr sz="800" b="0" i="0">
                          <a:solidFill>
                            <a:srgbClr val="595959"/>
                          </a:solidFill>
                          <a:latin typeface="Arial"/>
                        </a:rPr>
                        <a:t>mr</a:t>
                      </a:r>
                    </a:p>
                  </a:txBody>
                  <a:tcPr marL="54864" marR="54864" marT="18288" marB="18288" anchor="ctr">
                    <a:solidFill>
                      <a:srgbClr val="FFFFFF"/>
                    </a:solidFill>
                  </a:tcPr>
                </a:tc>
                <a:tc>
                  <a:txBody>
                    <a:bodyPr wrap="square"/>
                    <a:lstStyle/>
                    <a:p>
                      <a:pPr algn="r"/>
                      <a:r>
                        <a:rPr sz="800" b="0" i="0">
                          <a:solidFill>
                            <a:srgbClr val="595959"/>
                          </a:solidFill>
                          <a:latin typeface="Arial"/>
                        </a:rPr>
                        <a:t>3.51</a:t>
                      </a:r>
                    </a:p>
                  </a:txBody>
                  <a:tcPr marL="54864" marR="54864" marT="18288" marB="18288" anchor="ctr">
                    <a:solidFill>
                      <a:srgbClr val="FFFFFF"/>
                    </a:solidFill>
                  </a:tcPr>
                </a:tc>
                <a:tc>
                  <a:txBody>
                    <a:bodyPr wrap="square"/>
                    <a:lstStyle/>
                    <a:p>
                      <a:pPr algn="r"/>
                      <a:r>
                        <a:rPr sz="800" b="0" i="0">
                          <a:solidFill>
                            <a:srgbClr val="595959"/>
                          </a:solidFill>
                          <a:latin typeface="Arial"/>
                        </a:rPr>
                        <a:t>9.51</a:t>
                      </a:r>
                    </a:p>
                  </a:txBody>
                  <a:tcPr marL="54864" marR="54864" marT="18288" marB="18288" anchor="ctr">
                    <a:solidFill>
                      <a:srgbClr val="FFFFFF"/>
                    </a:solidFill>
                  </a:tcPr>
                </a:tc>
                <a:tc>
                  <a:txBody>
                    <a:bodyPr wrap="square"/>
                    <a:lstStyle/>
                    <a:p>
                      <a:pPr algn="r"/>
                      <a:r>
                        <a:rPr sz="800" b="0" i="0">
                          <a:solidFill>
                            <a:srgbClr val="595959"/>
                          </a:solidFill>
                          <a:latin typeface="Arial"/>
                        </a:rPr>
                        <a:t>2.71</a:t>
                      </a:r>
                    </a:p>
                  </a:txBody>
                  <a:tcPr marL="54864" marR="54864" marT="18288" marB="18288" anchor="ctr">
                    <a:solidFill>
                      <a:srgbClr val="FFFFFF"/>
                    </a:solidFill>
                  </a:tcPr>
                </a:tc>
                <a:tc>
                  <a:txBody>
                    <a:bodyPr wrap="square"/>
                    <a:lstStyle/>
                    <a:p>
                      <a:pPr algn="r"/>
                      <a:r>
                        <a:rPr sz="800" b="0" i="0">
                          <a:solidFill>
                            <a:srgbClr val="595959"/>
                          </a:solidFill>
                          <a:latin typeface="Arial"/>
                        </a:rPr>
                        <a:t>140</a:t>
                      </a:r>
                    </a:p>
                  </a:txBody>
                  <a:tcPr marL="54864" marR="54864" marT="18288" marB="18288" anchor="ctr">
                    <a:solidFill>
                      <a:srgbClr val="FFFFFF"/>
                    </a:solidFill>
                  </a:tcPr>
                </a:tc>
                <a:tc>
                  <a:txBody>
                    <a:bodyPr wrap="square"/>
                    <a:lstStyle/>
                    <a:p>
                      <a:pPr algn="r"/>
                      <a:r>
                        <a:rPr sz="800" b="0" i="0">
                          <a:solidFill>
                            <a:srgbClr val="595959"/>
                          </a:solidFill>
                          <a:latin typeface="Arial"/>
                        </a:rPr>
                        <a:t>2.69 ± 0.68</a:t>
                      </a:r>
                    </a:p>
                  </a:txBody>
                  <a:tcPr marL="54864" marR="54864" marT="18288" marB="18288" anchor="ctr">
                    <a:solidFill>
                      <a:srgbClr val="FFFFFF"/>
                    </a:solidFill>
                  </a:tcPr>
                </a:tc>
              </a:tr>
              <a:tr h="182880">
                <a:tc>
                  <a:txBody>
                    <a:bodyPr wrap="square"/>
                    <a:lstStyle/>
                    <a:p>
                      <a:pPr algn="l"/>
                      <a:r>
                        <a:rPr sz="800" b="0" i="0">
                          <a:solidFill>
                            <a:srgbClr val="595959"/>
                          </a:solidFill>
                          <a:latin typeface="Arial"/>
                        </a:rPr>
                        <a:t>nci</a:t>
                      </a:r>
                    </a:p>
                  </a:txBody>
                  <a:tcPr marL="54864" marR="54864" marT="18288" marB="18288" anchor="ctr">
                    <a:solidFill>
                      <a:srgbClr val="F1F3F4"/>
                    </a:solidFill>
                  </a:tcPr>
                </a:tc>
                <a:tc>
                  <a:txBody>
                    <a:bodyPr wrap="square"/>
                    <a:lstStyle/>
                    <a:p>
                      <a:pPr algn="r"/>
                      <a:r>
                        <a:rPr sz="800" b="0" i="0">
                          <a:solidFill>
                            <a:srgbClr val="595959"/>
                          </a:solidFill>
                          <a:latin typeface="Arial"/>
                        </a:rPr>
                        <a:t>3.05</a:t>
                      </a:r>
                    </a:p>
                  </a:txBody>
                  <a:tcPr marL="54864" marR="54864" marT="18288" marB="18288" anchor="ctr">
                    <a:solidFill>
                      <a:srgbClr val="F1F3F4"/>
                    </a:solidFill>
                  </a:tcPr>
                </a:tc>
                <a:tc>
                  <a:txBody>
                    <a:bodyPr wrap="square"/>
                    <a:lstStyle/>
                    <a:p>
                      <a:pPr algn="r"/>
                      <a:r>
                        <a:rPr sz="800" b="0" i="0">
                          <a:solidFill>
                            <a:srgbClr val="595959"/>
                          </a:solidFill>
                          <a:latin typeface="Arial"/>
                        </a:rPr>
                        <a:t>32.00</a:t>
                      </a:r>
                    </a:p>
                  </a:txBody>
                  <a:tcPr marL="54864" marR="54864" marT="18288" marB="18288" anchor="ctr">
                    <a:solidFill>
                      <a:srgbClr val="F1F3F4"/>
                    </a:solidFill>
                  </a:tcPr>
                </a:tc>
                <a:tc>
                  <a:txBody>
                    <a:bodyPr wrap="square"/>
                    <a:lstStyle/>
                    <a:p>
                      <a:pPr algn="r"/>
                      <a:r>
                        <a:rPr sz="800" b="0" i="0">
                          <a:solidFill>
                            <a:srgbClr val="595959"/>
                          </a:solidFill>
                          <a:latin typeface="Arial"/>
                        </a:rPr>
                        <a:t>10.48</a:t>
                      </a:r>
                    </a:p>
                  </a:txBody>
                  <a:tcPr marL="54864" marR="54864" marT="18288" marB="18288" anchor="ctr">
                    <a:solidFill>
                      <a:srgbClr val="F1F3F4"/>
                    </a:solidFill>
                  </a:tcPr>
                </a:tc>
                <a:tc>
                  <a:txBody>
                    <a:bodyPr wrap="square"/>
                    <a:lstStyle/>
                    <a:p>
                      <a:pPr algn="r"/>
                      <a:r>
                        <a:rPr sz="800" b="0" i="0">
                          <a:solidFill>
                            <a:srgbClr val="595959"/>
                          </a:solidFill>
                          <a:latin typeface="Arial"/>
                        </a:rPr>
                        <a:t>109</a:t>
                      </a:r>
                    </a:p>
                  </a:txBody>
                  <a:tcPr marL="54864" marR="54864" marT="18288" marB="18288" anchor="ctr">
                    <a:solidFill>
                      <a:srgbClr val="F1F3F4"/>
                    </a:solidFill>
                  </a:tcPr>
                </a:tc>
                <a:tc>
                  <a:txBody>
                    <a:bodyPr wrap="square"/>
                    <a:lstStyle/>
                    <a:p>
                      <a:pPr algn="r"/>
                      <a:r>
                        <a:rPr sz="800" b="0" i="0">
                          <a:solidFill>
                            <a:srgbClr val="595959"/>
                          </a:solidFill>
                          <a:latin typeface="Arial"/>
                        </a:rPr>
                        <a:t>10.44 ± 1.67</a:t>
                      </a:r>
                    </a:p>
                  </a:txBody>
                  <a:tcPr marL="54864" marR="54864" marT="18288" marB="18288" anchor="ctr">
                    <a:solidFill>
                      <a:srgbClr val="F1F3F4"/>
                    </a:solidFill>
                  </a:tcPr>
                </a:tc>
              </a:tr>
              <a:tr h="182880">
                <a:tc>
                  <a:txBody>
                    <a:bodyPr wrap="square"/>
                    <a:lstStyle/>
                    <a:p>
                      <a:pPr algn="l"/>
                      <a:r>
                        <a:rPr sz="800" b="0" i="0">
                          <a:solidFill>
                            <a:srgbClr val="595959"/>
                          </a:solidFill>
                          <a:latin typeface="Arial"/>
                        </a:rPr>
                        <a:t>ooffice</a:t>
                      </a:r>
                    </a:p>
                  </a:txBody>
                  <a:tcPr marL="54864" marR="54864" marT="18288" marB="18288" anchor="ctr">
                    <a:solidFill>
                      <a:srgbClr val="FFFFFF"/>
                    </a:solidFill>
                  </a:tcPr>
                </a:tc>
                <a:tc>
                  <a:txBody>
                    <a:bodyPr wrap="square"/>
                    <a:lstStyle/>
                    <a:p>
                      <a:pPr algn="r"/>
                      <a:r>
                        <a:rPr sz="800" b="0" i="0">
                          <a:solidFill>
                            <a:srgbClr val="595959"/>
                          </a:solidFill>
                          <a:latin typeface="Arial"/>
                        </a:rPr>
                        <a:t>2.95</a:t>
                      </a:r>
                    </a:p>
                  </a:txBody>
                  <a:tcPr marL="54864" marR="54864" marT="18288" marB="18288" anchor="ctr">
                    <a:solidFill>
                      <a:srgbClr val="FFFFFF"/>
                    </a:solidFill>
                  </a:tcPr>
                </a:tc>
                <a:tc>
                  <a:txBody>
                    <a:bodyPr wrap="square"/>
                    <a:lstStyle/>
                    <a:p>
                      <a:pPr algn="r"/>
                      <a:r>
                        <a:rPr sz="800" b="0" i="0">
                          <a:solidFill>
                            <a:srgbClr val="595959"/>
                          </a:solidFill>
                          <a:latin typeface="Arial"/>
                        </a:rPr>
                        <a:t>5.87</a:t>
                      </a:r>
                    </a:p>
                  </a:txBody>
                  <a:tcPr marL="54864" marR="54864" marT="18288" marB="18288" anchor="ctr">
                    <a:solidFill>
                      <a:srgbClr val="FFFFFF"/>
                    </a:solidFill>
                  </a:tcPr>
                </a:tc>
                <a:tc>
                  <a:txBody>
                    <a:bodyPr wrap="square"/>
                    <a:lstStyle/>
                    <a:p>
                      <a:pPr algn="r"/>
                      <a:r>
                        <a:rPr sz="800" b="0" i="0">
                          <a:solidFill>
                            <a:srgbClr val="595959"/>
                          </a:solidFill>
                          <a:latin typeface="Arial"/>
                        </a:rPr>
                        <a:t>1.99</a:t>
                      </a:r>
                    </a:p>
                  </a:txBody>
                  <a:tcPr marL="54864" marR="54864" marT="18288" marB="18288" anchor="ctr">
                    <a:solidFill>
                      <a:srgbClr val="FFFFFF"/>
                    </a:solidFill>
                  </a:tcPr>
                </a:tc>
                <a:tc>
                  <a:txBody>
                    <a:bodyPr wrap="square"/>
                    <a:lstStyle/>
                    <a:p>
                      <a:pPr algn="r"/>
                      <a:r>
                        <a:rPr sz="800" b="0" i="0">
                          <a:solidFill>
                            <a:srgbClr val="595959"/>
                          </a:solidFill>
                          <a:latin typeface="Arial"/>
                        </a:rPr>
                        <a:t>136</a:t>
                      </a:r>
                    </a:p>
                  </a:txBody>
                  <a:tcPr marL="54864" marR="54864" marT="18288" marB="18288" anchor="ctr">
                    <a:solidFill>
                      <a:srgbClr val="FFFFFF"/>
                    </a:solidFill>
                  </a:tcPr>
                </a:tc>
                <a:tc>
                  <a:txBody>
                    <a:bodyPr wrap="square"/>
                    <a:lstStyle/>
                    <a:p>
                      <a:pPr algn="r"/>
                      <a:r>
                        <a:rPr sz="800" b="0" i="0">
                          <a:solidFill>
                            <a:srgbClr val="595959"/>
                          </a:solidFill>
                          <a:latin typeface="Arial"/>
                        </a:rPr>
                        <a:t>2.00 ± 0.64</a:t>
                      </a:r>
                    </a:p>
                  </a:txBody>
                  <a:tcPr marL="54864" marR="54864" marT="18288" marB="18288" anchor="ctr">
                    <a:solidFill>
                      <a:srgbClr val="FFFFFF"/>
                    </a:solidFill>
                  </a:tcPr>
                </a:tc>
              </a:tr>
              <a:tr h="182880">
                <a:tc>
                  <a:txBody>
                    <a:bodyPr wrap="square"/>
                    <a:lstStyle/>
                    <a:p>
                      <a:pPr algn="l"/>
                      <a:r>
                        <a:rPr sz="800" b="0" i="0">
                          <a:solidFill>
                            <a:srgbClr val="595959"/>
                          </a:solidFill>
                          <a:latin typeface="Arial"/>
                        </a:rPr>
                        <a:t>osdb</a:t>
                      </a:r>
                    </a:p>
                  </a:txBody>
                  <a:tcPr marL="54864" marR="54864" marT="18288" marB="18288" anchor="ctr">
                    <a:solidFill>
                      <a:srgbClr val="F1F3F4"/>
                    </a:solidFill>
                  </a:tcPr>
                </a:tc>
                <a:tc>
                  <a:txBody>
                    <a:bodyPr wrap="square"/>
                    <a:lstStyle/>
                    <a:p>
                      <a:pPr algn="r"/>
                      <a:r>
                        <a:rPr sz="800" b="0" i="0">
                          <a:solidFill>
                            <a:srgbClr val="595959"/>
                          </a:solidFill>
                          <a:latin typeface="Arial"/>
                        </a:rPr>
                        <a:t>3.52</a:t>
                      </a:r>
                    </a:p>
                  </a:txBody>
                  <a:tcPr marL="54864" marR="54864" marT="18288" marB="18288" anchor="ctr">
                    <a:solidFill>
                      <a:srgbClr val="F1F3F4"/>
                    </a:solidFill>
                  </a:tcPr>
                </a:tc>
                <a:tc>
                  <a:txBody>
                    <a:bodyPr wrap="square"/>
                    <a:lstStyle/>
                    <a:p>
                      <a:pPr algn="r"/>
                      <a:r>
                        <a:rPr sz="800" b="0" i="0">
                          <a:solidFill>
                            <a:srgbClr val="595959"/>
                          </a:solidFill>
                          <a:latin typeface="Arial"/>
                        </a:rPr>
                        <a:t>9.62</a:t>
                      </a:r>
                    </a:p>
                  </a:txBody>
                  <a:tcPr marL="54864" marR="54864" marT="18288" marB="18288" anchor="ctr">
                    <a:solidFill>
                      <a:srgbClr val="F1F3F4"/>
                    </a:solidFill>
                  </a:tcPr>
                </a:tc>
                <a:tc>
                  <a:txBody>
                    <a:bodyPr wrap="square"/>
                    <a:lstStyle/>
                    <a:p>
                      <a:pPr algn="r"/>
                      <a:r>
                        <a:rPr sz="800" b="0" i="0">
                          <a:solidFill>
                            <a:srgbClr val="595959"/>
                          </a:solidFill>
                          <a:latin typeface="Arial"/>
                        </a:rPr>
                        <a:t>2.73</a:t>
                      </a:r>
                    </a:p>
                  </a:txBody>
                  <a:tcPr marL="54864" marR="54864" marT="18288" marB="18288" anchor="ctr">
                    <a:solidFill>
                      <a:srgbClr val="F1F3F4"/>
                    </a:solidFill>
                  </a:tcPr>
                </a:tc>
                <a:tc>
                  <a:txBody>
                    <a:bodyPr wrap="square"/>
                    <a:lstStyle/>
                    <a:p>
                      <a:pPr algn="r"/>
                      <a:r>
                        <a:rPr sz="800" b="0" i="0">
                          <a:solidFill>
                            <a:srgbClr val="595959"/>
                          </a:solidFill>
                          <a:latin typeface="Arial"/>
                        </a:rPr>
                        <a:t>169</a:t>
                      </a:r>
                    </a:p>
                  </a:txBody>
                  <a:tcPr marL="54864" marR="54864" marT="18288" marB="18288" anchor="ctr">
                    <a:solidFill>
                      <a:srgbClr val="F1F3F4"/>
                    </a:solidFill>
                  </a:tcPr>
                </a:tc>
                <a:tc>
                  <a:txBody>
                    <a:bodyPr wrap="square"/>
                    <a:lstStyle/>
                    <a:p>
                      <a:pPr algn="r"/>
                      <a:r>
                        <a:rPr sz="800" b="0" i="0">
                          <a:solidFill>
                            <a:srgbClr val="595959"/>
                          </a:solidFill>
                          <a:latin typeface="Arial"/>
                        </a:rPr>
                        <a:t>2.73 ± 0.04</a:t>
                      </a:r>
                    </a:p>
                  </a:txBody>
                  <a:tcPr marL="54864" marR="54864" marT="18288" marB="18288" anchor="ctr">
                    <a:solidFill>
                      <a:srgbClr val="F1F3F4"/>
                    </a:solidFill>
                  </a:tcPr>
                </a:tc>
              </a:tr>
              <a:tr h="182880">
                <a:tc>
                  <a:txBody>
                    <a:bodyPr wrap="square"/>
                    <a:lstStyle/>
                    <a:p>
                      <a:pPr algn="l"/>
                      <a:r>
                        <a:rPr sz="800" b="0" i="0">
                          <a:solidFill>
                            <a:srgbClr val="595959"/>
                          </a:solidFill>
                          <a:latin typeface="Arial"/>
                        </a:rPr>
                        <a:t>reymont</a:t>
                      </a:r>
                    </a:p>
                  </a:txBody>
                  <a:tcPr marL="54864" marR="54864" marT="18288" marB="18288" anchor="ctr">
                    <a:solidFill>
                      <a:srgbClr val="FFFFFF"/>
                    </a:solidFill>
                  </a:tcPr>
                </a:tc>
                <a:tc>
                  <a:txBody>
                    <a:bodyPr wrap="square"/>
                    <a:lstStyle/>
                    <a:p>
                      <a:pPr algn="r"/>
                      <a:r>
                        <a:rPr sz="800" b="0" i="0">
                          <a:solidFill>
                            <a:srgbClr val="595959"/>
                          </a:solidFill>
                          <a:latin typeface="Arial"/>
                        </a:rPr>
                        <a:t>1.77</a:t>
                      </a:r>
                    </a:p>
                  </a:txBody>
                  <a:tcPr marL="54864" marR="54864" marT="18288" marB="18288" anchor="ctr">
                    <a:solidFill>
                      <a:srgbClr val="FFFFFF"/>
                    </a:solidFill>
                  </a:tcPr>
                </a:tc>
                <a:tc>
                  <a:txBody>
                    <a:bodyPr wrap="square"/>
                    <a:lstStyle/>
                    <a:p>
                      <a:pPr algn="r"/>
                      <a:r>
                        <a:rPr sz="800" b="0" i="0">
                          <a:solidFill>
                            <a:srgbClr val="595959"/>
                          </a:solidFill>
                          <a:latin typeface="Arial"/>
                        </a:rPr>
                        <a:t>6.32</a:t>
                      </a:r>
                    </a:p>
                  </a:txBody>
                  <a:tcPr marL="54864" marR="54864" marT="18288" marB="18288" anchor="ctr">
                    <a:solidFill>
                      <a:srgbClr val="FFFFFF"/>
                    </a:solidFill>
                  </a:tcPr>
                </a:tc>
                <a:tc>
                  <a:txBody>
                    <a:bodyPr wrap="square"/>
                    <a:lstStyle/>
                    <a:p>
                      <a:pPr algn="r"/>
                      <a:r>
                        <a:rPr sz="800" b="0" i="0">
                          <a:solidFill>
                            <a:srgbClr val="595959"/>
                          </a:solidFill>
                          <a:latin typeface="Arial"/>
                        </a:rPr>
                        <a:t>3.56</a:t>
                      </a:r>
                    </a:p>
                  </a:txBody>
                  <a:tcPr marL="54864" marR="54864" marT="18288" marB="18288" anchor="ctr">
                    <a:solidFill>
                      <a:srgbClr val="FFFFFF"/>
                    </a:solidFill>
                  </a:tcPr>
                </a:tc>
                <a:tc>
                  <a:txBody>
                    <a:bodyPr wrap="square"/>
                    <a:lstStyle/>
                    <a:p>
                      <a:pPr algn="r"/>
                      <a:r>
                        <a:rPr sz="800" b="0" i="0">
                          <a:solidFill>
                            <a:srgbClr val="595959"/>
                          </a:solidFill>
                          <a:latin typeface="Arial"/>
                        </a:rPr>
                        <a:t>62</a:t>
                      </a:r>
                    </a:p>
                  </a:txBody>
                  <a:tcPr marL="54864" marR="54864" marT="18288" marB="18288" anchor="ctr">
                    <a:solidFill>
                      <a:srgbClr val="FFFFFF"/>
                    </a:solidFill>
                  </a:tcPr>
                </a:tc>
                <a:tc>
                  <a:txBody>
                    <a:bodyPr wrap="square"/>
                    <a:lstStyle/>
                    <a:p>
                      <a:pPr algn="r"/>
                      <a:r>
                        <a:rPr sz="800" b="0" i="0">
                          <a:solidFill>
                            <a:srgbClr val="595959"/>
                          </a:solidFill>
                          <a:latin typeface="Arial"/>
                        </a:rPr>
                        <a:t>3.53 ± 0.41</a:t>
                      </a:r>
                    </a:p>
                  </a:txBody>
                  <a:tcPr marL="54864" marR="54864" marT="18288" marB="18288" anchor="ctr">
                    <a:solidFill>
                      <a:srgbClr val="FFFFFF"/>
                    </a:solidFill>
                  </a:tcPr>
                </a:tc>
              </a:tr>
              <a:tr h="182880">
                <a:tc>
                  <a:txBody>
                    <a:bodyPr wrap="square"/>
                    <a:lstStyle/>
                    <a:p>
                      <a:pPr algn="l"/>
                      <a:r>
                        <a:rPr sz="800" b="0" i="0">
                          <a:solidFill>
                            <a:srgbClr val="595959"/>
                          </a:solidFill>
                          <a:latin typeface="Arial"/>
                        </a:rPr>
                        <a:t>samba</a:t>
                      </a:r>
                    </a:p>
                  </a:txBody>
                  <a:tcPr marL="54864" marR="54864" marT="18288" marB="18288" anchor="ctr">
                    <a:solidFill>
                      <a:srgbClr val="F1F3F4"/>
                    </a:solidFill>
                  </a:tcPr>
                </a:tc>
                <a:tc>
                  <a:txBody>
                    <a:bodyPr wrap="square"/>
                    <a:lstStyle/>
                    <a:p>
                      <a:pPr algn="r"/>
                      <a:r>
                        <a:rPr sz="800" b="0" i="0">
                          <a:solidFill>
                            <a:srgbClr val="595959"/>
                          </a:solidFill>
                          <a:latin typeface="Arial"/>
                        </a:rPr>
                        <a:t>5.20</a:t>
                      </a:r>
                    </a:p>
                  </a:txBody>
                  <a:tcPr marL="54864" marR="54864" marT="18288" marB="18288" anchor="ctr">
                    <a:solidFill>
                      <a:srgbClr val="F1F3F4"/>
                    </a:solidFill>
                  </a:tcPr>
                </a:tc>
                <a:tc>
                  <a:txBody>
                    <a:bodyPr wrap="square"/>
                    <a:lstStyle/>
                    <a:p>
                      <a:pPr algn="r"/>
                      <a:r>
                        <a:rPr sz="800" b="0" i="0">
                          <a:solidFill>
                            <a:srgbClr val="595959"/>
                          </a:solidFill>
                          <a:latin typeface="Arial"/>
                        </a:rPr>
                        <a:t>20.61</a:t>
                      </a:r>
                    </a:p>
                  </a:txBody>
                  <a:tcPr marL="54864" marR="54864" marT="18288" marB="18288" anchor="ctr">
                    <a:solidFill>
                      <a:srgbClr val="F1F3F4"/>
                    </a:solidFill>
                  </a:tcPr>
                </a:tc>
                <a:tc>
                  <a:txBody>
                    <a:bodyPr wrap="square"/>
                    <a:lstStyle/>
                    <a:p>
                      <a:pPr algn="r"/>
                      <a:r>
                        <a:rPr sz="800" b="0" i="0">
                          <a:solidFill>
                            <a:srgbClr val="595959"/>
                          </a:solidFill>
                          <a:latin typeface="Arial"/>
                        </a:rPr>
                        <a:t>3.96</a:t>
                      </a:r>
                    </a:p>
                  </a:txBody>
                  <a:tcPr marL="54864" marR="54864" marT="18288" marB="18288" anchor="ctr">
                    <a:solidFill>
                      <a:srgbClr val="F1F3F4"/>
                    </a:solidFill>
                  </a:tcPr>
                </a:tc>
                <a:tc>
                  <a:txBody>
                    <a:bodyPr wrap="square"/>
                    <a:lstStyle/>
                    <a:p>
                      <a:pPr algn="r"/>
                      <a:r>
                        <a:rPr sz="800" b="0" i="0">
                          <a:solidFill>
                            <a:srgbClr val="595959"/>
                          </a:solidFill>
                          <a:latin typeface="Arial"/>
                        </a:rPr>
                        <a:t>227</a:t>
                      </a:r>
                    </a:p>
                  </a:txBody>
                  <a:tcPr marL="54864" marR="54864" marT="18288" marB="18288" anchor="ctr">
                    <a:solidFill>
                      <a:srgbClr val="F1F3F4"/>
                    </a:solidFill>
                  </a:tcPr>
                </a:tc>
                <a:tc>
                  <a:txBody>
                    <a:bodyPr wrap="square"/>
                    <a:lstStyle/>
                    <a:p>
                      <a:pPr algn="r"/>
                      <a:r>
                        <a:rPr sz="800" b="0" i="0">
                          <a:solidFill>
                            <a:srgbClr val="595959"/>
                          </a:solidFill>
                          <a:latin typeface="Arial"/>
                        </a:rPr>
                        <a:t>3.57 ± 2.19</a:t>
                      </a:r>
                    </a:p>
                  </a:txBody>
                  <a:tcPr marL="54864" marR="54864" marT="18288" marB="18288" anchor="ctr">
                    <a:solidFill>
                      <a:srgbClr val="F1F3F4"/>
                    </a:solidFill>
                  </a:tcPr>
                </a:tc>
              </a:tr>
              <a:tr h="182880">
                <a:tc>
                  <a:txBody>
                    <a:bodyPr wrap="square"/>
                    <a:lstStyle/>
                    <a:p>
                      <a:pPr algn="l"/>
                      <a:r>
                        <a:rPr sz="800" b="0" i="0">
                          <a:solidFill>
                            <a:srgbClr val="595959"/>
                          </a:solidFill>
                          <a:latin typeface="Arial"/>
                        </a:rPr>
                        <a:t>sao</a:t>
                      </a:r>
                    </a:p>
                  </a:txBody>
                  <a:tcPr marL="54864" marR="54864" marT="18288" marB="18288" anchor="ctr">
                    <a:solidFill>
                      <a:srgbClr val="FFFFFF"/>
                    </a:solidFill>
                  </a:tcPr>
                </a:tc>
                <a:tc>
                  <a:txBody>
                    <a:bodyPr wrap="square"/>
                    <a:lstStyle/>
                    <a:p>
                      <a:pPr algn="r"/>
                      <a:r>
                        <a:rPr sz="800" b="0" i="0">
                          <a:solidFill>
                            <a:srgbClr val="595959"/>
                          </a:solidFill>
                          <a:latin typeface="Arial"/>
                        </a:rPr>
                        <a:t>5.08</a:t>
                      </a:r>
                    </a:p>
                  </a:txBody>
                  <a:tcPr marL="54864" marR="54864" marT="18288" marB="18288" anchor="ctr">
                    <a:solidFill>
                      <a:srgbClr val="FFFFFF"/>
                    </a:solidFill>
                  </a:tcPr>
                </a:tc>
                <a:tc>
                  <a:txBody>
                    <a:bodyPr wrap="square"/>
                    <a:lstStyle/>
                    <a:p>
                      <a:pPr algn="r"/>
                      <a:r>
                        <a:rPr sz="800" b="0" i="0">
                          <a:solidFill>
                            <a:srgbClr val="595959"/>
                          </a:solidFill>
                          <a:latin typeface="Arial"/>
                        </a:rPr>
                        <a:t>6.92</a:t>
                      </a:r>
                    </a:p>
                  </a:txBody>
                  <a:tcPr marL="54864" marR="54864" marT="18288" marB="18288" anchor="ctr">
                    <a:solidFill>
                      <a:srgbClr val="FFFFFF"/>
                    </a:solidFill>
                  </a:tcPr>
                </a:tc>
                <a:tc>
                  <a:txBody>
                    <a:bodyPr wrap="square"/>
                    <a:lstStyle/>
                    <a:p>
                      <a:pPr algn="r"/>
                      <a:r>
                        <a:rPr sz="800" b="0" i="0">
                          <a:solidFill>
                            <a:srgbClr val="595959"/>
                          </a:solidFill>
                          <a:latin typeface="Arial"/>
                        </a:rPr>
                        <a:t>1.36</a:t>
                      </a:r>
                    </a:p>
                  </a:txBody>
                  <a:tcPr marL="54864" marR="54864" marT="18288" marB="18288" anchor="ctr">
                    <a:solidFill>
                      <a:srgbClr val="FFFFFF"/>
                    </a:solidFill>
                  </a:tcPr>
                </a:tc>
                <a:tc>
                  <a:txBody>
                    <a:bodyPr wrap="square"/>
                    <a:lstStyle/>
                    <a:p>
                      <a:pPr algn="r"/>
                      <a:r>
                        <a:rPr sz="800" b="0" i="0">
                          <a:solidFill>
                            <a:srgbClr val="595959"/>
                          </a:solidFill>
                          <a:latin typeface="Arial"/>
                        </a:rPr>
                        <a:t>260</a:t>
                      </a:r>
                    </a:p>
                  </a:txBody>
                  <a:tcPr marL="54864" marR="54864" marT="18288" marB="18288" anchor="ctr">
                    <a:solidFill>
                      <a:srgbClr val="FFFFFF"/>
                    </a:solidFill>
                  </a:tcPr>
                </a:tc>
                <a:tc>
                  <a:txBody>
                    <a:bodyPr wrap="square"/>
                    <a:lstStyle/>
                    <a:p>
                      <a:pPr algn="r"/>
                      <a:r>
                        <a:rPr sz="800" b="0" i="0">
                          <a:solidFill>
                            <a:srgbClr val="595959"/>
                          </a:solidFill>
                          <a:latin typeface="Arial"/>
                        </a:rPr>
                        <a:t>1.36 ± 0.03</a:t>
                      </a:r>
                    </a:p>
                  </a:txBody>
                  <a:tcPr marL="54864" marR="54864" marT="18288" marB="18288" anchor="ctr">
                    <a:solidFill>
                      <a:srgbClr val="FFFFFF"/>
                    </a:solidFill>
                  </a:tcPr>
                </a:tc>
              </a:tr>
              <a:tr h="182880">
                <a:tc>
                  <a:txBody>
                    <a:bodyPr wrap="square"/>
                    <a:lstStyle/>
                    <a:p>
                      <a:pPr algn="l"/>
                      <a:r>
                        <a:rPr sz="800" b="0" i="0">
                          <a:solidFill>
                            <a:srgbClr val="595959"/>
                          </a:solidFill>
                          <a:latin typeface="Arial"/>
                        </a:rPr>
                        <a:t>webster</a:t>
                      </a:r>
                    </a:p>
                  </a:txBody>
                  <a:tcPr marL="54864" marR="54864" marT="18288" marB="18288" anchor="ctr">
                    <a:solidFill>
                      <a:srgbClr val="F1F3F4"/>
                    </a:solidFill>
                  </a:tcPr>
                </a:tc>
                <a:tc>
                  <a:txBody>
                    <a:bodyPr wrap="square"/>
                    <a:lstStyle/>
                    <a:p>
                      <a:pPr algn="r"/>
                      <a:r>
                        <a:rPr sz="800" b="0" i="0">
                          <a:solidFill>
                            <a:srgbClr val="595959"/>
                          </a:solidFill>
                          <a:latin typeface="Arial"/>
                        </a:rPr>
                        <a:t>11.65</a:t>
                      </a:r>
                    </a:p>
                  </a:txBody>
                  <a:tcPr marL="54864" marR="54864" marT="18288" marB="18288" anchor="ctr">
                    <a:solidFill>
                      <a:srgbClr val="F1F3F4"/>
                    </a:solidFill>
                  </a:tcPr>
                </a:tc>
                <a:tc>
                  <a:txBody>
                    <a:bodyPr wrap="square"/>
                    <a:lstStyle/>
                    <a:p>
                      <a:pPr algn="r"/>
                      <a:r>
                        <a:rPr sz="800" b="0" i="0">
                          <a:solidFill>
                            <a:srgbClr val="595959"/>
                          </a:solidFill>
                          <a:latin typeface="Arial"/>
                        </a:rPr>
                        <a:t>39.54</a:t>
                      </a:r>
                    </a:p>
                  </a:txBody>
                  <a:tcPr marL="54864" marR="54864" marT="18288" marB="18288" anchor="ctr">
                    <a:solidFill>
                      <a:srgbClr val="F1F3F4"/>
                    </a:solidFill>
                  </a:tcPr>
                </a:tc>
                <a:tc>
                  <a:txBody>
                    <a:bodyPr wrap="square"/>
                    <a:lstStyle/>
                    <a:p>
                      <a:pPr algn="r"/>
                      <a:r>
                        <a:rPr sz="800" b="0" i="0">
                          <a:solidFill>
                            <a:srgbClr val="595959"/>
                          </a:solidFill>
                          <a:latin typeface="Arial"/>
                        </a:rPr>
                        <a:t>3.39</a:t>
                      </a:r>
                    </a:p>
                  </a:txBody>
                  <a:tcPr marL="54864" marR="54864" marT="18288" marB="18288" anchor="ctr">
                    <a:solidFill>
                      <a:srgbClr val="F1F3F4"/>
                    </a:solidFill>
                  </a:tcPr>
                </a:tc>
                <a:tc>
                  <a:txBody>
                    <a:bodyPr wrap="square"/>
                    <a:lstStyle/>
                    <a:p>
                      <a:pPr algn="r"/>
                      <a:r>
                        <a:rPr sz="800" b="0" i="0">
                          <a:solidFill>
                            <a:srgbClr val="595959"/>
                          </a:solidFill>
                          <a:latin typeface="Arial"/>
                        </a:rPr>
                        <a:t>415</a:t>
                      </a:r>
                    </a:p>
                  </a:txBody>
                  <a:tcPr marL="54864" marR="54864" marT="18288" marB="18288" anchor="ctr">
                    <a:solidFill>
                      <a:srgbClr val="F1F3F4"/>
                    </a:solidFill>
                  </a:tcPr>
                </a:tc>
                <a:tc>
                  <a:txBody>
                    <a:bodyPr wrap="square"/>
                    <a:lstStyle/>
                    <a:p>
                      <a:pPr algn="r"/>
                      <a:r>
                        <a:rPr sz="800" b="0" i="0">
                          <a:solidFill>
                            <a:srgbClr val="595959"/>
                          </a:solidFill>
                          <a:latin typeface="Arial"/>
                        </a:rPr>
                        <a:t>3.39 ± 0.18</a:t>
                      </a:r>
                    </a:p>
                  </a:txBody>
                  <a:tcPr marL="54864" marR="54864" marT="18288" marB="18288" anchor="ctr">
                    <a:solidFill>
                      <a:srgbClr val="F1F3F4"/>
                    </a:solidFill>
                  </a:tcPr>
                </a:tc>
              </a:tr>
              <a:tr h="182880">
                <a:tc>
                  <a:txBody>
                    <a:bodyPr wrap="square"/>
                    <a:lstStyle/>
                    <a:p>
                      <a:pPr algn="l"/>
                      <a:r>
                        <a:rPr sz="800" b="0" i="0">
                          <a:solidFill>
                            <a:srgbClr val="595959"/>
                          </a:solidFill>
                          <a:latin typeface="Arial"/>
                        </a:rPr>
                        <a:t>x-ray</a:t>
                      </a:r>
                    </a:p>
                  </a:txBody>
                  <a:tcPr marL="54864" marR="54864" marT="18288" marB="18288" anchor="ctr">
                    <a:solidFill>
                      <a:srgbClr val="FFFFFF"/>
                    </a:solidFill>
                  </a:tcPr>
                </a:tc>
                <a:tc>
                  <a:txBody>
                    <a:bodyPr wrap="square"/>
                    <a:lstStyle/>
                    <a:p>
                      <a:pPr algn="r"/>
                      <a:r>
                        <a:rPr sz="800" b="0" i="0">
                          <a:solidFill>
                            <a:srgbClr val="595959"/>
                          </a:solidFill>
                          <a:latin typeface="Arial"/>
                        </a:rPr>
                        <a:t>5.77</a:t>
                      </a:r>
                    </a:p>
                  </a:txBody>
                  <a:tcPr marL="54864" marR="54864" marT="18288" marB="18288" anchor="ctr">
                    <a:solidFill>
                      <a:srgbClr val="FFFFFF"/>
                    </a:solidFill>
                  </a:tcPr>
                </a:tc>
                <a:tc>
                  <a:txBody>
                    <a:bodyPr wrap="square"/>
                    <a:lstStyle/>
                    <a:p>
                      <a:pPr algn="r"/>
                      <a:r>
                        <a:rPr sz="800" b="0" i="0">
                          <a:solidFill>
                            <a:srgbClr val="595959"/>
                          </a:solidFill>
                          <a:latin typeface="Arial"/>
                        </a:rPr>
                        <a:t>8.08</a:t>
                      </a:r>
                    </a:p>
                  </a:txBody>
                  <a:tcPr marL="54864" marR="54864" marT="18288" marB="18288" anchor="ctr">
                    <a:solidFill>
                      <a:srgbClr val="FFFFFF"/>
                    </a:solidFill>
                  </a:tcPr>
                </a:tc>
                <a:tc>
                  <a:txBody>
                    <a:bodyPr wrap="square"/>
                    <a:lstStyle/>
                    <a:p>
                      <a:pPr algn="r"/>
                      <a:r>
                        <a:rPr sz="800" b="0" i="0">
                          <a:solidFill>
                            <a:srgbClr val="595959"/>
                          </a:solidFill>
                          <a:latin typeface="Arial"/>
                        </a:rPr>
                        <a:t>1.40</a:t>
                      </a:r>
                    </a:p>
                  </a:txBody>
                  <a:tcPr marL="54864" marR="54864" marT="18288" marB="18288" anchor="ctr">
                    <a:solidFill>
                      <a:srgbClr val="FFFFFF"/>
                    </a:solidFill>
                  </a:tcPr>
                </a:tc>
                <a:tc>
                  <a:txBody>
                    <a:bodyPr wrap="square"/>
                    <a:lstStyle/>
                    <a:p>
                      <a:pPr algn="r"/>
                      <a:r>
                        <a:rPr sz="800" b="0" i="0">
                          <a:solidFill>
                            <a:srgbClr val="595959"/>
                          </a:solidFill>
                          <a:latin typeface="Arial"/>
                        </a:rPr>
                        <a:t>278</a:t>
                      </a:r>
                    </a:p>
                  </a:txBody>
                  <a:tcPr marL="54864" marR="54864" marT="18288" marB="18288" anchor="ctr">
                    <a:solidFill>
                      <a:srgbClr val="FFFFFF"/>
                    </a:solidFill>
                  </a:tcPr>
                </a:tc>
                <a:tc>
                  <a:txBody>
                    <a:bodyPr wrap="square"/>
                    <a:lstStyle/>
                    <a:p>
                      <a:pPr algn="r"/>
                      <a:r>
                        <a:rPr sz="800" b="0" i="0">
                          <a:solidFill>
                            <a:srgbClr val="595959"/>
                          </a:solidFill>
                          <a:latin typeface="Arial"/>
                        </a:rPr>
                        <a:t>1.40 ± 0.04</a:t>
                      </a:r>
                    </a:p>
                  </a:txBody>
                  <a:tcPr marL="54864" marR="54864" marT="18288" marB="18288" anchor="ctr">
                    <a:solidFill>
                      <a:srgbClr val="FFFFFF"/>
                    </a:solidFill>
                  </a:tcPr>
                </a:tc>
              </a:tr>
              <a:tr h="182880">
                <a:tc>
                  <a:txBody>
                    <a:bodyPr wrap="square"/>
                    <a:lstStyle/>
                    <a:p>
                      <a:pPr algn="l"/>
                      <a:r>
                        <a:rPr sz="800" b="0" i="0">
                          <a:solidFill>
                            <a:srgbClr val="595959"/>
                          </a:solidFill>
                          <a:latin typeface="Arial"/>
                        </a:rPr>
                        <a:t>xml</a:t>
                      </a:r>
                    </a:p>
                  </a:txBody>
                  <a:tcPr marL="54864" marR="54864" marT="18288" marB="18288" anchor="ctr">
                    <a:solidFill>
                      <a:srgbClr val="F1F3F4"/>
                    </a:solidFill>
                  </a:tcPr>
                </a:tc>
                <a:tc>
                  <a:txBody>
                    <a:bodyPr wrap="square"/>
                    <a:lstStyle/>
                    <a:p>
                      <a:pPr algn="r"/>
                      <a:r>
                        <a:rPr sz="800" b="0" i="0">
                          <a:solidFill>
                            <a:srgbClr val="595959"/>
                          </a:solidFill>
                          <a:latin typeface="Arial"/>
                        </a:rPr>
                        <a:t>0.66</a:t>
                      </a:r>
                    </a:p>
                  </a:txBody>
                  <a:tcPr marL="54864" marR="54864" marT="18288" marB="18288" anchor="ctr">
                    <a:solidFill>
                      <a:srgbClr val="F1F3F4"/>
                    </a:solidFill>
                  </a:tcPr>
                </a:tc>
                <a:tc>
                  <a:txBody>
                    <a:bodyPr wrap="square"/>
                    <a:lstStyle/>
                    <a:p>
                      <a:pPr algn="r"/>
                      <a:r>
                        <a:rPr sz="800" b="0" i="0">
                          <a:solidFill>
                            <a:srgbClr val="595959"/>
                          </a:solidFill>
                          <a:latin typeface="Arial"/>
                        </a:rPr>
                        <a:t>5.10</a:t>
                      </a:r>
                    </a:p>
                  </a:txBody>
                  <a:tcPr marL="54864" marR="54864" marT="18288" marB="18288" anchor="ctr">
                    <a:solidFill>
                      <a:srgbClr val="F1F3F4"/>
                    </a:solidFill>
                  </a:tcPr>
                </a:tc>
                <a:tc>
                  <a:txBody>
                    <a:bodyPr wrap="square"/>
                    <a:lstStyle/>
                    <a:p>
                      <a:pPr algn="r"/>
                      <a:r>
                        <a:rPr sz="800" b="0" i="0">
                          <a:solidFill>
                            <a:srgbClr val="595959"/>
                          </a:solidFill>
                          <a:latin typeface="Arial"/>
                        </a:rPr>
                        <a:t>7.77</a:t>
                      </a:r>
                    </a:p>
                  </a:txBody>
                  <a:tcPr marL="54864" marR="54864" marT="18288" marB="18288" anchor="ctr">
                    <a:solidFill>
                      <a:srgbClr val="F1F3F4"/>
                    </a:solidFill>
                  </a:tcPr>
                </a:tc>
                <a:tc>
                  <a:txBody>
                    <a:bodyPr wrap="square"/>
                    <a:lstStyle/>
                    <a:p>
                      <a:pPr algn="r"/>
                      <a:r>
                        <a:rPr sz="800" b="0" i="0">
                          <a:solidFill>
                            <a:srgbClr val="595959"/>
                          </a:solidFill>
                          <a:latin typeface="Arial"/>
                        </a:rPr>
                        <a:t>24</a:t>
                      </a:r>
                    </a:p>
                  </a:txBody>
                  <a:tcPr marL="54864" marR="54864" marT="18288" marB="18288" anchor="ctr">
                    <a:solidFill>
                      <a:srgbClr val="F1F3F4"/>
                    </a:solidFill>
                  </a:tcPr>
                </a:tc>
                <a:tc>
                  <a:txBody>
                    <a:bodyPr wrap="square"/>
                    <a:lstStyle/>
                    <a:p>
                      <a:pPr algn="r"/>
                      <a:r>
                        <a:rPr sz="800" b="0" i="0">
                          <a:solidFill>
                            <a:srgbClr val="595959"/>
                          </a:solidFill>
                          <a:latin typeface="Arial"/>
                        </a:rPr>
                        <a:t>7.41 ± 5.94</a:t>
                      </a:r>
                    </a:p>
                  </a:txBody>
                  <a:tcPr marL="54864" marR="54864" marT="18288" marB="18288" anchor="ctr">
                    <a:solidFill>
                      <a:srgbClr val="F1F3F4"/>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sz="2800"/>
              <a:t>Methodology Block Diagram</a:t>
            </a:r>
            <a:endParaRPr/>
          </a:p>
        </p:txBody>
      </p:sp>
      <p:sp>
        <p:nvSpPr>
          <p:cNvPr id="67" name="Rounded Rectangle 66"/>
          <p:cNvSpPr/>
          <p:nvPr/>
        </p:nvSpPr>
        <p:spPr>
          <a:xfrm>
            <a:off x="310896" y="1115568"/>
            <a:ext cx="1444752" cy="713232"/>
          </a:xfrm>
          <a:prstGeom prst="roundRect">
            <a:avLst>
              <a:gd name="adj" fmla="val 12000"/>
            </a:avLst>
          </a:prstGeom>
          <a:solidFill>
            <a:srgbClr val="FFFFFF"/>
          </a:solidFill>
          <a:ln w="12700">
            <a:solidFill>
              <a:srgbClr val="7890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Unmodified</a:t>
            </a:r>
          </a:p>
          <a:p>
            <a:pPr algn="ctr"/>
            <a:r>
              <a:rPr sz="900" b="1" i="0">
                <a:solidFill>
                  <a:srgbClr val="212121"/>
                </a:solidFill>
                <a:latin typeface="Arial"/>
              </a:rPr>
              <a:t>.gz stream</a:t>
            </a:r>
          </a:p>
        </p:txBody>
      </p:sp>
      <p:sp>
        <p:nvSpPr>
          <p:cNvPr id="68" name="Rounded Rectangle 67"/>
          <p:cNvSpPr/>
          <p:nvPr/>
        </p:nvSpPr>
        <p:spPr>
          <a:xfrm>
            <a:off x="2080260" y="1115568"/>
            <a:ext cx="1444752" cy="713232"/>
          </a:xfrm>
          <a:prstGeom prst="roundRect">
            <a:avLst>
              <a:gd name="adj" fmla="val 12000"/>
            </a:avLst>
          </a:prstGeom>
          <a:solidFill>
            <a:srgbClr val="E8F0FE"/>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0. Cost estimate</a:t>
            </a:r>
          </a:p>
          <a:p>
            <a:pPr algn="ctr"/>
            <a:r>
              <a:rPr sz="900" b="1" i="0">
                <a:solidFill>
                  <a:srgbClr val="212121"/>
                </a:solidFill>
                <a:latin typeface="Arial"/>
              </a:rPr>
              <a:t>(sampled headers)</a:t>
            </a:r>
          </a:p>
        </p:txBody>
      </p:sp>
      <p:sp>
        <p:nvSpPr>
          <p:cNvPr id="69" name="Rounded Rectangle 68"/>
          <p:cNvSpPr/>
          <p:nvPr/>
        </p:nvSpPr>
        <p:spPr>
          <a:xfrm>
            <a:off x="3849624" y="1115568"/>
            <a:ext cx="1444752" cy="713232"/>
          </a:xfrm>
          <a:prstGeom prst="roundRect">
            <a:avLst>
              <a:gd name="adj" fmla="val 12000"/>
            </a:avLst>
          </a:prstGeom>
          <a:solidFill>
            <a:srgbClr val="FFF4E5"/>
          </a:solidFill>
          <a:ln w="285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1. Work-sized</a:t>
            </a:r>
          </a:p>
          <a:p>
            <a:pPr algn="ctr"/>
            <a:r>
              <a:rPr sz="900" b="1" i="0">
                <a:solidFill>
                  <a:srgbClr val="212121"/>
                </a:solidFill>
                <a:latin typeface="Arial"/>
              </a:rPr>
              <a:t>chunking</a:t>
            </a:r>
          </a:p>
          <a:p>
            <a:pPr algn="ctr"/>
            <a:r>
              <a:rPr sz="800" b="1" i="0">
                <a:solidFill>
                  <a:srgbClr val="B06000"/>
                </a:solidFill>
                <a:latin typeface="Arial"/>
              </a:rPr>
              <a:t>M1</a:t>
            </a:r>
          </a:p>
        </p:txBody>
      </p:sp>
      <p:sp>
        <p:nvSpPr>
          <p:cNvPr id="70" name="Rounded Rectangle 69"/>
          <p:cNvSpPr/>
          <p:nvPr/>
        </p:nvSpPr>
        <p:spPr>
          <a:xfrm>
            <a:off x="5618988" y="1115568"/>
            <a:ext cx="1444752" cy="713232"/>
          </a:xfrm>
          <a:prstGeom prst="roundRect">
            <a:avLst>
              <a:gd name="adj" fmla="val 12000"/>
            </a:avLst>
          </a:prstGeom>
          <a:solidFill>
            <a:srgbClr val="E8F0FE"/>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2. Speculative</a:t>
            </a:r>
          </a:p>
          <a:p>
            <a:pPr algn="ctr"/>
            <a:r>
              <a:rPr sz="900" b="1" i="0">
                <a:solidFill>
                  <a:srgbClr val="212121"/>
                </a:solidFill>
                <a:latin typeface="Arial"/>
              </a:rPr>
              <a:t>boundary search</a:t>
            </a:r>
          </a:p>
        </p:txBody>
      </p:sp>
      <p:sp>
        <p:nvSpPr>
          <p:cNvPr id="71" name="Rounded Rectangle 70"/>
          <p:cNvSpPr/>
          <p:nvPr/>
        </p:nvSpPr>
        <p:spPr>
          <a:xfrm>
            <a:off x="7388352" y="1115568"/>
            <a:ext cx="1444752" cy="713232"/>
          </a:xfrm>
          <a:prstGeom prst="roundRect">
            <a:avLst>
              <a:gd name="adj" fmla="val 12000"/>
            </a:avLst>
          </a:prstGeom>
          <a:solidFill>
            <a:srgbClr val="E8F0FE"/>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3. Entry-point</a:t>
            </a:r>
          </a:p>
          <a:p>
            <a:pPr algn="ctr"/>
            <a:r>
              <a:rPr sz="900" b="1" i="0">
                <a:solidFill>
                  <a:srgbClr val="212121"/>
                </a:solidFill>
                <a:latin typeface="Arial"/>
              </a:rPr>
              <a:t>certification</a:t>
            </a:r>
          </a:p>
        </p:txBody>
      </p:sp>
      <p:sp>
        <p:nvSpPr>
          <p:cNvPr id="72" name="Rounded Rectangle 71"/>
          <p:cNvSpPr/>
          <p:nvPr/>
        </p:nvSpPr>
        <p:spPr>
          <a:xfrm>
            <a:off x="7388352" y="2304288"/>
            <a:ext cx="1444752" cy="713232"/>
          </a:xfrm>
          <a:prstGeom prst="roundRect">
            <a:avLst>
              <a:gd name="adj" fmla="val 12000"/>
            </a:avLst>
          </a:prstGeom>
          <a:solidFill>
            <a:srgbClr val="FFF4E5"/>
          </a:solidFill>
          <a:ln w="285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4. Parallel parse,</a:t>
            </a:r>
          </a:p>
          <a:p>
            <a:pPr algn="ctr"/>
            <a:r>
              <a:rPr sz="900" b="1" i="0">
                <a:solidFill>
                  <a:srgbClr val="212121"/>
                </a:solidFill>
                <a:latin typeface="Arial"/>
              </a:rPr>
              <a:t>span placeholders</a:t>
            </a:r>
          </a:p>
          <a:p>
            <a:pPr algn="ctr"/>
            <a:r>
              <a:rPr sz="800" b="1" i="0">
                <a:solidFill>
                  <a:srgbClr val="B06000"/>
                </a:solidFill>
                <a:latin typeface="Arial"/>
              </a:rPr>
              <a:t>M2</a:t>
            </a:r>
          </a:p>
        </p:txBody>
      </p:sp>
      <p:sp>
        <p:nvSpPr>
          <p:cNvPr id="73" name="Rounded Rectangle 72"/>
          <p:cNvSpPr/>
          <p:nvPr/>
        </p:nvSpPr>
        <p:spPr>
          <a:xfrm>
            <a:off x="5618988" y="2304288"/>
            <a:ext cx="1444752" cy="713232"/>
          </a:xfrm>
          <a:prstGeom prst="roundRect">
            <a:avLst>
              <a:gd name="adj" fmla="val 12000"/>
            </a:avLst>
          </a:prstGeom>
          <a:solidFill>
            <a:srgbClr val="FFF4E5"/>
          </a:solidFill>
          <a:ln w="285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5. Log-depth window</a:t>
            </a:r>
          </a:p>
          <a:p>
            <a:pPr algn="ctr"/>
            <a:r>
              <a:rPr sz="900" b="1" i="0">
                <a:solidFill>
                  <a:srgbClr val="212121"/>
                </a:solidFill>
                <a:latin typeface="Arial"/>
              </a:rPr>
              <a:t>resolution</a:t>
            </a:r>
          </a:p>
          <a:p>
            <a:pPr algn="ctr"/>
            <a:r>
              <a:rPr sz="800" b="1" i="0">
                <a:solidFill>
                  <a:srgbClr val="B06000"/>
                </a:solidFill>
                <a:latin typeface="Arial"/>
              </a:rPr>
              <a:t>M3 · primary</a:t>
            </a:r>
          </a:p>
        </p:txBody>
      </p:sp>
      <p:sp>
        <p:nvSpPr>
          <p:cNvPr id="74" name="Rounded Rectangle 73"/>
          <p:cNvSpPr/>
          <p:nvPr/>
        </p:nvSpPr>
        <p:spPr>
          <a:xfrm>
            <a:off x="3849624" y="2304288"/>
            <a:ext cx="1444752" cy="713232"/>
          </a:xfrm>
          <a:prstGeom prst="roundRect">
            <a:avLst>
              <a:gd name="adj" fmla="val 12000"/>
            </a:avLst>
          </a:prstGeom>
          <a:solidFill>
            <a:srgbClr val="E8F0FE"/>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6. Parallel</a:t>
            </a:r>
          </a:p>
          <a:p>
            <a:pPr algn="ctr"/>
            <a:r>
              <a:rPr sz="900" b="1" i="0">
                <a:solidFill>
                  <a:srgbClr val="212121"/>
                </a:solidFill>
                <a:latin typeface="Arial"/>
              </a:rPr>
              <a:t>materialisation</a:t>
            </a:r>
          </a:p>
        </p:txBody>
      </p:sp>
      <p:sp>
        <p:nvSpPr>
          <p:cNvPr id="75" name="Rounded Rectangle 74"/>
          <p:cNvSpPr/>
          <p:nvPr/>
        </p:nvSpPr>
        <p:spPr>
          <a:xfrm>
            <a:off x="2080260" y="2304288"/>
            <a:ext cx="1444752" cy="713232"/>
          </a:xfrm>
          <a:prstGeom prst="roundRect">
            <a:avLst>
              <a:gd name="adj" fmla="val 12000"/>
            </a:avLst>
          </a:prstGeom>
          <a:solidFill>
            <a:srgbClr val="E8F0FE"/>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7. CRC32</a:t>
            </a:r>
          </a:p>
          <a:p>
            <a:pPr algn="ctr"/>
            <a:r>
              <a:rPr sz="900" b="1" i="0">
                <a:solidFill>
                  <a:srgbClr val="212121"/>
                </a:solidFill>
                <a:latin typeface="Arial"/>
              </a:rPr>
              <a:t>verification</a:t>
            </a:r>
          </a:p>
        </p:txBody>
      </p:sp>
      <p:sp>
        <p:nvSpPr>
          <p:cNvPr id="76" name="Rounded Rectangle 75"/>
          <p:cNvSpPr/>
          <p:nvPr/>
        </p:nvSpPr>
        <p:spPr>
          <a:xfrm>
            <a:off x="310896" y="2304288"/>
            <a:ext cx="1444752" cy="713232"/>
          </a:xfrm>
          <a:prstGeom prst="roundRect">
            <a:avLst>
              <a:gd name="adj" fmla="val 12000"/>
            </a:avLst>
          </a:prstGeom>
          <a:solidFill>
            <a:srgbClr val="FFFFFF"/>
          </a:solidFill>
          <a:ln w="12700">
            <a:solidFill>
              <a:srgbClr val="7890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12121"/>
                </a:solidFill>
                <a:latin typeface="Arial"/>
              </a:rPr>
              <a:t>Bit-identical</a:t>
            </a:r>
          </a:p>
          <a:p>
            <a:pPr algn="ctr"/>
            <a:r>
              <a:rPr sz="900" b="1" i="0">
                <a:solidFill>
                  <a:srgbClr val="212121"/>
                </a:solidFill>
                <a:latin typeface="Arial"/>
              </a:rPr>
              <a:t>output</a:t>
            </a:r>
          </a:p>
        </p:txBody>
      </p:sp>
      <p:cxnSp>
        <p:nvCxnSpPr>
          <p:cNvPr id="77" name="Connector 76"/>
          <p:cNvCxnSpPr/>
          <p:nvPr/>
        </p:nvCxnSpPr>
        <p:spPr>
          <a:xfrm>
            <a:off x="1755648" y="1472184"/>
            <a:ext cx="324612"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525012" y="1472184"/>
            <a:ext cx="324612"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294376" y="1472184"/>
            <a:ext cx="324612"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063740" y="1472184"/>
            <a:ext cx="324612"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8110728" y="1828800"/>
            <a:ext cx="0" cy="475488"/>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7063740" y="2660904"/>
            <a:ext cx="324612"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5294376" y="2660904"/>
            <a:ext cx="324612"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3525012" y="2660904"/>
            <a:ext cx="324612"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a:off x="1755648" y="2660904"/>
            <a:ext cx="324612"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4572000" y="1828800"/>
            <a:ext cx="2999231" cy="475488"/>
          </a:xfrm>
          <a:prstGeom prst="line">
            <a:avLst/>
          </a:prstGeom>
          <a:ln w="12700">
            <a:solidFill>
              <a:srgbClr val="B060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87" name="Rounded Rectangle 86"/>
          <p:cNvSpPr/>
          <p:nvPr/>
        </p:nvSpPr>
        <p:spPr>
          <a:xfrm>
            <a:off x="5020056" y="1975103"/>
            <a:ext cx="2103120" cy="182880"/>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800" b="0" i="0">
                <a:solidFill>
                  <a:srgbClr val="B06000"/>
                </a:solidFill>
                <a:latin typeface="Arial"/>
              </a:rPr>
              <a:t>thread pool · split-on-overflow</a:t>
            </a:r>
          </a:p>
        </p:txBody>
      </p:sp>
      <p:sp>
        <p:nvSpPr>
          <p:cNvPr id="88" name="TextBox 87"/>
          <p:cNvSpPr txBox="1"/>
          <p:nvPr/>
        </p:nvSpPr>
        <p:spPr>
          <a:xfrm>
            <a:off x="310896" y="3145536"/>
            <a:ext cx="8522208" cy="219456"/>
          </a:xfrm>
          <a:prstGeom prst="rect">
            <a:avLst/>
          </a:prstGeom>
          <a:noFill/>
        </p:spPr>
        <p:txBody>
          <a:bodyPr wrap="square" lIns="0" rIns="0" tIns="0" bIns="0" anchor="t">
            <a:spAutoFit/>
          </a:bodyPr>
          <a:lstStyle/>
          <a:p>
            <a:pPr algn="l"/>
            <a:r>
              <a:rPr sz="1050" b="1" i="0">
                <a:solidFill>
                  <a:srgbClr val="212121"/>
                </a:solidFill>
                <a:latin typeface="Arial"/>
              </a:rPr>
              <a:t>How this differs from the state of the art — base paper: rapidgzip (Knespel &amp; Brunst, HPDC '23)</a:t>
            </a:r>
          </a:p>
        </p:txBody>
      </p:sp>
      <p:sp>
        <p:nvSpPr>
          <p:cNvPr id="89" name="Rounded Rectangle 88"/>
          <p:cNvSpPr/>
          <p:nvPr/>
        </p:nvSpPr>
        <p:spPr>
          <a:xfrm>
            <a:off x="3209544" y="3438144"/>
            <a:ext cx="2731008" cy="1188720"/>
          </a:xfrm>
          <a:prstGeom prst="roundRect">
            <a:avLst>
              <a:gd name="adj" fmla="val 12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27432" bIns="27432"/>
          <a:lstStyle/>
          <a:p>
            <a:pPr algn="l"/>
            <a:r>
              <a:rPr sz="950" b="1" i="0">
                <a:solidFill>
                  <a:srgbClr val="212121"/>
                </a:solidFill>
                <a:latin typeface="Arial"/>
              </a:rPr>
              <a:t>L1 → M1  ·  Load balance</a:t>
            </a:r>
          </a:p>
          <a:p>
            <a:pPr algn="l"/>
            <a:r>
              <a:rPr sz="850" b="0" i="0">
                <a:solidFill>
                  <a:srgbClr val="595959"/>
                </a:solidFill>
                <a:latin typeface="Arial"/>
              </a:rPr>
              <a:t>Existing: compressed-size chunks; balanced by output size only with a prebuilt index, and serialised above ~20× compression (v0.6.0).</a:t>
            </a:r>
          </a:p>
          <a:p>
            <a:pPr algn="l"/>
            <a:r>
              <a:rPr sz="850" b="1" i="0">
                <a:solidFill>
                  <a:srgbClr val="4285F4"/>
                </a:solidFill>
                <a:latin typeface="Arial"/>
              </a:rPr>
              <a:t>Ours: chunks sized by predicted cost; oversized chunks split across idle workers.</a:t>
            </a:r>
          </a:p>
        </p:txBody>
      </p:sp>
      <p:sp>
        <p:nvSpPr>
          <p:cNvPr id="90" name="Rounded Rectangle 89"/>
          <p:cNvSpPr/>
          <p:nvPr/>
        </p:nvSpPr>
        <p:spPr>
          <a:xfrm>
            <a:off x="6099048" y="3438144"/>
            <a:ext cx="2731008" cy="1188720"/>
          </a:xfrm>
          <a:prstGeom prst="roundRect">
            <a:avLst>
              <a:gd name="adj" fmla="val 12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27432" bIns="27432"/>
          <a:lstStyle/>
          <a:p>
            <a:pPr algn="l"/>
            <a:r>
              <a:rPr sz="950" b="1" i="0">
                <a:solidFill>
                  <a:srgbClr val="212121"/>
                </a:solidFill>
                <a:latin typeface="Arial"/>
              </a:rPr>
              <a:t>L2 → M2  ·  Memory (supporting)</a:t>
            </a:r>
          </a:p>
          <a:p>
            <a:pPr algn="l"/>
            <a:r>
              <a:rPr sz="850" b="0" i="0">
                <a:solidFill>
                  <a:srgbClr val="595959"/>
                </a:solidFill>
                <a:latin typeface="Arial"/>
              </a:rPr>
              <a:t>Existing: bytes widened to 16 bits until the window is marker-free; up to 2× output in flight.</a:t>
            </a:r>
          </a:p>
          <a:p>
            <a:pPr algn="l"/>
            <a:r>
              <a:rPr sz="850" b="1" i="0">
                <a:solidFill>
                  <a:srgbClr val="4285F4"/>
                </a:solidFill>
                <a:latin typeface="Arial"/>
              </a:rPr>
              <a:t>Ours: span records; ~1× output plus a small side table.</a:t>
            </a:r>
          </a:p>
        </p:txBody>
      </p:sp>
      <p:sp>
        <p:nvSpPr>
          <p:cNvPr id="91" name="Rounded Rectangle 90"/>
          <p:cNvSpPr/>
          <p:nvPr/>
        </p:nvSpPr>
        <p:spPr>
          <a:xfrm>
            <a:off x="310896" y="3438144"/>
            <a:ext cx="2731008" cy="1188720"/>
          </a:xfrm>
          <a:prstGeom prst="roundRect">
            <a:avLst>
              <a:gd name="adj" fmla="val 12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27432" bIns="27432"/>
          <a:lstStyle/>
          <a:p>
            <a:pPr algn="l"/>
            <a:r>
              <a:rPr sz="950" b="1" i="0">
                <a:solidFill>
                  <a:srgbClr val="212121"/>
                </a:solidFill>
                <a:latin typeface="Arial"/>
              </a:rPr>
              <a:t>L3 → M3  ·  Resolution depth (primary)</a:t>
            </a:r>
          </a:p>
          <a:p>
            <a:pPr algn="l"/>
            <a:r>
              <a:rPr sz="850" b="0" i="0">
                <a:solidFill>
                  <a:srgbClr val="595959"/>
                </a:solidFill>
                <a:latin typeface="Arial"/>
              </a:rPr>
              <a:t>Existing: windows resolved one chunk after another; the paper calls this step unparallelisable and attributes its 48–64-core scaling limit to it.</a:t>
            </a:r>
          </a:p>
          <a:p>
            <a:pPr algn="l"/>
            <a:r>
              <a:rPr sz="850" b="1" i="0">
                <a:solidFill>
                  <a:srgbClr val="4285F4"/>
                </a:solidFill>
                <a:latin typeface="Arial"/>
              </a:rPr>
              <a:t>Ours: parallel prefix scan over window maps, log2 N rounds; prototype bit-identical to zlib.</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sz="2800"/>
              <a:t>Evaluation Metrics and Expected Analysis</a:t>
            </a:r>
            <a:endParaRPr/>
          </a:p>
        </p:txBody>
      </p:sp>
      <p:graphicFrame>
        <p:nvGraphicFramePr>
          <p:cNvPr id="73" name="Table 72"/>
          <p:cNvGraphicFramePr>
            <a:graphicFrameLocks noGrp="1"/>
          </p:cNvGraphicFramePr>
          <p:nvPr/>
        </p:nvGraphicFramePr>
        <p:xfrm>
          <a:off x="310896" y="1115568"/>
          <a:ext cx="4800600" cy="2340864"/>
        </p:xfrm>
        <a:graphic>
          <a:graphicData uri="http://schemas.openxmlformats.org/drawingml/2006/table">
            <a:tbl>
              <a:tblPr firstRow="1"/>
              <a:tblGrid>
                <a:gridCol w="1234440"/>
                <a:gridCol w="3566160"/>
              </a:tblGrid>
              <a:tr h="292608">
                <a:tc>
                  <a:txBody>
                    <a:bodyPr wrap="square"/>
                    <a:lstStyle/>
                    <a:p>
                      <a:pPr algn="l"/>
                      <a:r>
                        <a:rPr sz="850" b="1" i="0">
                          <a:solidFill>
                            <a:srgbClr val="FFFFFF"/>
                          </a:solidFill>
                          <a:latin typeface="Arial"/>
                        </a:rPr>
                        <a:t>Objective</a:t>
                      </a:r>
                    </a:p>
                  </a:txBody>
                  <a:tcPr marL="54864" marR="54864" marT="18288" marB="18288" anchor="ctr">
                    <a:solidFill>
                      <a:srgbClr val="4285F4"/>
                    </a:solidFill>
                  </a:tcPr>
                </a:tc>
                <a:tc>
                  <a:txBody>
                    <a:bodyPr wrap="square"/>
                    <a:lstStyle/>
                    <a:p>
                      <a:pPr algn="l"/>
                      <a:r>
                        <a:rPr sz="850" b="1" i="0">
                          <a:solidFill>
                            <a:srgbClr val="FFFFFF"/>
                          </a:solidFill>
                          <a:latin typeface="Arial"/>
                        </a:rPr>
                        <a:t>Metric</a:t>
                      </a:r>
                    </a:p>
                  </a:txBody>
                  <a:tcPr marL="54864" marR="54864" marT="18288" marB="18288" anchor="ctr">
                    <a:solidFill>
                      <a:srgbClr val="4285F4"/>
                    </a:solidFill>
                  </a:tcPr>
                </a:tc>
              </a:tr>
              <a:tr h="292608">
                <a:tc>
                  <a:txBody>
                    <a:bodyPr wrap="square"/>
                    <a:lstStyle/>
                    <a:p>
                      <a:pPr algn="l"/>
                      <a:r>
                        <a:rPr sz="850" b="0" i="0">
                          <a:solidFill>
                            <a:srgbClr val="595959"/>
                          </a:solidFill>
                          <a:latin typeface="Arial"/>
                        </a:rPr>
                        <a:t>Correctness (gate)</a:t>
                      </a:r>
                    </a:p>
                  </a:txBody>
                  <a:tcPr marL="54864" marR="54864" marT="18288" marB="18288" anchor="ctr">
                    <a:solidFill>
                      <a:srgbClr val="FFFFFF"/>
                    </a:solidFill>
                  </a:tcPr>
                </a:tc>
                <a:tc>
                  <a:txBody>
                    <a:bodyPr wrap="square"/>
                    <a:lstStyle/>
                    <a:p>
                      <a:pPr algn="l"/>
                      <a:r>
                        <a:rPr sz="850" b="0" i="0">
                          <a:solidFill>
                            <a:srgbClr val="595959"/>
                          </a:solidFill>
                          <a:latin typeface="Arial"/>
                        </a:rPr>
                        <a:t>Byte-identical to zlib on every file; same reject offset on corrupt input</a:t>
                      </a:r>
                    </a:p>
                  </a:txBody>
                  <a:tcPr marL="54864" marR="54864" marT="18288" marB="18288" anchor="ctr">
                    <a:solidFill>
                      <a:srgbClr val="FFFFFF"/>
                    </a:solidFill>
                  </a:tcPr>
                </a:tc>
              </a:tr>
              <a:tr h="292608">
                <a:tc>
                  <a:txBody>
                    <a:bodyPr wrap="square"/>
                    <a:lstStyle/>
                    <a:p>
                      <a:pPr algn="l"/>
                      <a:r>
                        <a:rPr sz="850" b="0" i="0">
                          <a:solidFill>
                            <a:srgbClr val="595959"/>
                          </a:solidFill>
                          <a:latin typeface="Arial"/>
                        </a:rPr>
                        <a:t>Resolution (M3)</a:t>
                      </a:r>
                    </a:p>
                  </a:txBody>
                  <a:tcPr marL="54864" marR="54864" marT="18288" marB="18288" anchor="ctr">
                    <a:solidFill>
                      <a:srgbClr val="F1F3F4"/>
                    </a:solidFill>
                  </a:tcPr>
                </a:tc>
                <a:tc>
                  <a:txBody>
                    <a:bodyPr wrap="square"/>
                    <a:lstStyle/>
                    <a:p>
                      <a:pPr algn="l"/>
                      <a:r>
                        <a:rPr sz="850" b="0" i="0">
                          <a:solidFill>
                            <a:srgbClr val="595959"/>
                          </a:solidFill>
                          <a:latin typeface="Arial"/>
                        </a:rPr>
                        <a:t>Window-resolution time vs log2 N rounds; scaling knee vs chunk size</a:t>
                      </a:r>
                    </a:p>
                  </a:txBody>
                  <a:tcPr marL="54864" marR="54864" marT="18288" marB="18288" anchor="ctr">
                    <a:solidFill>
                      <a:srgbClr val="F1F3F4"/>
                    </a:solidFill>
                  </a:tcPr>
                </a:tc>
              </a:tr>
              <a:tr h="292608">
                <a:tc>
                  <a:txBody>
                    <a:bodyPr wrap="square"/>
                    <a:lstStyle/>
                    <a:p>
                      <a:pPr algn="l"/>
                      <a:r>
                        <a:rPr sz="850" b="0" i="0">
                          <a:solidFill>
                            <a:srgbClr val="595959"/>
                          </a:solidFill>
                          <a:latin typeface="Arial"/>
                        </a:rPr>
                        <a:t>Speed</a:t>
                      </a:r>
                    </a:p>
                  </a:txBody>
                  <a:tcPr marL="54864" marR="54864" marT="18288" marB="18288" anchor="ctr">
                    <a:solidFill>
                      <a:srgbClr val="FFFFFF"/>
                    </a:solidFill>
                  </a:tcPr>
                </a:tc>
                <a:tc>
                  <a:txBody>
                    <a:bodyPr wrap="square"/>
                    <a:lstStyle/>
                    <a:p>
                      <a:pPr algn="l"/>
                      <a:r>
                        <a:rPr sz="850" b="0" i="0">
                          <a:solidFill>
                            <a:srgbClr val="595959"/>
                          </a:solidFill>
                          <a:latin typeface="Arial"/>
                        </a:rPr>
                        <a:t>Throughput (MB/s); speedup S = T1 / TP; efficiency E = S / P</a:t>
                      </a:r>
                    </a:p>
                  </a:txBody>
                  <a:tcPr marL="54864" marR="54864" marT="18288" marB="18288" anchor="ctr">
                    <a:solidFill>
                      <a:srgbClr val="FFFFFF"/>
                    </a:solidFill>
                  </a:tcPr>
                </a:tc>
              </a:tr>
              <a:tr h="292608">
                <a:tc>
                  <a:txBody>
                    <a:bodyPr wrap="square"/>
                    <a:lstStyle/>
                    <a:p>
                      <a:pPr algn="l"/>
                      <a:r>
                        <a:rPr sz="850" b="0" i="0">
                          <a:solidFill>
                            <a:srgbClr val="595959"/>
                          </a:solidFill>
                          <a:latin typeface="Arial"/>
                        </a:rPr>
                        <a:t>Cold start</a:t>
                      </a:r>
                    </a:p>
                  </a:txBody>
                  <a:tcPr marL="54864" marR="54864" marT="18288" marB="18288" anchor="ctr">
                    <a:solidFill>
                      <a:srgbClr val="F1F3F4"/>
                    </a:solidFill>
                  </a:tcPr>
                </a:tc>
                <a:tc>
                  <a:txBody>
                    <a:bodyPr wrap="square"/>
                    <a:lstStyle/>
                    <a:p>
                      <a:pPr algn="l"/>
                      <a:r>
                        <a:rPr sz="850" b="0" i="0">
                          <a:solidFill>
                            <a:srgbClr val="595959"/>
                          </a:solidFill>
                          <a:latin typeface="Arial"/>
                        </a:rPr>
                        <a:t>Total wall time on first touch: no index, cost estimate included</a:t>
                      </a:r>
                    </a:p>
                  </a:txBody>
                  <a:tcPr marL="54864" marR="54864" marT="18288" marB="18288" anchor="ctr">
                    <a:solidFill>
                      <a:srgbClr val="F1F3F4"/>
                    </a:solidFill>
                  </a:tcPr>
                </a:tc>
              </a:tr>
              <a:tr h="292608">
                <a:tc>
                  <a:txBody>
                    <a:bodyPr wrap="square"/>
                    <a:lstStyle/>
                    <a:p>
                      <a:pPr algn="l"/>
                      <a:r>
                        <a:rPr sz="850" b="0" i="0">
                          <a:solidFill>
                            <a:srgbClr val="595959"/>
                          </a:solidFill>
                          <a:latin typeface="Arial"/>
                        </a:rPr>
                        <a:t>Overhead</a:t>
                      </a:r>
                    </a:p>
                  </a:txBody>
                  <a:tcPr marL="54864" marR="54864" marT="18288" marB="18288" anchor="ctr">
                    <a:solidFill>
                      <a:srgbClr val="FFFFFF"/>
                    </a:solidFill>
                  </a:tcPr>
                </a:tc>
                <a:tc>
                  <a:txBody>
                    <a:bodyPr wrap="square"/>
                    <a:lstStyle/>
                    <a:p>
                      <a:pPr algn="l"/>
                      <a:r>
                        <a:rPr sz="850" b="0" i="0">
                          <a:solidFill>
                            <a:srgbClr val="595959"/>
                          </a:solidFill>
                          <a:latin typeface="Arial"/>
                        </a:rPr>
                        <a:t>1-thread Riptide time ÷ igzip time (work vs. span)</a:t>
                      </a:r>
                    </a:p>
                  </a:txBody>
                  <a:tcPr marL="54864" marR="54864" marT="18288" marB="18288" anchor="ctr">
                    <a:solidFill>
                      <a:srgbClr val="FFFFFF"/>
                    </a:solidFill>
                  </a:tcPr>
                </a:tc>
              </a:tr>
              <a:tr h="292608">
                <a:tc>
                  <a:txBody>
                    <a:bodyPr wrap="square"/>
                    <a:lstStyle/>
                    <a:p>
                      <a:pPr algn="l"/>
                      <a:r>
                        <a:rPr sz="850" b="0" i="0">
                          <a:solidFill>
                            <a:srgbClr val="595959"/>
                          </a:solidFill>
                          <a:latin typeface="Arial"/>
                        </a:rPr>
                        <a:t>Load balance (M1)</a:t>
                      </a:r>
                    </a:p>
                  </a:txBody>
                  <a:tcPr marL="54864" marR="54864" marT="18288" marB="18288" anchor="ctr">
                    <a:solidFill>
                      <a:srgbClr val="F1F3F4"/>
                    </a:solidFill>
                  </a:tcPr>
                </a:tc>
                <a:tc>
                  <a:txBody>
                    <a:bodyPr wrap="square"/>
                    <a:lstStyle/>
                    <a:p>
                      <a:pPr algn="l"/>
                      <a:r>
                        <a:rPr sz="850" b="0" i="0">
                          <a:solidFill>
                            <a:srgbClr val="595959"/>
                          </a:solidFill>
                          <a:latin typeface="Arial"/>
                        </a:rPr>
                        <a:t>λ = slowest worker time ÷ mean worker time</a:t>
                      </a:r>
                    </a:p>
                  </a:txBody>
                  <a:tcPr marL="54864" marR="54864" marT="18288" marB="18288" anchor="ctr">
                    <a:solidFill>
                      <a:srgbClr val="F1F3F4"/>
                    </a:solidFill>
                  </a:tcPr>
                </a:tc>
              </a:tr>
              <a:tr h="292608">
                <a:tc>
                  <a:txBody>
                    <a:bodyPr wrap="square"/>
                    <a:lstStyle/>
                    <a:p>
                      <a:pPr algn="l"/>
                      <a:r>
                        <a:rPr sz="850" b="0" i="0">
                          <a:solidFill>
                            <a:srgbClr val="595959"/>
                          </a:solidFill>
                          <a:latin typeface="Arial"/>
                        </a:rPr>
                        <a:t>Memory (M2)</a:t>
                      </a:r>
                    </a:p>
                  </a:txBody>
                  <a:tcPr marL="54864" marR="54864" marT="18288" marB="18288" anchor="ctr">
                    <a:solidFill>
                      <a:srgbClr val="FFFFFF"/>
                    </a:solidFill>
                  </a:tcPr>
                </a:tc>
                <a:tc>
                  <a:txBody>
                    <a:bodyPr wrap="square"/>
                    <a:lstStyle/>
                    <a:p>
                      <a:pPr algn="l"/>
                      <a:r>
                        <a:rPr sz="850" b="0" i="0">
                          <a:solidFill>
                            <a:srgbClr val="595959"/>
                          </a:solidFill>
                          <a:latin typeface="Arial"/>
                        </a:rPr>
                        <a:t>Peak memory ÷ output size; concurrent chunks at fixed RAM</a:t>
                      </a:r>
                    </a:p>
                  </a:txBody>
                  <a:tcPr marL="54864" marR="54864" marT="18288" marB="18288" anchor="ctr">
                    <a:solidFill>
                      <a:srgbClr val="FFFFFF"/>
                    </a:solidFill>
                  </a:tcPr>
                </a:tc>
              </a:tr>
            </a:tbl>
          </a:graphicData>
        </a:graphic>
      </p:graphicFrame>
      <p:sp>
        <p:nvSpPr>
          <p:cNvPr id="74" name="Rounded Rectangle 73"/>
          <p:cNvSpPr/>
          <p:nvPr/>
        </p:nvSpPr>
        <p:spPr>
          <a:xfrm>
            <a:off x="310896" y="3547872"/>
            <a:ext cx="4800600" cy="1179576"/>
          </a:xfrm>
          <a:prstGeom prst="roundRect">
            <a:avLst>
              <a:gd name="adj" fmla="val 12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27432" bIns="27432"/>
          <a:lstStyle/>
          <a:p>
            <a:pPr algn="l"/>
            <a:r>
              <a:rPr sz="950" b="1" i="0">
                <a:solidFill>
                  <a:srgbClr val="212121"/>
                </a:solidFill>
                <a:latin typeface="Arial"/>
              </a:rPr>
              <a:t>Are these metrics enough?</a:t>
            </a:r>
          </a:p>
          <a:p>
            <a:pPr algn="l"/>
            <a:r>
              <a:rPr sz="850" b="0" i="0">
                <a:solidFill>
                  <a:srgbClr val="595959"/>
                </a:solidFill>
                <a:latin typeface="Arial"/>
              </a:rPr>
              <a:t>Every objective has its own metric, and correctness gates all speed claims.</a:t>
            </a:r>
          </a:p>
          <a:p>
            <a:pPr algn="l"/>
            <a:r>
              <a:rPr sz="850" b="0" i="0">
                <a:solidFill>
                  <a:srgbClr val="595959"/>
                </a:solidFill>
                <a:latin typeface="Arial"/>
              </a:rPr>
              <a:t>Baselines: zlib, igzip, pigz, and rapidgzip — the base paper, same commit, so it is a true A/B.</a:t>
            </a:r>
          </a:p>
          <a:p>
            <a:pPr algn="l"/>
            <a:r>
              <a:rPr sz="850" b="0" i="0">
                <a:solidFill>
                  <a:srgbClr val="595959"/>
                </a:solidFill>
                <a:latin typeface="Arial"/>
              </a:rPr>
              <a:t>10 runs per setting, median + IQR; Wilcoxon signed-rank with Holm correction.</a:t>
            </a:r>
          </a:p>
          <a:p>
            <a:pPr algn="l"/>
            <a:r>
              <a:rPr sz="850" b="0" i="0">
                <a:solidFill>
                  <a:srgbClr val="595959"/>
                </a:solidFill>
                <a:latin typeface="Arial"/>
              </a:rPr>
              <a:t>Ablation: M1, M2, M3 toggled independently (8 configurations).</a:t>
            </a:r>
          </a:p>
        </p:txBody>
      </p:sp>
      <p:sp>
        <p:nvSpPr>
          <p:cNvPr id="76" name="TextBox 75"/>
          <p:cNvSpPr txBox="1"/>
          <p:nvPr/>
        </p:nvSpPr>
        <p:spPr>
          <a:xfrm>
            <a:off x="5285232" y="3401568"/>
            <a:ext cx="3547872" cy="274320"/>
          </a:xfrm>
          <a:prstGeom prst="rect">
            <a:avLst/>
          </a:prstGeom>
          <a:noFill/>
        </p:spPr>
        <p:txBody>
          <a:bodyPr wrap="square" lIns="0" rIns="0" tIns="0" bIns="0" anchor="t">
            <a:spAutoFit/>
          </a:bodyPr>
          <a:lstStyle/>
          <a:p>
            <a:pPr algn="l"/>
            <a:r>
              <a:rPr sz="800" b="0" i="1">
                <a:solidFill>
                  <a:srgbClr val="78909C"/>
                </a:solidFill>
                <a:latin typeface="Arial"/>
              </a:rPr>
              <a:t>Prototype on the Silesia tarball: same windows as the sequential chain, output bit-identical to zlib. Depth, not time.</a:t>
            </a:r>
          </a:p>
        </p:txBody>
      </p:sp>
      <p:sp>
        <p:nvSpPr>
          <p:cNvPr id="77" name="TextBox 76"/>
          <p:cNvSpPr txBox="1"/>
          <p:nvPr/>
        </p:nvSpPr>
        <p:spPr>
          <a:xfrm>
            <a:off x="5285232" y="3767328"/>
            <a:ext cx="3547872" cy="1097280"/>
          </a:xfrm>
          <a:prstGeom prst="rect">
            <a:avLst/>
          </a:prstGeom>
          <a:noFill/>
        </p:spPr>
        <p:txBody>
          <a:bodyPr wrap="square" lIns="0" rIns="0" tIns="0" bIns="0">
            <a:spAutoFit/>
          </a:bodyPr>
          <a:lstStyle/>
          <a:p>
            <a:pPr marL="164592" indent="-164592">
              <a:lnSpc>
                <a:spcPct val="108000"/>
              </a:lnSpc>
              <a:spcAft>
                <a:spcPts val="200"/>
              </a:spcAft>
              <a:buClr>
                <a:srgbClr val="4285F4"/>
              </a:buClr>
              <a:buFont typeface="Arial"/>
              <a:buChar char="•"/>
            </a:pPr>
            <a:r>
              <a:rPr sz="850" b="1" i="0">
                <a:solidFill>
                  <a:srgbClr val="212121"/>
                </a:solidFill>
                <a:latin typeface="Arial"/>
              </a:rPr>
              <a:t>Expected: </a:t>
            </a:r>
            <a:r>
              <a:rPr sz="850" b="0" i="0">
                <a:solidFill>
                  <a:srgbClr val="595959"/>
                </a:solidFill>
                <a:latin typeface="Arial"/>
              </a:rPr>
              <a:t>smaller chunks lengthen the chain (0.25% → 2.0% of resolution work); its real cost in rapidgzip is measured first.</a:t>
            </a:r>
          </a:p>
          <a:p>
            <a:pPr marL="164592" indent="-164592">
              <a:lnSpc>
                <a:spcPct val="108000"/>
              </a:lnSpc>
              <a:spcAft>
                <a:spcPts val="200"/>
              </a:spcAft>
              <a:buClr>
                <a:srgbClr val="4285F4"/>
              </a:buClr>
              <a:buFont typeface="Arial"/>
              <a:buChar char="•"/>
            </a:pPr>
            <a:r>
              <a:rPr sz="850" b="1" i="0">
                <a:solidFill>
                  <a:srgbClr val="212121"/>
                </a:solidFill>
                <a:latin typeface="Arial"/>
              </a:rPr>
              <a:t>Expected: </a:t>
            </a:r>
            <a:r>
              <a:rPr sz="850" b="0" i="0">
                <a:solidFill>
                  <a:srgbClr val="595959"/>
                </a:solidFill>
                <a:latin typeface="Arial"/>
              </a:rPr>
              <a:t>work-sized chunks keep λ near 1 (Silesia oracle: 1.00 vs 1.16, 8 workers).</a:t>
            </a:r>
          </a:p>
          <a:p>
            <a:pPr marL="164592" indent="-164592">
              <a:lnSpc>
                <a:spcPct val="108000"/>
              </a:lnSpc>
              <a:spcAft>
                <a:spcPts val="200"/>
              </a:spcAft>
              <a:buClr>
                <a:srgbClr val="4285F4"/>
              </a:buClr>
              <a:buFont typeface="Arial"/>
              <a:buChar char="•"/>
            </a:pPr>
            <a:r>
              <a:rPr sz="850" b="1" i="0">
                <a:solidFill>
                  <a:srgbClr val="212121"/>
                </a:solidFill>
                <a:latin typeface="Arial"/>
              </a:rPr>
              <a:t>Expected: </a:t>
            </a:r>
            <a:r>
              <a:rPr sz="850" b="0" i="0">
                <a:solidFill>
                  <a:srgbClr val="595959"/>
                </a:solidFill>
                <a:latin typeface="Arial"/>
              </a:rPr>
              <a:t>at 512 KiB, 78% of each chunk is in 16-bit form, so M2 matters most for small chunks.</a:t>
            </a:r>
          </a:p>
        </p:txBody>
      </p:sp>
      <p:graphicFrame>
        <p:nvGraphicFramePr>
          <p:cNvPr id="78" name="Chart 77"/>
          <p:cNvGraphicFramePr>
            <a:graphicFrameLocks noGrp="1"/>
          </p:cNvGraphicFramePr>
          <p:nvPr/>
        </p:nvGraphicFramePr>
        <p:xfrm>
          <a:off x="5285232" y="1051560"/>
          <a:ext cx="3547872" cy="2331720"/>
        </p:xfrm>
        <a:graphic>
          <a:graphicData uri="http://schemas.openxmlformats.org/drawingml/2006/chart">
            <c:chart r:id="rId5"/>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